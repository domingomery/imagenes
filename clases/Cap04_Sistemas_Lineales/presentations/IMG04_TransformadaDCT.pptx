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368" r:id="rId2"/>
    <p:sldId id="349" r:id="rId3"/>
    <p:sldId id="356" r:id="rId4"/>
    <p:sldId id="354" r:id="rId5"/>
    <p:sldId id="352" r:id="rId6"/>
    <p:sldId id="355" r:id="rId7"/>
    <p:sldId id="357" r:id="rId8"/>
    <p:sldId id="358" r:id="rId9"/>
    <p:sldId id="350" r:id="rId10"/>
    <p:sldId id="351" r:id="rId11"/>
    <p:sldId id="359" r:id="rId12"/>
    <p:sldId id="360" r:id="rId13"/>
    <p:sldId id="361" r:id="rId14"/>
    <p:sldId id="362" r:id="rId15"/>
    <p:sldId id="363" r:id="rId16"/>
    <p:sldId id="365" r:id="rId17"/>
    <p:sldId id="364" r:id="rId18"/>
    <p:sldId id="366" r:id="rId19"/>
    <p:sldId id="369" r:id="rId20"/>
    <p:sldId id="370" r:id="rId21"/>
    <p:sldId id="371" r:id="rId22"/>
    <p:sldId id="372" r:id="rId23"/>
    <p:sldId id="373" r:id="rId24"/>
    <p:sldId id="374" r:id="rId25"/>
    <p:sldId id="375" r:id="rId26"/>
    <p:sldId id="376" r:id="rId27"/>
    <p:sldId id="377" r:id="rId28"/>
    <p:sldId id="378" r:id="rId29"/>
    <p:sldId id="379" r:id="rId30"/>
    <p:sldId id="380" r:id="rId31"/>
    <p:sldId id="381" r:id="rId32"/>
    <p:sldId id="382" r:id="rId33"/>
    <p:sldId id="388" r:id="rId34"/>
    <p:sldId id="393" r:id="rId35"/>
    <p:sldId id="389" r:id="rId36"/>
    <p:sldId id="390" r:id="rId37"/>
    <p:sldId id="391" r:id="rId38"/>
    <p:sldId id="392" r:id="rId39"/>
    <p:sldId id="387" r:id="rId40"/>
    <p:sldId id="394" r:id="rId41"/>
    <p:sldId id="397" r:id="rId42"/>
    <p:sldId id="395" r:id="rId43"/>
    <p:sldId id="367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8"/>
    <p:restoredTop sz="96327"/>
  </p:normalViewPr>
  <p:slideViewPr>
    <p:cSldViewPr snapToGrid="0" snapToObjects="1">
      <p:cViewPr>
        <p:scale>
          <a:sx n="110" d="100"/>
          <a:sy n="110" d="100"/>
        </p:scale>
        <p:origin x="-1256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374526-E489-9040-BC8D-0EF8BCD5C226}" type="datetimeFigureOut">
              <a:rPr lang="en-US" smtClean="0"/>
              <a:t>10/9/25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8224E0-EF29-584F-9D34-32539140D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289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1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3594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C7887-44BE-A44C-A3DD-3CE6C375DF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6FD4FA-4E67-ED4F-8009-72AC06720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3DCDD-9728-7742-A1CC-F1EB8891E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E4D77-8EC7-0743-8304-7459B6842D56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46E2A-C141-5444-82BB-BD88BE7F4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763F4A-2DA2-7642-9EDD-DBCD9CFB0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8593-BF71-E54D-9CDC-C7431C523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388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890BC-6CBC-004A-836F-3E77EDB64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C2905-F3AD-D643-882A-5FFA5EEAB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62FFA6-9C93-6247-9813-F2A7DFF3F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E4D77-8EC7-0743-8304-7459B6842D56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2147B-3121-FF40-AA9D-774BF0A2F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684AB-BA64-7E4C-894D-2E5364B59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8593-BF71-E54D-9CDC-C7431C523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40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0C38-633A-DA43-B7AE-29884CFB1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810D4-29D7-1746-B55F-BBE258E488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6FF1C2-2DD8-7C49-AB40-E109C4B49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E4D77-8EC7-0743-8304-7459B6842D56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1C40D1-2107-2B49-9137-0D5888142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6E706-7E5E-964A-B197-A15F8711F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8593-BF71-E54D-9CDC-C7431C523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517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E2846-8C01-3A4E-AE57-0439ED687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E41DA-78E5-1743-9817-8BC507D35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EB9F94-FA84-B34D-924B-9540B0BA8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8285B3-2423-F94B-8CE3-3BCC914E6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E4D77-8EC7-0743-8304-7459B6842D56}" type="datetimeFigureOut">
              <a:rPr lang="en-US" smtClean="0"/>
              <a:t>10/9/25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3F7519-1A3E-EE4D-AB7C-9AEE3F3A5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69A122-2C72-204C-9336-9E5DB4CBD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8593-BF71-E54D-9CDC-C7431C523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879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69672-A845-1446-AF3C-4A72BD436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EF40D-3591-6546-9135-8DFE40B60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2B1762-0E9D-704A-B5D7-24842DEC3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D38CE8-3F21-954C-9538-F774AFFF2E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DD6397-8E64-B541-B330-395B2D3D1F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EA38FB-DE0F-094B-A317-436079A3F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E4D77-8EC7-0743-8304-7459B6842D56}" type="datetimeFigureOut">
              <a:rPr lang="en-US" smtClean="0"/>
              <a:t>10/9/25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19B3D5-C61F-F54A-A80D-5BBB4D145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BBC82E-2195-E543-AD20-1F2CA890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8593-BF71-E54D-9CDC-C7431C523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046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4BEC9-8395-E64E-9084-076BD7A54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2E200A-383E-DA45-97A2-A0A44194C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E4D77-8EC7-0743-8304-7459B6842D56}" type="datetimeFigureOut">
              <a:rPr lang="en-US" smtClean="0"/>
              <a:t>10/9/25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8F867F-2441-3046-A1DF-9277D2FDB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1EADFA-4292-2248-977A-2E8D01E66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8593-BF71-E54D-9CDC-C7431C523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689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D52E9B-1840-814A-A09D-86FF4DDBE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E4D77-8EC7-0743-8304-7459B6842D56}" type="datetimeFigureOut">
              <a:rPr lang="en-US" smtClean="0"/>
              <a:t>10/9/25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4012F4-D622-D54B-B2C7-F0949EC69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DD481-7638-D846-B5F7-F882A7FA1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8593-BF71-E54D-9CDC-C7431C523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155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81DB9-E8E3-A140-A16F-4015D4743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E1093-4FF7-8B42-B1D3-145ACC616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BB44FE-7F19-8446-A433-C3662B8B63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5E6C4D-F902-1B46-BE29-30DD39AAB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E4D77-8EC7-0743-8304-7459B6842D56}" type="datetimeFigureOut">
              <a:rPr lang="en-US" smtClean="0"/>
              <a:t>10/9/25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FC91AA-0492-3B4F-9D5A-90D2D4E3D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7231C2-B3DD-714E-9191-FD785E9E4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8593-BF71-E54D-9CDC-C7431C523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038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6836-C6AB-D246-B679-F69CFCAD7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B3071A-E8A9-BC48-BE81-01E31BFE1E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871238-912D-4841-8652-8766C6DC3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F4154-01C8-C44D-B883-7216EF58D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E4D77-8EC7-0743-8304-7459B6842D56}" type="datetimeFigureOut">
              <a:rPr lang="en-US" smtClean="0"/>
              <a:t>10/9/25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E9827C-F0B6-7649-B90A-2200AE548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31931B-DC4F-3249-BFA7-C48E2BE97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8593-BF71-E54D-9CDC-C7431C523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52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2DA85-952E-4D43-ABB9-BD6E2A73F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8928E2-E429-564B-82E6-2105905408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A98DE-A63D-3145-A668-07EB09F1F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E4D77-8EC7-0743-8304-7459B6842D56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BC611-6B17-5A4F-9375-CABA886A7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776C20-47B9-4749-9920-F79F8E702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8593-BF71-E54D-9CDC-C7431C523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126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C6EE06-AA22-9C4D-AD4A-36C323E88F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CB9210-ED92-F64F-86A8-79EA1BEF76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9E5FF3-8CAE-A34B-A061-6E085B4AB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E4D77-8EC7-0743-8304-7459B6842D56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9E0A2-6D9C-144B-830C-E7063AA4C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48EF2-2C97-8049-8EA0-949C8E1E4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8593-BF71-E54D-9CDC-C7431C523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195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F723AE-D54A-4C4F-8487-EF6F0943C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22485E-AACD-3D48-A3A3-E3C41576EB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4F921-5942-5D49-8435-5856722BC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CE4D77-8EC7-0743-8304-7459B6842D56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DDF4E-24C2-0A4A-86BC-A9383396D7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EBE73-2AD2-2B44-977F-729F391F17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748593-BF71-E54D-9CDC-C7431C523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791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emf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emf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emf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ext Box 5"/>
          <p:cNvSpPr txBox="1">
            <a:spLocks noChangeArrowheads="1"/>
          </p:cNvSpPr>
          <p:nvPr/>
        </p:nvSpPr>
        <p:spPr bwMode="auto">
          <a:xfrm>
            <a:off x="4073023" y="1690180"/>
            <a:ext cx="4012635" cy="36317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1439" tIns="45719" rIns="91439" bIns="45719">
            <a:spAutoFit/>
          </a:bodyPr>
          <a:lstStyle/>
          <a:p>
            <a:pPr algn="ctr"/>
            <a:r>
              <a:rPr lang="es-CL" sz="2400" dirty="0">
                <a:solidFill>
                  <a:srgbClr val="FF0000"/>
                </a:solidFill>
                <a:latin typeface="Trebuchet MS" pitchFamily="34" charset="0"/>
              </a:rPr>
              <a:t>P</a:t>
            </a:r>
            <a:r>
              <a:rPr lang="es-CL" sz="2400" dirty="0">
                <a:solidFill>
                  <a:srgbClr val="3366FF"/>
                </a:solidFill>
                <a:latin typeface="Trebuchet MS" pitchFamily="34" charset="0"/>
              </a:rPr>
              <a:t>r</a:t>
            </a:r>
            <a:r>
              <a:rPr lang="es-CL" sz="2400" dirty="0">
                <a:solidFill>
                  <a:srgbClr val="FFFF00"/>
                </a:solidFill>
                <a:latin typeface="Trebuchet MS" pitchFamily="34" charset="0"/>
              </a:rPr>
              <a:t>o</a:t>
            </a:r>
            <a:r>
              <a:rPr lang="es-CL" sz="2400" dirty="0">
                <a:solidFill>
                  <a:srgbClr val="00FF00"/>
                </a:solidFill>
                <a:latin typeface="Trebuchet MS" pitchFamily="34" charset="0"/>
              </a:rPr>
              <a:t>c</a:t>
            </a:r>
            <a:r>
              <a:rPr lang="es-CL" sz="2400" dirty="0">
                <a:solidFill>
                  <a:schemeClr val="bg1"/>
                </a:solidFill>
                <a:latin typeface="Trebuchet MS" pitchFamily="34" charset="0"/>
              </a:rPr>
              <a:t>e</a:t>
            </a:r>
            <a:r>
              <a:rPr lang="es-CL" sz="2400" dirty="0">
                <a:solidFill>
                  <a:srgbClr val="FF6600"/>
                </a:solidFill>
                <a:latin typeface="Trebuchet MS" pitchFamily="34" charset="0"/>
              </a:rPr>
              <a:t>s</a:t>
            </a:r>
            <a:r>
              <a:rPr lang="es-CL" sz="2400" dirty="0">
                <a:solidFill>
                  <a:srgbClr val="FF0000"/>
                </a:solidFill>
                <a:latin typeface="Trebuchet MS" pitchFamily="34" charset="0"/>
              </a:rPr>
              <a:t>a</a:t>
            </a:r>
            <a:r>
              <a:rPr lang="es-CL" sz="2400" dirty="0">
                <a:solidFill>
                  <a:srgbClr val="3366FF"/>
                </a:solidFill>
                <a:latin typeface="Trebuchet MS" pitchFamily="34" charset="0"/>
              </a:rPr>
              <a:t>m</a:t>
            </a:r>
            <a:r>
              <a:rPr lang="es-CL" sz="2400" dirty="0">
                <a:solidFill>
                  <a:srgbClr val="FFFF00"/>
                </a:solidFill>
                <a:latin typeface="Trebuchet MS" pitchFamily="34" charset="0"/>
              </a:rPr>
              <a:t>i</a:t>
            </a:r>
            <a:r>
              <a:rPr lang="es-CL" sz="2400" dirty="0">
                <a:solidFill>
                  <a:srgbClr val="00FF00"/>
                </a:solidFill>
                <a:latin typeface="Trebuchet MS" pitchFamily="34" charset="0"/>
              </a:rPr>
              <a:t>e</a:t>
            </a:r>
            <a:r>
              <a:rPr lang="es-CL" sz="2400" dirty="0">
                <a:solidFill>
                  <a:schemeClr val="bg1"/>
                </a:solidFill>
                <a:latin typeface="Trebuchet MS" pitchFamily="34" charset="0"/>
              </a:rPr>
              <a:t>n</a:t>
            </a:r>
            <a:r>
              <a:rPr lang="es-CL" sz="2400" dirty="0">
                <a:solidFill>
                  <a:srgbClr val="FF6600"/>
                </a:solidFill>
                <a:latin typeface="Trebuchet MS" pitchFamily="34" charset="0"/>
              </a:rPr>
              <a:t>t</a:t>
            </a:r>
            <a:r>
              <a:rPr lang="es-CL" sz="2400" dirty="0">
                <a:solidFill>
                  <a:srgbClr val="FF0000"/>
                </a:solidFill>
                <a:latin typeface="Trebuchet MS" pitchFamily="34" charset="0"/>
              </a:rPr>
              <a:t>o</a:t>
            </a:r>
            <a:r>
              <a:rPr lang="es-CL" sz="2400" dirty="0">
                <a:solidFill>
                  <a:srgbClr val="3333CC"/>
                </a:solidFill>
                <a:latin typeface="Trebuchet MS" pitchFamily="34" charset="0"/>
              </a:rPr>
              <a:t> </a:t>
            </a:r>
            <a:r>
              <a:rPr lang="es-CL" sz="2400" dirty="0">
                <a:solidFill>
                  <a:srgbClr val="3366FF"/>
                </a:solidFill>
                <a:latin typeface="Trebuchet MS" pitchFamily="34" charset="0"/>
              </a:rPr>
              <a:t>d</a:t>
            </a:r>
            <a:r>
              <a:rPr lang="es-CL" sz="2400" dirty="0">
                <a:solidFill>
                  <a:srgbClr val="FFFF00"/>
                </a:solidFill>
                <a:latin typeface="Trebuchet MS" pitchFamily="34" charset="0"/>
              </a:rPr>
              <a:t>e </a:t>
            </a:r>
            <a:r>
              <a:rPr lang="es-CL" sz="2400" dirty="0">
                <a:solidFill>
                  <a:srgbClr val="00FF00"/>
                </a:solidFill>
                <a:latin typeface="Trebuchet MS" pitchFamily="34" charset="0"/>
              </a:rPr>
              <a:t>I</a:t>
            </a:r>
            <a:r>
              <a:rPr lang="es-CL" sz="2400" dirty="0">
                <a:solidFill>
                  <a:schemeClr val="bg1"/>
                </a:solidFill>
                <a:latin typeface="Trebuchet MS" pitchFamily="34" charset="0"/>
              </a:rPr>
              <a:t>m</a:t>
            </a:r>
            <a:r>
              <a:rPr lang="es-CL" sz="2400" dirty="0">
                <a:solidFill>
                  <a:srgbClr val="FF6600"/>
                </a:solidFill>
                <a:latin typeface="Trebuchet MS" pitchFamily="34" charset="0"/>
              </a:rPr>
              <a:t>á</a:t>
            </a:r>
            <a:r>
              <a:rPr lang="es-CL" sz="2400" dirty="0">
                <a:solidFill>
                  <a:srgbClr val="FF0000"/>
                </a:solidFill>
                <a:latin typeface="Trebuchet MS" pitchFamily="34" charset="0"/>
              </a:rPr>
              <a:t>g</a:t>
            </a:r>
            <a:r>
              <a:rPr lang="es-CL" sz="2400" dirty="0">
                <a:solidFill>
                  <a:srgbClr val="3366FF"/>
                </a:solidFill>
                <a:latin typeface="Trebuchet MS" pitchFamily="34" charset="0"/>
              </a:rPr>
              <a:t>e</a:t>
            </a:r>
            <a:r>
              <a:rPr lang="es-CL" sz="2400" dirty="0">
                <a:solidFill>
                  <a:srgbClr val="FFFF00"/>
                </a:solidFill>
                <a:latin typeface="Trebuchet MS" pitchFamily="34" charset="0"/>
              </a:rPr>
              <a:t>n</a:t>
            </a:r>
            <a:r>
              <a:rPr lang="es-CL" sz="2400" dirty="0">
                <a:solidFill>
                  <a:srgbClr val="00FF00"/>
                </a:solidFill>
                <a:latin typeface="Trebuchet MS" pitchFamily="34" charset="0"/>
              </a:rPr>
              <a:t>e</a:t>
            </a:r>
            <a:r>
              <a:rPr lang="es-CL" sz="2400" dirty="0">
                <a:solidFill>
                  <a:schemeClr val="bg1"/>
                </a:solidFill>
                <a:latin typeface="Trebuchet MS" pitchFamily="34" charset="0"/>
              </a:rPr>
              <a:t>s</a:t>
            </a:r>
            <a:endParaRPr lang="es-CL" sz="2400" dirty="0">
              <a:solidFill>
                <a:srgbClr val="FF0000"/>
              </a:solidFill>
              <a:latin typeface="Trebuchet MS" pitchFamily="34" charset="0"/>
            </a:endParaRPr>
          </a:p>
          <a:p>
            <a:pPr algn="ctr"/>
            <a:r>
              <a:rPr lang="es-CL" sz="2400" dirty="0">
                <a:solidFill>
                  <a:schemeClr val="bg2">
                    <a:lumMod val="60000"/>
                    <a:lumOff val="40000"/>
                  </a:schemeClr>
                </a:solidFill>
                <a:latin typeface="Trebuchet MS" pitchFamily="34" charset="0"/>
              </a:rPr>
              <a:t> </a:t>
            </a:r>
          </a:p>
          <a:p>
            <a:pPr algn="ctr"/>
            <a:endParaRPr lang="es-CL" sz="2400" dirty="0">
              <a:solidFill>
                <a:srgbClr val="3333CC"/>
              </a:solidFill>
              <a:latin typeface="Trebuchet MS" pitchFamily="34" charset="0"/>
            </a:endParaRPr>
          </a:p>
          <a:p>
            <a:pPr algn="ctr"/>
            <a:endParaRPr lang="es-CL" sz="2400" dirty="0">
              <a:solidFill>
                <a:srgbClr val="3333CC"/>
              </a:solidFill>
              <a:latin typeface="Trebuchet MS" pitchFamily="34" charset="0"/>
            </a:endParaRPr>
          </a:p>
          <a:p>
            <a:pPr algn="ctr"/>
            <a:endParaRPr lang="es-CL" sz="2400" dirty="0">
              <a:solidFill>
                <a:srgbClr val="3333CC"/>
              </a:solidFill>
              <a:latin typeface="Trebuchet MS" pitchFamily="34" charset="0"/>
            </a:endParaRPr>
          </a:p>
          <a:p>
            <a:pPr algn="ctr"/>
            <a:endParaRPr lang="es-CL" sz="2400" dirty="0">
              <a:solidFill>
                <a:srgbClr val="3333CC"/>
              </a:solidFill>
              <a:latin typeface="Trebuchet MS" pitchFamily="34" charset="0"/>
            </a:endParaRPr>
          </a:p>
          <a:p>
            <a:pPr algn="ctr"/>
            <a:endParaRPr lang="es-CL" dirty="0">
              <a:solidFill>
                <a:srgbClr val="3333CC"/>
              </a:solidFill>
              <a:latin typeface="Trebuchet MS" pitchFamily="34" charset="0"/>
            </a:endParaRPr>
          </a:p>
          <a:p>
            <a:pPr algn="ctr"/>
            <a:r>
              <a:rPr lang="es-CL" sz="1400" dirty="0">
                <a:solidFill>
                  <a:schemeClr val="bg1">
                    <a:lumMod val="75000"/>
                  </a:schemeClr>
                </a:solidFill>
                <a:latin typeface="Trebuchet MS" pitchFamily="34" charset="0"/>
              </a:rPr>
              <a:t>Domingo Mery</a:t>
            </a:r>
          </a:p>
          <a:p>
            <a:pPr algn="ctr"/>
            <a:endParaRPr lang="es-CL" sz="1200" dirty="0">
              <a:solidFill>
                <a:schemeClr val="bg1">
                  <a:lumMod val="75000"/>
                </a:schemeClr>
              </a:solidFill>
              <a:latin typeface="Trebuchet MS" pitchFamily="34" charset="0"/>
            </a:endParaRPr>
          </a:p>
          <a:p>
            <a:pPr algn="ctr"/>
            <a:r>
              <a:rPr lang="es-CL" sz="1200" dirty="0">
                <a:solidFill>
                  <a:schemeClr val="bg1">
                    <a:lumMod val="75000"/>
                  </a:schemeClr>
                </a:solidFill>
                <a:latin typeface="Trebuchet MS" pitchFamily="34" charset="0"/>
              </a:rPr>
              <a:t>Departmento de Ciencia de la Computación</a:t>
            </a:r>
          </a:p>
          <a:p>
            <a:pPr algn="ctr"/>
            <a:r>
              <a:rPr lang="es-CL" sz="1200" dirty="0">
                <a:solidFill>
                  <a:schemeClr val="bg1">
                    <a:lumMod val="75000"/>
                  </a:schemeClr>
                </a:solidFill>
                <a:latin typeface="Trebuchet MS" pitchFamily="34" charset="0"/>
              </a:rPr>
              <a:t>Escuela de Ingeniería</a:t>
            </a:r>
          </a:p>
          <a:p>
            <a:pPr algn="ctr"/>
            <a:r>
              <a:rPr lang="es-CL" sz="1200" dirty="0">
                <a:solidFill>
                  <a:schemeClr val="bg1">
                    <a:lumMod val="75000"/>
                  </a:schemeClr>
                </a:solidFill>
                <a:latin typeface="Trebuchet MS" pitchFamily="34" charset="0"/>
              </a:rPr>
              <a:t>Universidad Católica </a:t>
            </a:r>
            <a:r>
              <a:rPr lang="es-CL" sz="1200">
                <a:solidFill>
                  <a:schemeClr val="bg1">
                    <a:lumMod val="75000"/>
                  </a:schemeClr>
                </a:solidFill>
                <a:latin typeface="Trebuchet MS" pitchFamily="34" charset="0"/>
              </a:rPr>
              <a:t>de Chile</a:t>
            </a:r>
            <a:endParaRPr lang="es-CL" sz="1200" dirty="0">
              <a:solidFill>
                <a:schemeClr val="bg1">
                  <a:lumMod val="75000"/>
                </a:schemeClr>
              </a:solidFill>
              <a:latin typeface="Trebuchet MS" pitchFamily="34" charset="0"/>
            </a:endParaRPr>
          </a:p>
        </p:txBody>
      </p:sp>
      <p:pic>
        <p:nvPicPr>
          <p:cNvPr id="3" name="Picture 2" descr="Screen Shot 2014-07-28 at 3.30.32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7600" y="932796"/>
            <a:ext cx="2252133" cy="7099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224667" y="1065604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9" tIns="45719" rIns="91439" bIns="45719"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377067" y="1218004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9" tIns="45719" rIns="91439" bIns="45719"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142619" y="1370404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9" tIns="45719" rIns="91439" bIns="45719"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5529466" y="990856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9" tIns="45719" rIns="91439" bIns="45719"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5332393" y="1501786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9" tIns="45719" rIns="91439" bIns="45719"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524001" y="3031068"/>
            <a:ext cx="9144000" cy="1075677"/>
          </a:xfrm>
          <a:prstGeom prst="rect">
            <a:avLst/>
          </a:prstGeom>
          <a:noFill/>
        </p:spPr>
        <p:txBody>
          <a:bodyPr wrap="square" lIns="91439" tIns="45719" rIns="91439" bIns="45719" rtlCol="0">
            <a:spAutoFit/>
          </a:bodyPr>
          <a:lstStyle/>
          <a:p>
            <a:pPr algn="ctr"/>
            <a:r>
              <a:rPr lang="es-CL" sz="2400" b="1" dirty="0">
                <a:solidFill>
                  <a:srgbClr val="FFFFFF"/>
                </a:solidFill>
                <a:latin typeface="Trebuchet MS"/>
                <a:cs typeface="Trebuchet MS"/>
              </a:rPr>
              <a:t>Transformada Discreta de Cosenos (DCT)</a:t>
            </a:r>
          </a:p>
          <a:p>
            <a:pPr algn="ctr"/>
            <a:endParaRPr lang="es-CL" sz="1000" dirty="0">
              <a:solidFill>
                <a:srgbClr val="FFFFFF"/>
              </a:solidFill>
              <a:latin typeface="Trebuchet MS"/>
              <a:cs typeface="Trebuchet MS"/>
            </a:endParaRPr>
          </a:p>
          <a:p>
            <a:pPr algn="ctr"/>
            <a:r>
              <a:rPr lang="es-CL" sz="1000" dirty="0">
                <a:solidFill>
                  <a:srgbClr val="FFFFFF"/>
                </a:solidFill>
                <a:latin typeface="Trebuchet MS"/>
                <a:cs typeface="Trebuchet MS"/>
              </a:rPr>
              <a:t>[ Capítulo 4 ]</a:t>
            </a:r>
          </a:p>
          <a:p>
            <a:pPr algn="ctr"/>
            <a:endParaRPr lang="es-CL" sz="1000" dirty="0">
              <a:solidFill>
                <a:srgbClr val="FFFFFF"/>
              </a:solidFill>
              <a:latin typeface="Trebuchet MS"/>
              <a:cs typeface="Trebuchet MS"/>
            </a:endParaRPr>
          </a:p>
          <a:p>
            <a:pPr algn="ctr"/>
            <a:endParaRPr lang="es-CL" sz="1000" dirty="0">
              <a:solidFill>
                <a:srgbClr val="FFFFFF"/>
              </a:solidFill>
              <a:latin typeface="Trebuchet MS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87183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C572F4B-8C53-924A-B6ED-30FCD87F80D8}"/>
              </a:ext>
            </a:extLst>
          </p:cNvPr>
          <p:cNvSpPr txBox="1"/>
          <p:nvPr/>
        </p:nvSpPr>
        <p:spPr>
          <a:xfrm>
            <a:off x="2438400" y="1338648"/>
            <a:ext cx="81446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La </a:t>
            </a:r>
            <a:r>
              <a:rPr lang="en-US" dirty="0" err="1">
                <a:latin typeface="Trebuchet MS" charset="0"/>
                <a:ea typeface="Trebuchet MS" charset="0"/>
                <a:cs typeface="Trebuchet MS" charset="0"/>
              </a:rPr>
              <a:t>Transformada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en-US" dirty="0" err="1">
                <a:latin typeface="Trebuchet MS" charset="0"/>
                <a:ea typeface="Trebuchet MS" charset="0"/>
                <a:cs typeface="Trebuchet MS" charset="0"/>
              </a:rPr>
              <a:t>Discreta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 de </a:t>
            </a:r>
            <a:r>
              <a:rPr lang="en-US" dirty="0" err="1">
                <a:latin typeface="Trebuchet MS" charset="0"/>
                <a:ea typeface="Trebuchet MS" charset="0"/>
                <a:cs typeface="Trebuchet MS" charset="0"/>
              </a:rPr>
              <a:t>Cosenos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en-US" dirty="0" err="1">
                <a:latin typeface="Trebuchet MS" charset="0"/>
                <a:ea typeface="Trebuchet MS" charset="0"/>
                <a:cs typeface="Trebuchet MS" charset="0"/>
              </a:rPr>
              <a:t>está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en-US" dirty="0" err="1">
                <a:latin typeface="Trebuchet MS" charset="0"/>
                <a:ea typeface="Trebuchet MS" charset="0"/>
                <a:cs typeface="Trebuchet MS" charset="0"/>
              </a:rPr>
              <a:t>definida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en-US" dirty="0" err="1">
                <a:latin typeface="Trebuchet MS" charset="0"/>
                <a:ea typeface="Trebuchet MS" charset="0"/>
                <a:cs typeface="Trebuchet MS" charset="0"/>
              </a:rPr>
              <a:t>como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CE54CC-4187-3149-8C93-B25814A6DA36}"/>
              </a:ext>
            </a:extLst>
          </p:cNvPr>
          <p:cNvSpPr txBox="1"/>
          <p:nvPr/>
        </p:nvSpPr>
        <p:spPr>
          <a:xfrm>
            <a:off x="2124591" y="4920048"/>
            <a:ext cx="88704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A </a:t>
            </a:r>
            <a:r>
              <a:rPr lang="en-US" dirty="0" err="1">
                <a:latin typeface="Trebuchet MS" charset="0"/>
                <a:ea typeface="Trebuchet MS" charset="0"/>
                <a:cs typeface="Trebuchet MS" charset="0"/>
              </a:rPr>
              <a:t>diferencia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 de la DFT, </a:t>
            </a:r>
            <a:r>
              <a:rPr lang="en-US" dirty="0" err="1">
                <a:latin typeface="Trebuchet MS" charset="0"/>
                <a:ea typeface="Trebuchet MS" charset="0"/>
                <a:cs typeface="Trebuchet MS" charset="0"/>
              </a:rPr>
              <a:t>esta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en-US" dirty="0" err="1">
                <a:latin typeface="Trebuchet MS" charset="0"/>
                <a:ea typeface="Trebuchet MS" charset="0"/>
                <a:cs typeface="Trebuchet MS" charset="0"/>
              </a:rPr>
              <a:t>transformada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 no </a:t>
            </a:r>
            <a:r>
              <a:rPr lang="en-US" dirty="0" err="1">
                <a:latin typeface="Trebuchet MS" charset="0"/>
                <a:ea typeface="Trebuchet MS" charset="0"/>
                <a:cs typeface="Trebuchet MS" charset="0"/>
              </a:rPr>
              <a:t>presenta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en-US" dirty="0" err="1">
                <a:latin typeface="Trebuchet MS" charset="0"/>
                <a:ea typeface="Trebuchet MS" charset="0"/>
                <a:cs typeface="Trebuchet MS" charset="0"/>
              </a:rPr>
              <a:t>números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en-US" dirty="0" err="1">
                <a:latin typeface="Trebuchet MS" charset="0"/>
                <a:ea typeface="Trebuchet MS" charset="0"/>
                <a:cs typeface="Trebuchet MS" charset="0"/>
              </a:rPr>
              <a:t>complejos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, </a:t>
            </a:r>
            <a:r>
              <a:rPr lang="en-US" dirty="0" err="1">
                <a:latin typeface="Trebuchet MS" charset="0"/>
                <a:ea typeface="Trebuchet MS" charset="0"/>
                <a:cs typeface="Trebuchet MS" charset="0"/>
              </a:rPr>
              <a:t>sólo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en-US" dirty="0" err="1">
                <a:latin typeface="Trebuchet MS" charset="0"/>
                <a:ea typeface="Trebuchet MS" charset="0"/>
                <a:cs typeface="Trebuchet MS" charset="0"/>
              </a:rPr>
              <a:t>reales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0578C48-7558-E34A-B113-D3D71EBD17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50" y="2800340"/>
            <a:ext cx="8498908" cy="7172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5E5C50-222C-054A-9609-E44FEE140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358" y="3746205"/>
            <a:ext cx="1253065" cy="2912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C7271C0-887A-9645-871B-EB2F51471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0558" y="3746206"/>
            <a:ext cx="1354667" cy="3048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F9F909E-4EC3-8B42-A8F7-CDC958CB52D4}"/>
              </a:ext>
            </a:extLst>
          </p:cNvPr>
          <p:cNvSpPr txBox="1"/>
          <p:nvPr/>
        </p:nvSpPr>
        <p:spPr>
          <a:xfrm>
            <a:off x="8117958" y="3746205"/>
            <a:ext cx="1293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Trebuchet MS" charset="0"/>
                <a:ea typeface="Trebuchet MS" charset="0"/>
                <a:cs typeface="Trebuchet MS" charset="0"/>
              </a:rPr>
              <a:t>para</a:t>
            </a:r>
            <a:r>
              <a:rPr lang="en-US" sz="1400" dirty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en-US" sz="1400" i="1" dirty="0">
                <a:latin typeface="Trebuchet MS" charset="0"/>
                <a:ea typeface="Trebuchet MS" charset="0"/>
                <a:cs typeface="Trebuchet MS" charset="0"/>
              </a:rPr>
              <a:t>m</a:t>
            </a:r>
            <a:r>
              <a:rPr lang="en-US" sz="1400" dirty="0">
                <a:latin typeface="Trebuchet MS" charset="0"/>
                <a:ea typeface="Trebuchet MS" charset="0"/>
                <a:cs typeface="Trebuchet MS" charset="0"/>
              </a:rPr>
              <a:t>=2,… </a:t>
            </a:r>
            <a:r>
              <a:rPr lang="en-US" sz="1400" i="1" dirty="0">
                <a:latin typeface="Trebuchet MS" charset="0"/>
                <a:ea typeface="Trebuchet MS" charset="0"/>
                <a:cs typeface="Trebuchet MS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00526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2EEE74-68EF-DD49-8EC6-DFFD4219B4BA}"/>
              </a:ext>
            </a:extLst>
          </p:cNvPr>
          <p:cNvSpPr txBox="1"/>
          <p:nvPr/>
        </p:nvSpPr>
        <p:spPr>
          <a:xfrm>
            <a:off x="790832" y="630195"/>
            <a:ext cx="31839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Funciones</a:t>
            </a:r>
            <a:r>
              <a:rPr lang="en-US" dirty="0"/>
              <a:t> Base:</a:t>
            </a:r>
          </a:p>
          <a:p>
            <a:r>
              <a:rPr lang="en-US" dirty="0"/>
              <a:t>(para </a:t>
            </a:r>
            <a:r>
              <a:rPr lang="en-US" dirty="0" err="1"/>
              <a:t>imágenes</a:t>
            </a:r>
            <a:r>
              <a:rPr lang="en-US" dirty="0"/>
              <a:t> de 20x20 pixels)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DCEF3B-6BDE-F54E-8A56-1096E020D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44" y="0"/>
            <a:ext cx="68412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509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>
            <a:extLst>
              <a:ext uri="{FF2B5EF4-FFF2-40B4-BE49-F238E27FC236}">
                <a16:creationId xmlns:a16="http://schemas.microsoft.com/office/drawing/2014/main" id="{1000FA8B-4CBD-CC44-8C2B-B36CC9034FBE}"/>
              </a:ext>
            </a:extLst>
          </p:cNvPr>
          <p:cNvSpPr/>
          <p:nvPr/>
        </p:nvSpPr>
        <p:spPr>
          <a:xfrm>
            <a:off x="4678327" y="2849525"/>
            <a:ext cx="542260" cy="43593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24ACB8B-F42A-694F-9824-350F860AF269}"/>
              </a:ext>
            </a:extLst>
          </p:cNvPr>
          <p:cNvSpPr/>
          <p:nvPr/>
        </p:nvSpPr>
        <p:spPr>
          <a:xfrm>
            <a:off x="5337544" y="2658138"/>
            <a:ext cx="1158950" cy="81870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DCT2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9DD4ED13-E9D3-8543-B04F-EE4B7F7FDCD9}"/>
              </a:ext>
            </a:extLst>
          </p:cNvPr>
          <p:cNvSpPr/>
          <p:nvPr/>
        </p:nvSpPr>
        <p:spPr>
          <a:xfrm>
            <a:off x="6744585" y="2831804"/>
            <a:ext cx="542260" cy="43593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19E375-7966-2042-B22A-C662D6550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385" y="1060152"/>
            <a:ext cx="3981451" cy="398145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40B34F3-685D-7547-9ED9-B48E0E8BD23A}"/>
              </a:ext>
            </a:extLst>
          </p:cNvPr>
          <p:cNvSpPr txBox="1"/>
          <p:nvPr/>
        </p:nvSpPr>
        <p:spPr>
          <a:xfrm>
            <a:off x="1775638" y="733646"/>
            <a:ext cx="1548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X: Input Image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5E706D-BD3C-CE4F-99FE-2112C84E0973}"/>
              </a:ext>
            </a:extLst>
          </p:cNvPr>
          <p:cNvSpPr txBox="1"/>
          <p:nvPr/>
        </p:nvSpPr>
        <p:spPr>
          <a:xfrm>
            <a:off x="8881735" y="800985"/>
            <a:ext cx="130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 = DCT2(X)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05D12F-DD3C-C74B-BCBA-ACD1A0D9B4C2}"/>
              </a:ext>
            </a:extLst>
          </p:cNvPr>
          <p:cNvSpPr txBox="1"/>
          <p:nvPr/>
        </p:nvSpPr>
        <p:spPr>
          <a:xfrm>
            <a:off x="1782734" y="4908697"/>
            <a:ext cx="1436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 x 20 pixels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3D5EE7-CFB3-5240-BB4F-18B85BCA0E8C}"/>
              </a:ext>
            </a:extLst>
          </p:cNvPr>
          <p:cNvSpPr txBox="1"/>
          <p:nvPr/>
        </p:nvSpPr>
        <p:spPr>
          <a:xfrm>
            <a:off x="8835664" y="4986669"/>
            <a:ext cx="1436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 x 20 pixels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A844AAFC-BD20-804C-97E1-4C641D367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442" y="1101798"/>
            <a:ext cx="3724146" cy="3746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717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>
            <a:extLst>
              <a:ext uri="{FF2B5EF4-FFF2-40B4-BE49-F238E27FC236}">
                <a16:creationId xmlns:a16="http://schemas.microsoft.com/office/drawing/2014/main" id="{1000FA8B-4CBD-CC44-8C2B-B36CC9034FBE}"/>
              </a:ext>
            </a:extLst>
          </p:cNvPr>
          <p:cNvSpPr/>
          <p:nvPr/>
        </p:nvSpPr>
        <p:spPr>
          <a:xfrm>
            <a:off x="4678327" y="2849525"/>
            <a:ext cx="542260" cy="43593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24ACB8B-F42A-694F-9824-350F860AF269}"/>
              </a:ext>
            </a:extLst>
          </p:cNvPr>
          <p:cNvSpPr/>
          <p:nvPr/>
        </p:nvSpPr>
        <p:spPr>
          <a:xfrm>
            <a:off x="5337544" y="2658138"/>
            <a:ext cx="1158950" cy="81870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DCT2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9DD4ED13-E9D3-8543-B04F-EE4B7F7FDCD9}"/>
              </a:ext>
            </a:extLst>
          </p:cNvPr>
          <p:cNvSpPr/>
          <p:nvPr/>
        </p:nvSpPr>
        <p:spPr>
          <a:xfrm>
            <a:off x="6744585" y="2831804"/>
            <a:ext cx="542260" cy="43593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19E375-7966-2042-B22A-C662D6550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385" y="1060152"/>
            <a:ext cx="3981451" cy="398145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F05D12F-DD3C-C74B-BCBA-ACD1A0D9B4C2}"/>
              </a:ext>
            </a:extLst>
          </p:cNvPr>
          <p:cNvSpPr txBox="1"/>
          <p:nvPr/>
        </p:nvSpPr>
        <p:spPr>
          <a:xfrm>
            <a:off x="1782734" y="4908697"/>
            <a:ext cx="1436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 x 20 pixels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3D5EE7-CFB3-5240-BB4F-18B85BCA0E8C}"/>
              </a:ext>
            </a:extLst>
          </p:cNvPr>
          <p:cNvSpPr txBox="1"/>
          <p:nvPr/>
        </p:nvSpPr>
        <p:spPr>
          <a:xfrm>
            <a:off x="8835664" y="4986669"/>
            <a:ext cx="1436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 x 20 pixels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A844AAFC-BD20-804C-97E1-4C641D367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442" y="1101798"/>
            <a:ext cx="3724146" cy="374664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105156E-B384-2649-B605-0FAAC5A6943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915091" y="1095152"/>
            <a:ext cx="3678174" cy="369566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86F0BA1-1C37-B143-8AF7-290E106419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7559762" y="1190847"/>
            <a:ext cx="3695647" cy="371208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57AA33-D070-0547-BB4D-A5E5634ED50F}"/>
              </a:ext>
            </a:extLst>
          </p:cNvPr>
          <p:cNvSpPr txBox="1"/>
          <p:nvPr/>
        </p:nvSpPr>
        <p:spPr>
          <a:xfrm>
            <a:off x="1775638" y="733646"/>
            <a:ext cx="1548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X: Input Image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9EEA50-C572-FF46-B5FF-A4ED9BEAFE77}"/>
              </a:ext>
            </a:extLst>
          </p:cNvPr>
          <p:cNvSpPr txBox="1"/>
          <p:nvPr/>
        </p:nvSpPr>
        <p:spPr>
          <a:xfrm>
            <a:off x="8881735" y="800985"/>
            <a:ext cx="130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 = DCT2(X)</a:t>
            </a:r>
          </a:p>
        </p:txBody>
      </p:sp>
    </p:spTree>
    <p:extLst>
      <p:ext uri="{BB962C8B-B14F-4D97-AF65-F5344CB8AC3E}">
        <p14:creationId xmlns:p14="http://schemas.microsoft.com/office/powerpoint/2010/main" val="2753464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2EEE74-68EF-DD49-8EC6-DFFD4219B4BA}"/>
              </a:ext>
            </a:extLst>
          </p:cNvPr>
          <p:cNvSpPr txBox="1"/>
          <p:nvPr/>
        </p:nvSpPr>
        <p:spPr>
          <a:xfrm>
            <a:off x="790832" y="630195"/>
            <a:ext cx="2485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Transformada</a:t>
            </a:r>
            <a:r>
              <a:rPr lang="en-US" dirty="0"/>
              <a:t> DCT2 de 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DF23F3-3E81-1344-8A08-121D731F40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217" y="3185780"/>
            <a:ext cx="204769" cy="20600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4AB31D-C699-CD44-B6D8-8C49F09C8F1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5263127" y="138224"/>
            <a:ext cx="6443319" cy="6400799"/>
          </a:xfrm>
          <a:prstGeom prst="rect">
            <a:avLst/>
          </a:prstGeom>
        </p:spPr>
      </p:pic>
      <p:sp>
        <p:nvSpPr>
          <p:cNvPr id="9" name="Right Arrow 8">
            <a:extLst>
              <a:ext uri="{FF2B5EF4-FFF2-40B4-BE49-F238E27FC236}">
                <a16:creationId xmlns:a16="http://schemas.microsoft.com/office/drawing/2014/main" id="{62906698-BD58-D546-9287-27AE275DC56E}"/>
              </a:ext>
            </a:extLst>
          </p:cNvPr>
          <p:cNvSpPr/>
          <p:nvPr/>
        </p:nvSpPr>
        <p:spPr>
          <a:xfrm>
            <a:off x="1711843" y="3083442"/>
            <a:ext cx="542260" cy="43593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9FFB56B-9BED-DE44-B59B-78A0032CA2FC}"/>
              </a:ext>
            </a:extLst>
          </p:cNvPr>
          <p:cNvSpPr/>
          <p:nvPr/>
        </p:nvSpPr>
        <p:spPr>
          <a:xfrm>
            <a:off x="2371060" y="2892055"/>
            <a:ext cx="1158950" cy="81870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DCT2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6F8BA340-EC56-824D-8BDB-8F596FCBF54F}"/>
              </a:ext>
            </a:extLst>
          </p:cNvPr>
          <p:cNvSpPr/>
          <p:nvPr/>
        </p:nvSpPr>
        <p:spPr>
          <a:xfrm>
            <a:off x="3778100" y="3065722"/>
            <a:ext cx="1091611" cy="4111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5A8A3A-16BA-2640-B2CB-5018FA5147A1}"/>
              </a:ext>
            </a:extLst>
          </p:cNvPr>
          <p:cNvSpPr txBox="1"/>
          <p:nvPr/>
        </p:nvSpPr>
        <p:spPr>
          <a:xfrm>
            <a:off x="680484" y="2381693"/>
            <a:ext cx="131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</a:t>
            </a:r>
          </a:p>
          <a:p>
            <a:pPr algn="ctr"/>
            <a:r>
              <a:rPr lang="en-US" dirty="0"/>
              <a:t>Input Image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7142B4-0FBB-D644-8E7C-7F4D66ABD736}"/>
              </a:ext>
            </a:extLst>
          </p:cNvPr>
          <p:cNvSpPr txBox="1"/>
          <p:nvPr/>
        </p:nvSpPr>
        <p:spPr>
          <a:xfrm>
            <a:off x="3638697" y="2480930"/>
            <a:ext cx="130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 = DCT2(X)</a:t>
            </a:r>
          </a:p>
        </p:txBody>
      </p:sp>
    </p:spTree>
    <p:extLst>
      <p:ext uri="{BB962C8B-B14F-4D97-AF65-F5344CB8AC3E}">
        <p14:creationId xmlns:p14="http://schemas.microsoft.com/office/powerpoint/2010/main" val="14189555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2EEE74-68EF-DD49-8EC6-DFFD4219B4BA}"/>
              </a:ext>
            </a:extLst>
          </p:cNvPr>
          <p:cNvSpPr txBox="1"/>
          <p:nvPr/>
        </p:nvSpPr>
        <p:spPr>
          <a:xfrm>
            <a:off x="790832" y="630195"/>
            <a:ext cx="31839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Funciones</a:t>
            </a:r>
            <a:r>
              <a:rPr lang="en-US" dirty="0"/>
              <a:t> Base:</a:t>
            </a:r>
          </a:p>
          <a:p>
            <a:r>
              <a:rPr lang="en-US" dirty="0"/>
              <a:t>(para </a:t>
            </a:r>
            <a:r>
              <a:rPr lang="en-US" dirty="0" err="1"/>
              <a:t>imágenes</a:t>
            </a:r>
            <a:r>
              <a:rPr lang="en-US" dirty="0"/>
              <a:t> de 20x20 pixels)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DCEF3B-6BDE-F54E-8A56-1096E020D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44" y="0"/>
            <a:ext cx="68412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837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2EEE74-68EF-DD49-8EC6-DFFD4219B4BA}"/>
              </a:ext>
            </a:extLst>
          </p:cNvPr>
          <p:cNvSpPr txBox="1"/>
          <p:nvPr/>
        </p:nvSpPr>
        <p:spPr>
          <a:xfrm>
            <a:off x="790832" y="630195"/>
            <a:ext cx="2485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Transformada</a:t>
            </a:r>
            <a:r>
              <a:rPr lang="en-US" dirty="0"/>
              <a:t> DCT2 de 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DF23F3-3E81-1344-8A08-121D731F40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217" y="3185780"/>
            <a:ext cx="204769" cy="20600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4AB31D-C699-CD44-B6D8-8C49F09C8F1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5263127" y="138224"/>
            <a:ext cx="6443319" cy="6400799"/>
          </a:xfrm>
          <a:prstGeom prst="rect">
            <a:avLst/>
          </a:prstGeom>
        </p:spPr>
      </p:pic>
      <p:sp>
        <p:nvSpPr>
          <p:cNvPr id="9" name="Right Arrow 8">
            <a:extLst>
              <a:ext uri="{FF2B5EF4-FFF2-40B4-BE49-F238E27FC236}">
                <a16:creationId xmlns:a16="http://schemas.microsoft.com/office/drawing/2014/main" id="{62906698-BD58-D546-9287-27AE275DC56E}"/>
              </a:ext>
            </a:extLst>
          </p:cNvPr>
          <p:cNvSpPr/>
          <p:nvPr/>
        </p:nvSpPr>
        <p:spPr>
          <a:xfrm>
            <a:off x="1711843" y="3083442"/>
            <a:ext cx="542260" cy="43593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9FFB56B-9BED-DE44-B59B-78A0032CA2FC}"/>
              </a:ext>
            </a:extLst>
          </p:cNvPr>
          <p:cNvSpPr/>
          <p:nvPr/>
        </p:nvSpPr>
        <p:spPr>
          <a:xfrm>
            <a:off x="2371060" y="2892055"/>
            <a:ext cx="1158950" cy="81870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DCT2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6F8BA340-EC56-824D-8BDB-8F596FCBF54F}"/>
              </a:ext>
            </a:extLst>
          </p:cNvPr>
          <p:cNvSpPr/>
          <p:nvPr/>
        </p:nvSpPr>
        <p:spPr>
          <a:xfrm>
            <a:off x="3778100" y="3065722"/>
            <a:ext cx="1091611" cy="4111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5A8A3A-16BA-2640-B2CB-5018FA5147A1}"/>
              </a:ext>
            </a:extLst>
          </p:cNvPr>
          <p:cNvSpPr txBox="1"/>
          <p:nvPr/>
        </p:nvSpPr>
        <p:spPr>
          <a:xfrm>
            <a:off x="680484" y="2381693"/>
            <a:ext cx="131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</a:t>
            </a:r>
          </a:p>
          <a:p>
            <a:pPr algn="ctr"/>
            <a:r>
              <a:rPr lang="en-US" dirty="0"/>
              <a:t>Input Image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7142B4-0FBB-D644-8E7C-7F4D66ABD736}"/>
              </a:ext>
            </a:extLst>
          </p:cNvPr>
          <p:cNvSpPr txBox="1"/>
          <p:nvPr/>
        </p:nvSpPr>
        <p:spPr>
          <a:xfrm>
            <a:off x="3638697" y="2480930"/>
            <a:ext cx="130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 = DCT2(X)</a:t>
            </a:r>
          </a:p>
        </p:txBody>
      </p:sp>
    </p:spTree>
    <p:extLst>
      <p:ext uri="{BB962C8B-B14F-4D97-AF65-F5344CB8AC3E}">
        <p14:creationId xmlns:p14="http://schemas.microsoft.com/office/powerpoint/2010/main" val="10548305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8DCEF3B-6BDE-F54E-8A56-1096E020D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44" y="0"/>
            <a:ext cx="6841253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739DEB-B8BD-8044-9711-DDDE4B043D1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5263127" y="138224"/>
            <a:ext cx="6443319" cy="64007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F8EB1FC-6DA9-7848-8CBF-87B0CE45CC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2217" y="3185780"/>
            <a:ext cx="204769" cy="2060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7F5036-A1F9-A544-8B05-497F491164F8}"/>
              </a:ext>
            </a:extLst>
          </p:cNvPr>
          <p:cNvSpPr txBox="1"/>
          <p:nvPr/>
        </p:nvSpPr>
        <p:spPr>
          <a:xfrm>
            <a:off x="680484" y="2381693"/>
            <a:ext cx="131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</a:t>
            </a:r>
          </a:p>
          <a:p>
            <a:pPr algn="ctr"/>
            <a:r>
              <a:rPr lang="en-US" dirty="0"/>
              <a:t>Input Image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1D422D8-8AB1-964C-AA47-30FC7747F0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0123" y="2714699"/>
            <a:ext cx="1701800" cy="100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797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8DCEF3B-6BDE-F54E-8A56-1096E020D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44" y="0"/>
            <a:ext cx="6841253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6CA1101-A9AB-234B-B03A-234B42B9D43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5300121" y="116652"/>
            <a:ext cx="6400800" cy="64259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978C39-AECE-B047-80E8-0C060E48AD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2217" y="3185780"/>
            <a:ext cx="204769" cy="206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6C0DB11-32F1-CA42-B071-9B6F7A67B728}"/>
              </a:ext>
            </a:extLst>
          </p:cNvPr>
          <p:cNvSpPr txBox="1"/>
          <p:nvPr/>
        </p:nvSpPr>
        <p:spPr>
          <a:xfrm>
            <a:off x="680484" y="2381693"/>
            <a:ext cx="131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</a:t>
            </a:r>
          </a:p>
          <a:p>
            <a:pPr algn="ctr"/>
            <a:r>
              <a:rPr lang="en-US" dirty="0"/>
              <a:t>Input Image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ED92A32-35FC-1144-8030-7F4E827107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2217" y="3185780"/>
            <a:ext cx="204769" cy="2060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1A1346B-FA60-1C49-81AE-9CCCDF54370C}"/>
              </a:ext>
            </a:extLst>
          </p:cNvPr>
          <p:cNvSpPr txBox="1"/>
          <p:nvPr/>
        </p:nvSpPr>
        <p:spPr>
          <a:xfrm>
            <a:off x="680484" y="2381693"/>
            <a:ext cx="131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</a:t>
            </a:r>
          </a:p>
          <a:p>
            <a:pPr algn="ctr"/>
            <a:r>
              <a:rPr lang="en-US" dirty="0"/>
              <a:t>Input Image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6410A9A-9CDB-E449-8B52-5A4A341742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0123" y="2714699"/>
            <a:ext cx="1701800" cy="100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030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89FCDB4-5978-6644-BD4B-EA2AB48F13BA}"/>
              </a:ext>
            </a:extLst>
          </p:cNvPr>
          <p:cNvSpPr txBox="1"/>
          <p:nvPr/>
        </p:nvSpPr>
        <p:spPr>
          <a:xfrm>
            <a:off x="2902688" y="2817629"/>
            <a:ext cx="55939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Aplicación</a:t>
            </a:r>
            <a:r>
              <a:rPr lang="en-US" sz="3600" dirty="0"/>
              <a:t>: </a:t>
            </a:r>
            <a:r>
              <a:rPr lang="en-US" sz="3600" dirty="0" err="1"/>
              <a:t>Compresión</a:t>
            </a:r>
            <a:r>
              <a:rPr lang="en-US" sz="3600" dirty="0"/>
              <a:t> JPEG</a:t>
            </a:r>
          </a:p>
        </p:txBody>
      </p:sp>
    </p:spTree>
    <p:extLst>
      <p:ext uri="{BB962C8B-B14F-4D97-AF65-F5344CB8AC3E}">
        <p14:creationId xmlns:p14="http://schemas.microsoft.com/office/powerpoint/2010/main" val="5559131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65A58-B25A-D74F-A813-3B9FB639B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1. </a:t>
            </a:r>
            <a:r>
              <a:rPr lang="en-US" dirty="0" err="1">
                <a:latin typeface="+mn-lt"/>
              </a:rPr>
              <a:t>Subdivisión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ventanas</a:t>
            </a:r>
            <a:r>
              <a:rPr lang="en-US" dirty="0">
                <a:latin typeface="+mn-lt"/>
              </a:rPr>
              <a:t> de 8 x 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003B5D-8FA3-1045-BF17-CB9AB7473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884" y="1690575"/>
            <a:ext cx="4019868" cy="40428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0A5661-5147-2245-A0D0-B672897E9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425" y="1688214"/>
            <a:ext cx="4093240" cy="4047591"/>
          </a:xfrm>
          <a:prstGeom prst="rect">
            <a:avLst/>
          </a:prstGeom>
        </p:spPr>
      </p:pic>
      <p:sp>
        <p:nvSpPr>
          <p:cNvPr id="10" name="Right Arrow 9">
            <a:extLst>
              <a:ext uri="{FF2B5EF4-FFF2-40B4-BE49-F238E27FC236}">
                <a16:creationId xmlns:a16="http://schemas.microsoft.com/office/drawing/2014/main" id="{08785262-B34B-5148-98C3-2C344165B81F}"/>
              </a:ext>
            </a:extLst>
          </p:cNvPr>
          <p:cNvSpPr/>
          <p:nvPr/>
        </p:nvSpPr>
        <p:spPr>
          <a:xfrm>
            <a:off x="5114262" y="3657600"/>
            <a:ext cx="542260" cy="43593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2D3473-7A2F-3749-9B98-07C943ACA445}"/>
              </a:ext>
            </a:extLst>
          </p:cNvPr>
          <p:cNvSpPr txBox="1"/>
          <p:nvPr/>
        </p:nvSpPr>
        <p:spPr>
          <a:xfrm>
            <a:off x="2041451" y="5762847"/>
            <a:ext cx="1091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256 x 256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56A3C8-CBAB-1948-A39A-56FCA2B0DE82}"/>
              </a:ext>
            </a:extLst>
          </p:cNvPr>
          <p:cNvSpPr txBox="1"/>
          <p:nvPr/>
        </p:nvSpPr>
        <p:spPr>
          <a:xfrm>
            <a:off x="7573926" y="5755759"/>
            <a:ext cx="1091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256 x 256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B41004F-0390-9846-899F-FED1F5325E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677" y="2483440"/>
            <a:ext cx="2460551" cy="2498826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E9668EB6-9859-9E4B-9A61-CE6B81E666B2}"/>
              </a:ext>
            </a:extLst>
          </p:cNvPr>
          <p:cNvGrpSpPr/>
          <p:nvPr/>
        </p:nvGrpSpPr>
        <p:grpSpPr>
          <a:xfrm>
            <a:off x="7538484" y="1261728"/>
            <a:ext cx="2651164" cy="2321444"/>
            <a:chOff x="7538484" y="1261728"/>
            <a:chExt cx="2651164" cy="2321444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5846608-D6A6-9A49-9552-85D0ED752A72}"/>
                </a:ext>
              </a:extLst>
            </p:cNvPr>
            <p:cNvSpPr txBox="1"/>
            <p:nvPr/>
          </p:nvSpPr>
          <p:spPr>
            <a:xfrm>
              <a:off x="9565759" y="1261728"/>
              <a:ext cx="6238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 x 8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9A2CE5C-E90C-9B4E-8158-51A03505565D}"/>
                </a:ext>
              </a:extLst>
            </p:cNvPr>
            <p:cNvCxnSpPr>
              <a:cxnSpLocks/>
              <a:endCxn id="16" idx="2"/>
            </p:cNvCxnSpPr>
            <p:nvPr/>
          </p:nvCxnSpPr>
          <p:spPr>
            <a:xfrm flipV="1">
              <a:off x="7538484" y="1631060"/>
              <a:ext cx="2339220" cy="1952112"/>
            </a:xfrm>
            <a:prstGeom prst="straightConnector1">
              <a:avLst/>
            </a:prstGeom>
            <a:ln w="25400">
              <a:solidFill>
                <a:srgbClr val="00B050"/>
              </a:solidFill>
              <a:headEnd type="oval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9279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65A58-B25A-D74F-A813-3B9FB639B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2. DCT2 para </a:t>
            </a:r>
            <a:r>
              <a:rPr lang="en-US" dirty="0" err="1">
                <a:latin typeface="+mn-lt"/>
              </a:rPr>
              <a:t>cada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ventana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normalizada</a:t>
            </a:r>
            <a:endParaRPr lang="en-US" dirty="0">
              <a:latin typeface="+mn-l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846608-D6A6-9A49-9552-85D0ED752A72}"/>
              </a:ext>
            </a:extLst>
          </p:cNvPr>
          <p:cNvSpPr txBox="1"/>
          <p:nvPr/>
        </p:nvSpPr>
        <p:spPr>
          <a:xfrm>
            <a:off x="2463208" y="202727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x 8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22CF4AB-04B9-A747-B396-33A926F2F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68" y="2717360"/>
            <a:ext cx="2460551" cy="24988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17A1B6B-C2E0-D648-B049-34ADFF3F0A66}"/>
              </a:ext>
            </a:extLst>
          </p:cNvPr>
          <p:cNvSpPr/>
          <p:nvPr/>
        </p:nvSpPr>
        <p:spPr>
          <a:xfrm>
            <a:off x="1350329" y="3604440"/>
            <a:ext cx="659218" cy="659219"/>
          </a:xfrm>
          <a:prstGeom prst="rect">
            <a:avLst/>
          </a:prstGeom>
          <a:noFill/>
          <a:ln w="4762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AAD1D91-222E-4F4E-8340-A2432550C9D3}"/>
              </a:ext>
            </a:extLst>
          </p:cNvPr>
          <p:cNvSpPr/>
          <p:nvPr/>
        </p:nvSpPr>
        <p:spPr>
          <a:xfrm>
            <a:off x="5263115" y="3530011"/>
            <a:ext cx="1158950" cy="81870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DCT2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A2CE5C-E90C-9B4E-8158-51A03505565D}"/>
              </a:ext>
            </a:extLst>
          </p:cNvPr>
          <p:cNvCxnSpPr>
            <a:cxnSpLocks/>
          </p:cNvCxnSpPr>
          <p:nvPr/>
        </p:nvCxnSpPr>
        <p:spPr>
          <a:xfrm flipV="1">
            <a:off x="1743733" y="2371064"/>
            <a:ext cx="1073889" cy="1414130"/>
          </a:xfrm>
          <a:prstGeom prst="straightConnector1">
            <a:avLst/>
          </a:prstGeom>
          <a:ln w="25400">
            <a:solidFill>
              <a:srgbClr val="00B05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F6A67DAC-8990-CE48-9CCE-66D2E46CE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832" y="5353198"/>
            <a:ext cx="2279059" cy="1081004"/>
          </a:xfrm>
          <a:prstGeom prst="rect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</p:pic>
      <p:sp>
        <p:nvSpPr>
          <p:cNvPr id="29" name="Oval 28">
            <a:extLst>
              <a:ext uri="{FF2B5EF4-FFF2-40B4-BE49-F238E27FC236}">
                <a16:creationId xmlns:a16="http://schemas.microsoft.com/office/drawing/2014/main" id="{4E9B3AF0-2521-AC45-B0AE-E96B81B7C533}"/>
              </a:ext>
            </a:extLst>
          </p:cNvPr>
          <p:cNvSpPr/>
          <p:nvPr/>
        </p:nvSpPr>
        <p:spPr>
          <a:xfrm>
            <a:off x="3785191" y="3678864"/>
            <a:ext cx="510363" cy="51036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08245DD-4EEE-A74F-9F1B-71AFA3D1ED08}"/>
              </a:ext>
            </a:extLst>
          </p:cNvPr>
          <p:cNvCxnSpPr>
            <a:stCxn id="6" idx="3"/>
            <a:endCxn id="29" idx="2"/>
          </p:cNvCxnSpPr>
          <p:nvPr/>
        </p:nvCxnSpPr>
        <p:spPr>
          <a:xfrm flipV="1">
            <a:off x="2009547" y="3934046"/>
            <a:ext cx="1775644" cy="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441A8E6-8CCE-2140-8DA1-15F2A45CA1C7}"/>
              </a:ext>
            </a:extLst>
          </p:cNvPr>
          <p:cNvCxnSpPr>
            <a:cxnSpLocks/>
            <a:stCxn id="29" idx="6"/>
            <a:endCxn id="21" idx="1"/>
          </p:cNvCxnSpPr>
          <p:nvPr/>
        </p:nvCxnSpPr>
        <p:spPr>
          <a:xfrm>
            <a:off x="4295554" y="3934046"/>
            <a:ext cx="9675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01884BA-323B-E547-810E-B53E41BD2C8F}"/>
              </a:ext>
            </a:extLst>
          </p:cNvPr>
          <p:cNvSpPr txBox="1"/>
          <p:nvPr/>
        </p:nvSpPr>
        <p:spPr>
          <a:xfrm>
            <a:off x="3838354" y="3370522"/>
            <a:ext cx="4203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-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FAC7EB-4E33-B643-B084-A148B98B3606}"/>
              </a:ext>
            </a:extLst>
          </p:cNvPr>
          <p:cNvCxnSpPr>
            <a:cxnSpLocks/>
          </p:cNvCxnSpPr>
          <p:nvPr/>
        </p:nvCxnSpPr>
        <p:spPr>
          <a:xfrm>
            <a:off x="4029740" y="2955852"/>
            <a:ext cx="0" cy="7123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AF01C2D-F7E8-0E49-B4A8-5A5B617F1D75}"/>
              </a:ext>
            </a:extLst>
          </p:cNvPr>
          <p:cNvSpPr txBox="1"/>
          <p:nvPr/>
        </p:nvSpPr>
        <p:spPr>
          <a:xfrm>
            <a:off x="3763926" y="2626241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128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7FCEBAD-6694-6848-B333-C08FEAD5DBD2}"/>
              </a:ext>
            </a:extLst>
          </p:cNvPr>
          <p:cNvCxnSpPr>
            <a:cxnSpLocks/>
          </p:cNvCxnSpPr>
          <p:nvPr/>
        </p:nvCxnSpPr>
        <p:spPr>
          <a:xfrm>
            <a:off x="6425610" y="3937590"/>
            <a:ext cx="9675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Picture 45">
            <a:extLst>
              <a:ext uri="{FF2B5EF4-FFF2-40B4-BE49-F238E27FC236}">
                <a16:creationId xmlns:a16="http://schemas.microsoft.com/office/drawing/2014/main" id="{DB9F5827-5CA6-8E42-BE90-DE3DF2E66C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654" y="5253500"/>
            <a:ext cx="3029984" cy="1122786"/>
          </a:xfrm>
          <a:prstGeom prst="rect">
            <a:avLst/>
          </a:prstGeom>
          <a:ln w="34925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EBB19CDC-B393-6344-84A9-6664CC0C65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5784" y="5284380"/>
            <a:ext cx="3156026" cy="1163585"/>
          </a:xfrm>
          <a:prstGeom prst="rect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CEA9824E-A38D-FB47-A2FC-4754C12C7A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6242" y="2987010"/>
            <a:ext cx="2032000" cy="196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317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65A58-B25A-D74F-A813-3B9FB639B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3. División por la ‘</a:t>
            </a:r>
            <a:r>
              <a:rPr lang="en-US" dirty="0" err="1">
                <a:latin typeface="+mn-lt"/>
              </a:rPr>
              <a:t>Tabla</a:t>
            </a:r>
            <a:r>
              <a:rPr lang="en-US" dirty="0">
                <a:latin typeface="+mn-lt"/>
              </a:rPr>
              <a:t> de </a:t>
            </a:r>
            <a:r>
              <a:rPr lang="en-US" dirty="0" err="1">
                <a:latin typeface="+mn-lt"/>
              </a:rPr>
              <a:t>Cuantización</a:t>
            </a:r>
            <a:r>
              <a:rPr lang="en-US" dirty="0">
                <a:latin typeface="+mn-lt"/>
              </a:rPr>
              <a:t>’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E9B3AF0-2521-AC45-B0AE-E96B81B7C533}"/>
              </a:ext>
            </a:extLst>
          </p:cNvPr>
          <p:cNvSpPr/>
          <p:nvPr/>
        </p:nvSpPr>
        <p:spPr>
          <a:xfrm>
            <a:off x="3785191" y="4614535"/>
            <a:ext cx="510363" cy="51036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08245DD-4EEE-A74F-9F1B-71AFA3D1ED08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2009547" y="4869717"/>
            <a:ext cx="1775644" cy="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441A8E6-8CCE-2140-8DA1-15F2A45CA1C7}"/>
              </a:ext>
            </a:extLst>
          </p:cNvPr>
          <p:cNvCxnSpPr>
            <a:cxnSpLocks/>
            <a:stCxn id="29" idx="6"/>
          </p:cNvCxnSpPr>
          <p:nvPr/>
        </p:nvCxnSpPr>
        <p:spPr>
          <a:xfrm>
            <a:off x="4295554" y="4869717"/>
            <a:ext cx="32960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01884BA-323B-E547-810E-B53E41BD2C8F}"/>
              </a:ext>
            </a:extLst>
          </p:cNvPr>
          <p:cNvSpPr txBox="1"/>
          <p:nvPr/>
        </p:nvSpPr>
        <p:spPr>
          <a:xfrm>
            <a:off x="3859620" y="4380624"/>
            <a:ext cx="3497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: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FAC7EB-4E33-B643-B084-A148B98B3606}"/>
              </a:ext>
            </a:extLst>
          </p:cNvPr>
          <p:cNvCxnSpPr>
            <a:cxnSpLocks/>
          </p:cNvCxnSpPr>
          <p:nvPr/>
        </p:nvCxnSpPr>
        <p:spPr>
          <a:xfrm>
            <a:off x="4029740" y="3891523"/>
            <a:ext cx="0" cy="7123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F7DC83E-A56A-4748-9D07-E34A561544A1}"/>
              </a:ext>
            </a:extLst>
          </p:cNvPr>
          <p:cNvSpPr txBox="1"/>
          <p:nvPr/>
        </p:nvSpPr>
        <p:spPr>
          <a:xfrm>
            <a:off x="3863164" y="4394800"/>
            <a:ext cx="3738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-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5F72830-EEE0-C544-938B-15BB1C7D6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54" y="4348721"/>
            <a:ext cx="3156026" cy="1163585"/>
          </a:xfrm>
          <a:prstGeom prst="rect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1C43FC-F743-7745-A958-9F40E0A3BC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395" y="2016937"/>
            <a:ext cx="4787900" cy="1803400"/>
          </a:xfrm>
          <a:prstGeom prst="rect">
            <a:avLst/>
          </a:prstGeom>
          <a:ln w="34925">
            <a:solidFill>
              <a:srgbClr val="FFFF00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85CE021-2BC2-C847-9567-537173D7B3AE}"/>
              </a:ext>
            </a:extLst>
          </p:cNvPr>
          <p:cNvSpPr txBox="1"/>
          <p:nvPr/>
        </p:nvSpPr>
        <p:spPr>
          <a:xfrm>
            <a:off x="202018" y="1924492"/>
            <a:ext cx="14445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AU" dirty="0"/>
              <a:t>A Standard</a:t>
            </a:r>
          </a:p>
          <a:p>
            <a:pPr algn="r"/>
            <a:r>
              <a:rPr lang="en-AU" dirty="0"/>
              <a:t>Quantization</a:t>
            </a:r>
          </a:p>
          <a:p>
            <a:pPr algn="r"/>
            <a:r>
              <a:rPr lang="en-AU" dirty="0"/>
              <a:t>Matrix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52C99B3-C639-9D40-ABB1-917D71878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858" y="4037271"/>
            <a:ext cx="4493899" cy="1672413"/>
          </a:xfrm>
          <a:prstGeom prst="rect">
            <a:avLst/>
          </a:prstGeom>
          <a:ln w="41275">
            <a:solidFill>
              <a:srgbClr val="00B050"/>
            </a:solidFill>
          </a:ln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AC3F497-3833-7348-8AAF-8C4C933B6F03}"/>
              </a:ext>
            </a:extLst>
          </p:cNvPr>
          <p:cNvCxnSpPr>
            <a:cxnSpLocks/>
          </p:cNvCxnSpPr>
          <p:nvPr/>
        </p:nvCxnSpPr>
        <p:spPr>
          <a:xfrm>
            <a:off x="5883345" y="4873265"/>
            <a:ext cx="32960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9A25B63-AD8F-A84D-80CE-52FDC83D4D76}"/>
              </a:ext>
            </a:extLst>
          </p:cNvPr>
          <p:cNvSpPr/>
          <p:nvPr/>
        </p:nvSpPr>
        <p:spPr>
          <a:xfrm>
            <a:off x="4603898" y="4593262"/>
            <a:ext cx="1275907" cy="55289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FFFA5A-DB12-5D4C-8A3C-898F7C8796B0}"/>
              </a:ext>
            </a:extLst>
          </p:cNvPr>
          <p:cNvSpPr txBox="1"/>
          <p:nvPr/>
        </p:nvSpPr>
        <p:spPr>
          <a:xfrm>
            <a:off x="4859078" y="4657060"/>
            <a:ext cx="748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round</a:t>
            </a:r>
          </a:p>
        </p:txBody>
      </p:sp>
    </p:spTree>
    <p:extLst>
      <p:ext uri="{BB962C8B-B14F-4D97-AF65-F5344CB8AC3E}">
        <p14:creationId xmlns:p14="http://schemas.microsoft.com/office/powerpoint/2010/main" val="34396640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65A58-B25A-D74F-A813-3B9FB639B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4. </a:t>
            </a:r>
            <a:r>
              <a:rPr lang="en-US" dirty="0" err="1">
                <a:latin typeface="+mn-lt"/>
              </a:rPr>
              <a:t>Vectorización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en</a:t>
            </a:r>
            <a:r>
              <a:rPr lang="en-US" dirty="0">
                <a:latin typeface="+mn-lt"/>
              </a:rPr>
              <a:t> zig-zag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52C99B3-C639-9D40-ABB1-917D71878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533" y="2538081"/>
            <a:ext cx="8093779" cy="3012115"/>
          </a:xfrm>
          <a:prstGeom prst="rect">
            <a:avLst/>
          </a:prstGeom>
          <a:ln w="41275">
            <a:solidFill>
              <a:srgbClr val="00B050"/>
            </a:solidFill>
          </a:ln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F28673E1-B9CF-A141-8E7E-73A2EF7E083E}"/>
              </a:ext>
            </a:extLst>
          </p:cNvPr>
          <p:cNvSpPr/>
          <p:nvPr/>
        </p:nvSpPr>
        <p:spPr>
          <a:xfrm>
            <a:off x="2392326" y="2806995"/>
            <a:ext cx="1903227" cy="765545"/>
          </a:xfrm>
          <a:custGeom>
            <a:avLst/>
            <a:gdLst>
              <a:gd name="connsiteX0" fmla="*/ 0 w 1903227"/>
              <a:gd name="connsiteY0" fmla="*/ 31898 h 765545"/>
              <a:gd name="connsiteX1" fmla="*/ 839972 w 1903227"/>
              <a:gd name="connsiteY1" fmla="*/ 31898 h 765545"/>
              <a:gd name="connsiteX2" fmla="*/ 21265 w 1903227"/>
              <a:gd name="connsiteY2" fmla="*/ 382772 h 765545"/>
              <a:gd name="connsiteX3" fmla="*/ 0 w 1903227"/>
              <a:gd name="connsiteY3" fmla="*/ 765545 h 765545"/>
              <a:gd name="connsiteX4" fmla="*/ 1903227 w 1903227"/>
              <a:gd name="connsiteY4" fmla="*/ 0 h 765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3227" h="765545">
                <a:moveTo>
                  <a:pt x="0" y="31898"/>
                </a:moveTo>
                <a:lnTo>
                  <a:pt x="839972" y="31898"/>
                </a:lnTo>
                <a:lnTo>
                  <a:pt x="21265" y="382772"/>
                </a:lnTo>
                <a:lnTo>
                  <a:pt x="0" y="765545"/>
                </a:lnTo>
                <a:lnTo>
                  <a:pt x="1903227" y="0"/>
                </a:lnTo>
              </a:path>
            </a:pathLst>
          </a:cu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C673B0-94DF-0745-BD2C-7F7252F34DD8}"/>
              </a:ext>
            </a:extLst>
          </p:cNvPr>
          <p:cNvSpPr txBox="1"/>
          <p:nvPr/>
        </p:nvSpPr>
        <p:spPr>
          <a:xfrm>
            <a:off x="967563" y="6071191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-9, -32, 24, -1, -10, -9, </a:t>
            </a:r>
          </a:p>
        </p:txBody>
      </p:sp>
    </p:spTree>
    <p:extLst>
      <p:ext uri="{BB962C8B-B14F-4D97-AF65-F5344CB8AC3E}">
        <p14:creationId xmlns:p14="http://schemas.microsoft.com/office/powerpoint/2010/main" val="38632792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65A58-B25A-D74F-A813-3B9FB639B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4. </a:t>
            </a:r>
            <a:r>
              <a:rPr lang="en-US" dirty="0" err="1">
                <a:latin typeface="+mn-lt"/>
              </a:rPr>
              <a:t>Vectorización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en</a:t>
            </a:r>
            <a:r>
              <a:rPr lang="en-US" dirty="0">
                <a:latin typeface="+mn-lt"/>
              </a:rPr>
              <a:t> zig-zag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52C99B3-C639-9D40-ABB1-917D71878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533" y="2538081"/>
            <a:ext cx="8093779" cy="3012115"/>
          </a:xfrm>
          <a:prstGeom prst="rect">
            <a:avLst/>
          </a:prstGeom>
          <a:ln w="41275">
            <a:solidFill>
              <a:srgbClr val="00B050"/>
            </a:solidFill>
          </a:ln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C3C8BA15-437F-F443-9DEA-5ABA6805581D}"/>
              </a:ext>
            </a:extLst>
          </p:cNvPr>
          <p:cNvSpPr/>
          <p:nvPr/>
        </p:nvSpPr>
        <p:spPr>
          <a:xfrm>
            <a:off x="2402958" y="2806995"/>
            <a:ext cx="3880884" cy="1499191"/>
          </a:xfrm>
          <a:custGeom>
            <a:avLst/>
            <a:gdLst>
              <a:gd name="connsiteX0" fmla="*/ 0 w 3880884"/>
              <a:gd name="connsiteY0" fmla="*/ 31898 h 1499191"/>
              <a:gd name="connsiteX1" fmla="*/ 818707 w 3880884"/>
              <a:gd name="connsiteY1" fmla="*/ 21265 h 1499191"/>
              <a:gd name="connsiteX2" fmla="*/ 0 w 3880884"/>
              <a:gd name="connsiteY2" fmla="*/ 340242 h 1499191"/>
              <a:gd name="connsiteX3" fmla="*/ 0 w 3880884"/>
              <a:gd name="connsiteY3" fmla="*/ 733647 h 1499191"/>
              <a:gd name="connsiteX4" fmla="*/ 1892595 w 3880884"/>
              <a:gd name="connsiteY4" fmla="*/ 0 h 1499191"/>
              <a:gd name="connsiteX5" fmla="*/ 2860158 w 3880884"/>
              <a:gd name="connsiteY5" fmla="*/ 21265 h 1499191"/>
              <a:gd name="connsiteX6" fmla="*/ 10633 w 3880884"/>
              <a:gd name="connsiteY6" fmla="*/ 1127052 h 1499191"/>
              <a:gd name="connsiteX7" fmla="*/ 10633 w 3880884"/>
              <a:gd name="connsiteY7" fmla="*/ 1499191 h 1499191"/>
              <a:gd name="connsiteX8" fmla="*/ 3880884 w 3880884"/>
              <a:gd name="connsiteY8" fmla="*/ 21265 h 1499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80884" h="1499191">
                <a:moveTo>
                  <a:pt x="0" y="31898"/>
                </a:moveTo>
                <a:lnTo>
                  <a:pt x="818707" y="21265"/>
                </a:lnTo>
                <a:lnTo>
                  <a:pt x="0" y="340242"/>
                </a:lnTo>
                <a:lnTo>
                  <a:pt x="0" y="733647"/>
                </a:lnTo>
                <a:lnTo>
                  <a:pt x="1892595" y="0"/>
                </a:lnTo>
                <a:lnTo>
                  <a:pt x="2860158" y="21265"/>
                </a:lnTo>
                <a:lnTo>
                  <a:pt x="10633" y="1127052"/>
                </a:lnTo>
                <a:lnTo>
                  <a:pt x="10633" y="1499191"/>
                </a:lnTo>
                <a:lnTo>
                  <a:pt x="3880884" y="21265"/>
                </a:lnTo>
              </a:path>
            </a:pathLst>
          </a:cu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BFBC7F-D07C-524F-83C8-B4974641B322}"/>
              </a:ext>
            </a:extLst>
          </p:cNvPr>
          <p:cNvSpPr txBox="1"/>
          <p:nvPr/>
        </p:nvSpPr>
        <p:spPr>
          <a:xfrm>
            <a:off x="967563" y="6071191"/>
            <a:ext cx="4825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-9, -32, 24, -1, -10, -9, -4, -11, 3, -4, -2, 1, -1, 6, 6,  </a:t>
            </a:r>
          </a:p>
        </p:txBody>
      </p:sp>
    </p:spTree>
    <p:extLst>
      <p:ext uri="{BB962C8B-B14F-4D97-AF65-F5344CB8AC3E}">
        <p14:creationId xmlns:p14="http://schemas.microsoft.com/office/powerpoint/2010/main" val="19129657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65A58-B25A-D74F-A813-3B9FB639B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4. </a:t>
            </a:r>
            <a:r>
              <a:rPr lang="en-US" dirty="0" err="1">
                <a:latin typeface="+mn-lt"/>
              </a:rPr>
              <a:t>Vectorización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en</a:t>
            </a:r>
            <a:r>
              <a:rPr lang="en-US" dirty="0">
                <a:latin typeface="+mn-lt"/>
              </a:rPr>
              <a:t> zig-zag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52C99B3-C639-9D40-ABB1-917D71878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533" y="2538081"/>
            <a:ext cx="8093779" cy="3012115"/>
          </a:xfrm>
          <a:prstGeom prst="rect">
            <a:avLst/>
          </a:prstGeom>
          <a:ln w="41275">
            <a:solidFill>
              <a:srgbClr val="00B050"/>
            </a:solidFill>
          </a:ln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DE65C0B2-8ADC-454E-ABE6-4E372EFB7C1F}"/>
              </a:ext>
            </a:extLst>
          </p:cNvPr>
          <p:cNvSpPr/>
          <p:nvPr/>
        </p:nvSpPr>
        <p:spPr>
          <a:xfrm>
            <a:off x="2371060" y="2806995"/>
            <a:ext cx="6943061" cy="2509284"/>
          </a:xfrm>
          <a:custGeom>
            <a:avLst/>
            <a:gdLst>
              <a:gd name="connsiteX0" fmla="*/ 42531 w 6943061"/>
              <a:gd name="connsiteY0" fmla="*/ 10633 h 2509284"/>
              <a:gd name="connsiteX1" fmla="*/ 946298 w 6943061"/>
              <a:gd name="connsiteY1" fmla="*/ 10633 h 2509284"/>
              <a:gd name="connsiteX2" fmla="*/ 0 w 6943061"/>
              <a:gd name="connsiteY2" fmla="*/ 361507 h 2509284"/>
              <a:gd name="connsiteX3" fmla="*/ 21266 w 6943061"/>
              <a:gd name="connsiteY3" fmla="*/ 733647 h 2509284"/>
              <a:gd name="connsiteX4" fmla="*/ 1924493 w 6943061"/>
              <a:gd name="connsiteY4" fmla="*/ 31898 h 2509284"/>
              <a:gd name="connsiteX5" fmla="*/ 2966484 w 6943061"/>
              <a:gd name="connsiteY5" fmla="*/ 10633 h 2509284"/>
              <a:gd name="connsiteX6" fmla="*/ 21266 w 6943061"/>
              <a:gd name="connsiteY6" fmla="*/ 1148317 h 2509284"/>
              <a:gd name="connsiteX7" fmla="*/ 31898 w 6943061"/>
              <a:gd name="connsiteY7" fmla="*/ 1477926 h 2509284"/>
              <a:gd name="connsiteX8" fmla="*/ 3944680 w 6943061"/>
              <a:gd name="connsiteY8" fmla="*/ 0 h 2509284"/>
              <a:gd name="connsiteX9" fmla="*/ 4922875 w 6943061"/>
              <a:gd name="connsiteY9" fmla="*/ 0 h 2509284"/>
              <a:gd name="connsiteX10" fmla="*/ 21266 w 6943061"/>
              <a:gd name="connsiteY10" fmla="*/ 1839433 h 2509284"/>
              <a:gd name="connsiteX11" fmla="*/ 42531 w 6943061"/>
              <a:gd name="connsiteY11" fmla="*/ 2158410 h 2509284"/>
              <a:gd name="connsiteX12" fmla="*/ 5954233 w 6943061"/>
              <a:gd name="connsiteY12" fmla="*/ 31898 h 2509284"/>
              <a:gd name="connsiteX13" fmla="*/ 6868633 w 6943061"/>
              <a:gd name="connsiteY13" fmla="*/ 21265 h 2509284"/>
              <a:gd name="connsiteX14" fmla="*/ 10633 w 6943061"/>
              <a:gd name="connsiteY14" fmla="*/ 2488019 h 2509284"/>
              <a:gd name="connsiteX15" fmla="*/ 1052624 w 6943061"/>
              <a:gd name="connsiteY15" fmla="*/ 2477386 h 2509284"/>
              <a:gd name="connsiteX16" fmla="*/ 6921796 w 6943061"/>
              <a:gd name="connsiteY16" fmla="*/ 361507 h 2509284"/>
              <a:gd name="connsiteX17" fmla="*/ 6943061 w 6943061"/>
              <a:gd name="connsiteY17" fmla="*/ 712382 h 2509284"/>
              <a:gd name="connsiteX18" fmla="*/ 2030819 w 6943061"/>
              <a:gd name="connsiteY18" fmla="*/ 2477386 h 2509284"/>
              <a:gd name="connsiteX19" fmla="*/ 3009014 w 6943061"/>
              <a:gd name="connsiteY19" fmla="*/ 2488019 h 2509284"/>
              <a:gd name="connsiteX20" fmla="*/ 6921796 w 6943061"/>
              <a:gd name="connsiteY20" fmla="*/ 1105786 h 2509284"/>
              <a:gd name="connsiteX21" fmla="*/ 6943061 w 6943061"/>
              <a:gd name="connsiteY21" fmla="*/ 1477926 h 2509284"/>
              <a:gd name="connsiteX22" fmla="*/ 4029740 w 6943061"/>
              <a:gd name="connsiteY22" fmla="*/ 2477386 h 2509284"/>
              <a:gd name="connsiteX23" fmla="*/ 4976038 w 6943061"/>
              <a:gd name="connsiteY23" fmla="*/ 2509284 h 2509284"/>
              <a:gd name="connsiteX24" fmla="*/ 6900531 w 6943061"/>
              <a:gd name="connsiteY24" fmla="*/ 1786270 h 2509284"/>
              <a:gd name="connsiteX25" fmla="*/ 6921796 w 6943061"/>
              <a:gd name="connsiteY25" fmla="*/ 2126512 h 2509284"/>
              <a:gd name="connsiteX26" fmla="*/ 5954233 w 6943061"/>
              <a:gd name="connsiteY26" fmla="*/ 2477386 h 2509284"/>
              <a:gd name="connsiteX27" fmla="*/ 6943061 w 6943061"/>
              <a:gd name="connsiteY27" fmla="*/ 2477386 h 2509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6943061" h="2509284">
                <a:moveTo>
                  <a:pt x="42531" y="10633"/>
                </a:moveTo>
                <a:lnTo>
                  <a:pt x="946298" y="10633"/>
                </a:lnTo>
                <a:lnTo>
                  <a:pt x="0" y="361507"/>
                </a:lnTo>
                <a:lnTo>
                  <a:pt x="21266" y="733647"/>
                </a:lnTo>
                <a:lnTo>
                  <a:pt x="1924493" y="31898"/>
                </a:lnTo>
                <a:lnTo>
                  <a:pt x="2966484" y="10633"/>
                </a:lnTo>
                <a:lnTo>
                  <a:pt x="21266" y="1148317"/>
                </a:lnTo>
                <a:lnTo>
                  <a:pt x="31898" y="1477926"/>
                </a:lnTo>
                <a:lnTo>
                  <a:pt x="3944680" y="0"/>
                </a:lnTo>
                <a:lnTo>
                  <a:pt x="4922875" y="0"/>
                </a:lnTo>
                <a:lnTo>
                  <a:pt x="21266" y="1839433"/>
                </a:lnTo>
                <a:lnTo>
                  <a:pt x="42531" y="2158410"/>
                </a:lnTo>
                <a:lnTo>
                  <a:pt x="5954233" y="31898"/>
                </a:lnTo>
                <a:lnTo>
                  <a:pt x="6868633" y="21265"/>
                </a:lnTo>
                <a:lnTo>
                  <a:pt x="10633" y="2488019"/>
                </a:lnTo>
                <a:lnTo>
                  <a:pt x="1052624" y="2477386"/>
                </a:lnTo>
                <a:lnTo>
                  <a:pt x="6921796" y="361507"/>
                </a:lnTo>
                <a:lnTo>
                  <a:pt x="6943061" y="712382"/>
                </a:lnTo>
                <a:lnTo>
                  <a:pt x="2030819" y="2477386"/>
                </a:lnTo>
                <a:lnTo>
                  <a:pt x="3009014" y="2488019"/>
                </a:lnTo>
                <a:lnTo>
                  <a:pt x="6921796" y="1105786"/>
                </a:lnTo>
                <a:lnTo>
                  <a:pt x="6943061" y="1477926"/>
                </a:lnTo>
                <a:lnTo>
                  <a:pt x="4029740" y="2477386"/>
                </a:lnTo>
                <a:lnTo>
                  <a:pt x="4976038" y="2509284"/>
                </a:lnTo>
                <a:lnTo>
                  <a:pt x="6900531" y="1786270"/>
                </a:lnTo>
                <a:lnTo>
                  <a:pt x="6921796" y="2126512"/>
                </a:lnTo>
                <a:lnTo>
                  <a:pt x="5954233" y="2477386"/>
                </a:lnTo>
                <a:lnTo>
                  <a:pt x="6943061" y="2477386"/>
                </a:lnTo>
              </a:path>
            </a:pathLst>
          </a:cu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D6A53-4420-0049-B132-5AF1DAD78170}"/>
              </a:ext>
            </a:extLst>
          </p:cNvPr>
          <p:cNvSpPr txBox="1"/>
          <p:nvPr/>
        </p:nvSpPr>
        <p:spPr>
          <a:xfrm>
            <a:off x="967563" y="6071191"/>
            <a:ext cx="10984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-9, -32, 24, -1, -10, -9, -4, -11, 3, -4, -2, 1, -1, 6, 6, 1, -1, -3, 2, 1, 1, 0, 1, 0, 0, 1, 1, 0, -1, 0, 0, 0, 0, 0, -1, 0, -1, 0, 0, 0, … </a:t>
            </a:r>
          </a:p>
        </p:txBody>
      </p:sp>
    </p:spTree>
    <p:extLst>
      <p:ext uri="{BB962C8B-B14F-4D97-AF65-F5344CB8AC3E}">
        <p14:creationId xmlns:p14="http://schemas.microsoft.com/office/powerpoint/2010/main" val="42436474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65A58-B25A-D74F-A813-3B9FB639B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D6A53-4420-0049-B132-5AF1DAD78170}"/>
              </a:ext>
            </a:extLst>
          </p:cNvPr>
          <p:cNvSpPr txBox="1"/>
          <p:nvPr/>
        </p:nvSpPr>
        <p:spPr>
          <a:xfrm>
            <a:off x="1031358" y="2062717"/>
            <a:ext cx="10984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-9, -32, 24, -1, -10, -9, -4, -11, 3, -4, -2, 1, -1, 6, 6, 1, -1, -3, 2, 1, 1, 0, 1, 0, 0, 1, 1, 0, -1, 0, 0, 0, 0, 0, -1, 0, -1, 0, 0, 0, … </a:t>
            </a: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7027728E-73D0-D04E-A008-941F88695D66}"/>
              </a:ext>
            </a:extLst>
          </p:cNvPr>
          <p:cNvSpPr/>
          <p:nvPr/>
        </p:nvSpPr>
        <p:spPr>
          <a:xfrm>
            <a:off x="5986130" y="2541181"/>
            <a:ext cx="510363" cy="6379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AE4F56C-355F-6A44-ACEF-0C9C6186E390}"/>
              </a:ext>
            </a:extLst>
          </p:cNvPr>
          <p:cNvSpPr/>
          <p:nvPr/>
        </p:nvSpPr>
        <p:spPr>
          <a:xfrm>
            <a:off x="4678326" y="3200399"/>
            <a:ext cx="3040912" cy="101009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/>
              <a:t>Encoding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763806-3F0F-EE4F-A183-6807C7E8474A}"/>
              </a:ext>
            </a:extLst>
          </p:cNvPr>
          <p:cNvSpPr txBox="1"/>
          <p:nvPr/>
        </p:nvSpPr>
        <p:spPr>
          <a:xfrm>
            <a:off x="3285459" y="5007937"/>
            <a:ext cx="59773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Codificación</a:t>
            </a:r>
            <a:r>
              <a:rPr lang="en-US" dirty="0"/>
              <a:t> sin Perdida que </a:t>
            </a:r>
            <a:r>
              <a:rPr lang="en-US" dirty="0" err="1"/>
              <a:t>asigna</a:t>
            </a:r>
            <a:r>
              <a:rPr lang="en-US" dirty="0"/>
              <a:t> un </a:t>
            </a:r>
            <a:r>
              <a:rPr lang="en-US" dirty="0" err="1"/>
              <a:t>menor</a:t>
            </a:r>
            <a:r>
              <a:rPr lang="en-US" dirty="0"/>
              <a:t> </a:t>
            </a:r>
            <a:r>
              <a:rPr lang="en-US" dirty="0" err="1"/>
              <a:t>número</a:t>
            </a:r>
            <a:r>
              <a:rPr lang="en-US" dirty="0"/>
              <a:t> de bits </a:t>
            </a:r>
          </a:p>
          <a:p>
            <a:pPr algn="ctr"/>
            <a:r>
              <a:rPr lang="en-US" dirty="0"/>
              <a:t>a las </a:t>
            </a:r>
            <a:r>
              <a:rPr lang="en-US" dirty="0" err="1"/>
              <a:t>términos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frecuentes</a:t>
            </a:r>
            <a:endParaRPr lang="en-US" dirty="0"/>
          </a:p>
        </p:txBody>
      </p:sp>
      <p:sp>
        <p:nvSpPr>
          <p:cNvPr id="9" name="Down Arrow 8">
            <a:extLst>
              <a:ext uri="{FF2B5EF4-FFF2-40B4-BE49-F238E27FC236}">
                <a16:creationId xmlns:a16="http://schemas.microsoft.com/office/drawing/2014/main" id="{15BD1E5B-A1AC-3840-9413-8E564C172F3B}"/>
              </a:ext>
            </a:extLst>
          </p:cNvPr>
          <p:cNvSpPr/>
          <p:nvPr/>
        </p:nvSpPr>
        <p:spPr>
          <a:xfrm>
            <a:off x="6021572" y="4214037"/>
            <a:ext cx="510363" cy="6379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B94024-F305-D244-83F0-E20C988CEB18}"/>
              </a:ext>
            </a:extLst>
          </p:cNvPr>
          <p:cNvSpPr txBox="1"/>
          <p:nvPr/>
        </p:nvSpPr>
        <p:spPr>
          <a:xfrm>
            <a:off x="7697972" y="6368903"/>
            <a:ext cx="45770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</a:t>
            </a:r>
            <a:r>
              <a:rPr lang="en-US" dirty="0" err="1"/>
              <a:t>Huffman_coding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031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70C0"/>
                </a:solidFill>
              </a:rPr>
              <a:t>ABAABCO-ATAABCO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1414170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</a:t>
            </a:r>
          </a:p>
          <a:p>
            <a:endParaRPr lang="en-AU" sz="2400" dirty="0"/>
          </a:p>
          <a:p>
            <a:r>
              <a:rPr lang="en-AU" sz="2400" dirty="0"/>
              <a:t>B	: 3</a:t>
            </a:r>
          </a:p>
          <a:p>
            <a:endParaRPr lang="en-AU" sz="2400" dirty="0"/>
          </a:p>
          <a:p>
            <a:r>
              <a:rPr lang="en-AU" sz="2400" dirty="0"/>
              <a:t>C	: 2</a:t>
            </a:r>
          </a:p>
          <a:p>
            <a:endParaRPr lang="en-AU" sz="2400" dirty="0"/>
          </a:p>
          <a:p>
            <a:r>
              <a:rPr lang="en-AU" sz="2400" dirty="0"/>
              <a:t>O	: 2</a:t>
            </a:r>
          </a:p>
          <a:p>
            <a:endParaRPr lang="en-AU" sz="2400" dirty="0"/>
          </a:p>
          <a:p>
            <a:r>
              <a:rPr lang="en-AU" sz="2400" dirty="0"/>
              <a:t>-	: 1</a:t>
            </a:r>
          </a:p>
          <a:p>
            <a:endParaRPr lang="en-AU" sz="2400" dirty="0"/>
          </a:p>
          <a:p>
            <a:r>
              <a:rPr lang="en-AU" sz="2400" dirty="0"/>
              <a:t>T	: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954143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70C0"/>
                </a:solidFill>
              </a:rPr>
              <a:t>ABAABCO-ATAABCO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2603598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</a:t>
            </a:r>
          </a:p>
          <a:p>
            <a:endParaRPr lang="en-AU" sz="2400" dirty="0"/>
          </a:p>
          <a:p>
            <a:r>
              <a:rPr lang="en-AU" sz="2400" dirty="0"/>
              <a:t>B	: 3</a:t>
            </a:r>
          </a:p>
          <a:p>
            <a:endParaRPr lang="en-AU" sz="2400" dirty="0"/>
          </a:p>
          <a:p>
            <a:r>
              <a:rPr lang="en-AU" sz="2400" dirty="0"/>
              <a:t>C	: 2</a:t>
            </a:r>
          </a:p>
          <a:p>
            <a:endParaRPr lang="en-AU" sz="2400" dirty="0"/>
          </a:p>
          <a:p>
            <a:r>
              <a:rPr lang="en-AU" sz="2400" dirty="0"/>
              <a:t>O	: 2</a:t>
            </a:r>
          </a:p>
          <a:p>
            <a:endParaRPr lang="en-AU" sz="2400" dirty="0"/>
          </a:p>
          <a:p>
            <a:r>
              <a:rPr lang="en-AU" sz="2400" dirty="0"/>
              <a:t>-	: 1               2</a:t>
            </a:r>
          </a:p>
          <a:p>
            <a:endParaRPr lang="en-AU" sz="2400" dirty="0"/>
          </a:p>
          <a:p>
            <a:r>
              <a:rPr lang="en-AU" sz="2400" dirty="0"/>
              <a:t>T	: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AC2E51-2EF6-BD40-B04A-7F4731BCB648}"/>
              </a:ext>
            </a:extLst>
          </p:cNvPr>
          <p:cNvSpPr/>
          <p:nvPr/>
        </p:nvSpPr>
        <p:spPr>
          <a:xfrm>
            <a:off x="9005438" y="4191744"/>
            <a:ext cx="22545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Combinar</a:t>
            </a:r>
            <a:r>
              <a:rPr lang="en-AU" dirty="0"/>
              <a:t> las </a:t>
            </a:r>
          </a:p>
          <a:p>
            <a:pPr algn="ctr"/>
            <a:r>
              <a:rPr lang="en-AU" dirty="0"/>
              <a:t>dos </a:t>
            </a:r>
            <a:r>
              <a:rPr lang="en-AU" dirty="0" err="1"/>
              <a:t>menos</a:t>
            </a:r>
            <a:r>
              <a:rPr lang="en-AU" dirty="0"/>
              <a:t> </a:t>
            </a:r>
            <a:r>
              <a:rPr lang="en-AU" dirty="0" err="1"/>
              <a:t>frecuentes</a:t>
            </a:r>
            <a:endParaRPr lang="en-AU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7FCA79-C1F5-7C41-B2BC-6324D1E773DF}"/>
              </a:ext>
            </a:extLst>
          </p:cNvPr>
          <p:cNvCxnSpPr/>
          <p:nvPr/>
        </p:nvCxnSpPr>
        <p:spPr>
          <a:xfrm>
            <a:off x="3924008" y="561498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E82CAF-58F9-3B4A-8CC3-866D1F7F909E}"/>
              </a:ext>
            </a:extLst>
          </p:cNvPr>
          <p:cNvCxnSpPr>
            <a:cxnSpLocks/>
          </p:cNvCxnSpPr>
          <p:nvPr/>
        </p:nvCxnSpPr>
        <p:spPr>
          <a:xfrm flipV="1">
            <a:off x="3924008" y="583864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2722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70C0"/>
                </a:solidFill>
              </a:rPr>
              <a:t>ABAABCO-ATAABCO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3706464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</a:t>
            </a:r>
          </a:p>
          <a:p>
            <a:endParaRPr lang="en-AU" sz="2400" dirty="0"/>
          </a:p>
          <a:p>
            <a:r>
              <a:rPr lang="en-AU" sz="2400" dirty="0"/>
              <a:t>B	: 3</a:t>
            </a:r>
          </a:p>
          <a:p>
            <a:endParaRPr lang="en-AU" sz="2400" dirty="0"/>
          </a:p>
          <a:p>
            <a:r>
              <a:rPr lang="en-AU" sz="2400" dirty="0"/>
              <a:t>C	: 2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4</a:t>
            </a:r>
          </a:p>
          <a:p>
            <a:endParaRPr lang="en-AU" sz="2400" dirty="0"/>
          </a:p>
          <a:p>
            <a:r>
              <a:rPr lang="en-AU" sz="2400" dirty="0"/>
              <a:t>-	: 1               2</a:t>
            </a:r>
          </a:p>
          <a:p>
            <a:endParaRPr lang="en-AU" sz="2400" dirty="0"/>
          </a:p>
          <a:p>
            <a:r>
              <a:rPr lang="en-AU" sz="2400" dirty="0"/>
              <a:t>T	: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AC2E51-2EF6-BD40-B04A-7F4731BCB648}"/>
              </a:ext>
            </a:extLst>
          </p:cNvPr>
          <p:cNvSpPr/>
          <p:nvPr/>
        </p:nvSpPr>
        <p:spPr>
          <a:xfrm>
            <a:off x="9005438" y="4191744"/>
            <a:ext cx="22545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Combinar</a:t>
            </a:r>
            <a:r>
              <a:rPr lang="en-AU" dirty="0"/>
              <a:t> las </a:t>
            </a:r>
          </a:p>
          <a:p>
            <a:pPr algn="ctr"/>
            <a:r>
              <a:rPr lang="en-AU" dirty="0"/>
              <a:t>dos </a:t>
            </a:r>
            <a:r>
              <a:rPr lang="en-AU" dirty="0" err="1"/>
              <a:t>menos</a:t>
            </a:r>
            <a:r>
              <a:rPr lang="en-AU" dirty="0"/>
              <a:t> </a:t>
            </a:r>
            <a:r>
              <a:rPr lang="en-AU" dirty="0" err="1"/>
              <a:t>frecuentes</a:t>
            </a:r>
            <a:endParaRPr lang="en-AU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7FCA79-C1F5-7C41-B2BC-6324D1E773DF}"/>
              </a:ext>
            </a:extLst>
          </p:cNvPr>
          <p:cNvCxnSpPr/>
          <p:nvPr/>
        </p:nvCxnSpPr>
        <p:spPr>
          <a:xfrm>
            <a:off x="3924008" y="561498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E82CAF-58F9-3B4A-8CC3-866D1F7F909E}"/>
              </a:ext>
            </a:extLst>
          </p:cNvPr>
          <p:cNvCxnSpPr>
            <a:cxnSpLocks/>
          </p:cNvCxnSpPr>
          <p:nvPr/>
        </p:nvCxnSpPr>
        <p:spPr>
          <a:xfrm flipV="1">
            <a:off x="3924008" y="583864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40F7ED-C942-2D4E-8230-A6D6CFB0C6B2}"/>
              </a:ext>
            </a:extLst>
          </p:cNvPr>
          <p:cNvCxnSpPr>
            <a:cxnSpLocks/>
          </p:cNvCxnSpPr>
          <p:nvPr/>
        </p:nvCxnSpPr>
        <p:spPr>
          <a:xfrm>
            <a:off x="3924008" y="4924419"/>
            <a:ext cx="185707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629CD4-1E60-E346-BEC3-0F7E77616ABE}"/>
              </a:ext>
            </a:extLst>
          </p:cNvPr>
          <p:cNvCxnSpPr>
            <a:cxnSpLocks/>
          </p:cNvCxnSpPr>
          <p:nvPr/>
        </p:nvCxnSpPr>
        <p:spPr>
          <a:xfrm flipV="1">
            <a:off x="5033073" y="502398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36522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70C0"/>
                </a:solidFill>
              </a:rPr>
              <a:t>ABAABCO-ATAABCO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3706464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</a:t>
            </a:r>
          </a:p>
          <a:p>
            <a:endParaRPr lang="en-AU" sz="2400" dirty="0"/>
          </a:p>
          <a:p>
            <a:r>
              <a:rPr lang="en-AU" sz="2400" dirty="0"/>
              <a:t>B	: 3               5</a:t>
            </a:r>
          </a:p>
          <a:p>
            <a:endParaRPr lang="en-AU" sz="2400" dirty="0"/>
          </a:p>
          <a:p>
            <a:r>
              <a:rPr lang="en-AU" sz="2400" dirty="0"/>
              <a:t>C	: 2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4</a:t>
            </a:r>
          </a:p>
          <a:p>
            <a:endParaRPr lang="en-AU" sz="2400" dirty="0"/>
          </a:p>
          <a:p>
            <a:r>
              <a:rPr lang="en-AU" sz="2400" dirty="0"/>
              <a:t>-	: 1               2</a:t>
            </a:r>
          </a:p>
          <a:p>
            <a:endParaRPr lang="en-AU" sz="2400" dirty="0"/>
          </a:p>
          <a:p>
            <a:r>
              <a:rPr lang="en-AU" sz="2400" dirty="0"/>
              <a:t>T	: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AC2E51-2EF6-BD40-B04A-7F4731BCB648}"/>
              </a:ext>
            </a:extLst>
          </p:cNvPr>
          <p:cNvSpPr/>
          <p:nvPr/>
        </p:nvSpPr>
        <p:spPr>
          <a:xfrm>
            <a:off x="9005438" y="4191744"/>
            <a:ext cx="22545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Combinar</a:t>
            </a:r>
            <a:r>
              <a:rPr lang="en-AU" dirty="0"/>
              <a:t> las </a:t>
            </a:r>
          </a:p>
          <a:p>
            <a:pPr algn="ctr"/>
            <a:r>
              <a:rPr lang="en-AU" dirty="0"/>
              <a:t>dos </a:t>
            </a:r>
            <a:r>
              <a:rPr lang="en-AU" dirty="0" err="1"/>
              <a:t>menos</a:t>
            </a:r>
            <a:r>
              <a:rPr lang="en-AU" dirty="0"/>
              <a:t> </a:t>
            </a:r>
            <a:r>
              <a:rPr lang="en-AU" dirty="0" err="1"/>
              <a:t>frecuentes</a:t>
            </a:r>
            <a:endParaRPr lang="en-AU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7FCA79-C1F5-7C41-B2BC-6324D1E773DF}"/>
              </a:ext>
            </a:extLst>
          </p:cNvPr>
          <p:cNvCxnSpPr/>
          <p:nvPr/>
        </p:nvCxnSpPr>
        <p:spPr>
          <a:xfrm>
            <a:off x="3924008" y="561498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E82CAF-58F9-3B4A-8CC3-866D1F7F909E}"/>
              </a:ext>
            </a:extLst>
          </p:cNvPr>
          <p:cNvCxnSpPr>
            <a:cxnSpLocks/>
          </p:cNvCxnSpPr>
          <p:nvPr/>
        </p:nvCxnSpPr>
        <p:spPr>
          <a:xfrm flipV="1">
            <a:off x="3924008" y="583864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40F7ED-C942-2D4E-8230-A6D6CFB0C6B2}"/>
              </a:ext>
            </a:extLst>
          </p:cNvPr>
          <p:cNvCxnSpPr>
            <a:cxnSpLocks/>
          </p:cNvCxnSpPr>
          <p:nvPr/>
        </p:nvCxnSpPr>
        <p:spPr>
          <a:xfrm>
            <a:off x="3924008" y="4924419"/>
            <a:ext cx="185707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629CD4-1E60-E346-BEC3-0F7E77616ABE}"/>
              </a:ext>
            </a:extLst>
          </p:cNvPr>
          <p:cNvCxnSpPr>
            <a:cxnSpLocks/>
          </p:cNvCxnSpPr>
          <p:nvPr/>
        </p:nvCxnSpPr>
        <p:spPr>
          <a:xfrm flipV="1">
            <a:off x="5033073" y="502398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668FBCB-8C88-CB4C-AF9A-046FCD3F7AF6}"/>
              </a:ext>
            </a:extLst>
          </p:cNvPr>
          <p:cNvCxnSpPr/>
          <p:nvPr/>
        </p:nvCxnSpPr>
        <p:spPr>
          <a:xfrm>
            <a:off x="3924008" y="345739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9B988B-1DA9-A340-99A7-602F145B3BD8}"/>
              </a:ext>
            </a:extLst>
          </p:cNvPr>
          <p:cNvCxnSpPr>
            <a:cxnSpLocks/>
          </p:cNvCxnSpPr>
          <p:nvPr/>
        </p:nvCxnSpPr>
        <p:spPr>
          <a:xfrm flipV="1">
            <a:off x="3924008" y="368105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75328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70C0"/>
                </a:solidFill>
              </a:rPr>
              <a:t>ABAABCO-ATAABCO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5791970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</a:t>
            </a:r>
          </a:p>
          <a:p>
            <a:endParaRPr lang="en-AU" sz="2400" dirty="0"/>
          </a:p>
          <a:p>
            <a:r>
              <a:rPr lang="en-AU" sz="2400" dirty="0"/>
              <a:t>B	: 3               5                                            9</a:t>
            </a:r>
          </a:p>
          <a:p>
            <a:endParaRPr lang="en-AU" sz="2400" dirty="0"/>
          </a:p>
          <a:p>
            <a:r>
              <a:rPr lang="en-AU" sz="2400" dirty="0"/>
              <a:t>C	: 2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4</a:t>
            </a:r>
          </a:p>
          <a:p>
            <a:endParaRPr lang="en-AU" sz="2400" dirty="0"/>
          </a:p>
          <a:p>
            <a:r>
              <a:rPr lang="en-AU" sz="2400" dirty="0"/>
              <a:t>-	: 1               2</a:t>
            </a:r>
          </a:p>
          <a:p>
            <a:endParaRPr lang="en-AU" sz="2400" dirty="0"/>
          </a:p>
          <a:p>
            <a:r>
              <a:rPr lang="en-AU" sz="2400" dirty="0"/>
              <a:t>T	: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AC2E51-2EF6-BD40-B04A-7F4731BCB648}"/>
              </a:ext>
            </a:extLst>
          </p:cNvPr>
          <p:cNvSpPr/>
          <p:nvPr/>
        </p:nvSpPr>
        <p:spPr>
          <a:xfrm>
            <a:off x="9005438" y="4191744"/>
            <a:ext cx="22545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Combinar</a:t>
            </a:r>
            <a:r>
              <a:rPr lang="en-AU" dirty="0"/>
              <a:t> las </a:t>
            </a:r>
          </a:p>
          <a:p>
            <a:pPr algn="ctr"/>
            <a:r>
              <a:rPr lang="en-AU" dirty="0"/>
              <a:t>dos </a:t>
            </a:r>
            <a:r>
              <a:rPr lang="en-AU" dirty="0" err="1"/>
              <a:t>menos</a:t>
            </a:r>
            <a:r>
              <a:rPr lang="en-AU" dirty="0"/>
              <a:t> </a:t>
            </a:r>
            <a:r>
              <a:rPr lang="en-AU" dirty="0" err="1"/>
              <a:t>frecuentes</a:t>
            </a:r>
            <a:endParaRPr lang="en-AU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7FCA79-C1F5-7C41-B2BC-6324D1E773DF}"/>
              </a:ext>
            </a:extLst>
          </p:cNvPr>
          <p:cNvCxnSpPr/>
          <p:nvPr/>
        </p:nvCxnSpPr>
        <p:spPr>
          <a:xfrm>
            <a:off x="3924008" y="561498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E82CAF-58F9-3B4A-8CC3-866D1F7F909E}"/>
              </a:ext>
            </a:extLst>
          </p:cNvPr>
          <p:cNvCxnSpPr>
            <a:cxnSpLocks/>
          </p:cNvCxnSpPr>
          <p:nvPr/>
        </p:nvCxnSpPr>
        <p:spPr>
          <a:xfrm flipV="1">
            <a:off x="3924008" y="583864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40F7ED-C942-2D4E-8230-A6D6CFB0C6B2}"/>
              </a:ext>
            </a:extLst>
          </p:cNvPr>
          <p:cNvCxnSpPr>
            <a:cxnSpLocks/>
          </p:cNvCxnSpPr>
          <p:nvPr/>
        </p:nvCxnSpPr>
        <p:spPr>
          <a:xfrm>
            <a:off x="3924008" y="4924419"/>
            <a:ext cx="185707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629CD4-1E60-E346-BEC3-0F7E77616ABE}"/>
              </a:ext>
            </a:extLst>
          </p:cNvPr>
          <p:cNvCxnSpPr>
            <a:cxnSpLocks/>
          </p:cNvCxnSpPr>
          <p:nvPr/>
        </p:nvCxnSpPr>
        <p:spPr>
          <a:xfrm flipV="1">
            <a:off x="5033073" y="502398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668FBCB-8C88-CB4C-AF9A-046FCD3F7AF6}"/>
              </a:ext>
            </a:extLst>
          </p:cNvPr>
          <p:cNvCxnSpPr/>
          <p:nvPr/>
        </p:nvCxnSpPr>
        <p:spPr>
          <a:xfrm>
            <a:off x="3924008" y="345739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9B988B-1DA9-A340-99A7-602F145B3BD8}"/>
              </a:ext>
            </a:extLst>
          </p:cNvPr>
          <p:cNvCxnSpPr>
            <a:cxnSpLocks/>
          </p:cNvCxnSpPr>
          <p:nvPr/>
        </p:nvCxnSpPr>
        <p:spPr>
          <a:xfrm flipV="1">
            <a:off x="3924008" y="368105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3093B9-5B41-AE4D-A062-53F68812809E}"/>
              </a:ext>
            </a:extLst>
          </p:cNvPr>
          <p:cNvCxnSpPr>
            <a:cxnSpLocks/>
          </p:cNvCxnSpPr>
          <p:nvPr/>
        </p:nvCxnSpPr>
        <p:spPr>
          <a:xfrm flipV="1">
            <a:off x="6096000" y="3570867"/>
            <a:ext cx="1747838" cy="11977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0291474-F65B-1C48-AC71-449510E7C3F5}"/>
              </a:ext>
            </a:extLst>
          </p:cNvPr>
          <p:cNvCxnSpPr>
            <a:cxnSpLocks/>
          </p:cNvCxnSpPr>
          <p:nvPr/>
        </p:nvCxnSpPr>
        <p:spPr>
          <a:xfrm flipV="1">
            <a:off x="5033073" y="3429000"/>
            <a:ext cx="28107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4395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70C0"/>
                </a:solidFill>
              </a:rPr>
              <a:t>ABAABCO-ATAABCO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7101624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15</a:t>
            </a:r>
          </a:p>
          <a:p>
            <a:endParaRPr lang="en-AU" sz="2400" dirty="0"/>
          </a:p>
          <a:p>
            <a:r>
              <a:rPr lang="en-AU" sz="2400" dirty="0"/>
              <a:t>B	: 3               5                                            9</a:t>
            </a:r>
          </a:p>
          <a:p>
            <a:endParaRPr lang="en-AU" sz="2400" dirty="0"/>
          </a:p>
          <a:p>
            <a:r>
              <a:rPr lang="en-AU" sz="2400" dirty="0"/>
              <a:t>C	: 2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4</a:t>
            </a:r>
          </a:p>
          <a:p>
            <a:endParaRPr lang="en-AU" sz="2400" dirty="0"/>
          </a:p>
          <a:p>
            <a:r>
              <a:rPr lang="en-AU" sz="2400" dirty="0"/>
              <a:t>-	: 1               2</a:t>
            </a:r>
          </a:p>
          <a:p>
            <a:endParaRPr lang="en-AU" sz="2400" dirty="0"/>
          </a:p>
          <a:p>
            <a:r>
              <a:rPr lang="en-AU" sz="2400" dirty="0"/>
              <a:t>T	: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AC2E51-2EF6-BD40-B04A-7F4731BCB648}"/>
              </a:ext>
            </a:extLst>
          </p:cNvPr>
          <p:cNvSpPr/>
          <p:nvPr/>
        </p:nvSpPr>
        <p:spPr>
          <a:xfrm>
            <a:off x="9005438" y="4191744"/>
            <a:ext cx="22545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Combinar</a:t>
            </a:r>
            <a:r>
              <a:rPr lang="en-AU" dirty="0"/>
              <a:t> las </a:t>
            </a:r>
          </a:p>
          <a:p>
            <a:pPr algn="ctr"/>
            <a:r>
              <a:rPr lang="en-AU" dirty="0"/>
              <a:t>dos </a:t>
            </a:r>
            <a:r>
              <a:rPr lang="en-AU" dirty="0" err="1"/>
              <a:t>menos</a:t>
            </a:r>
            <a:r>
              <a:rPr lang="en-AU" dirty="0"/>
              <a:t> </a:t>
            </a:r>
            <a:r>
              <a:rPr lang="en-AU" dirty="0" err="1"/>
              <a:t>frecuentes</a:t>
            </a:r>
            <a:endParaRPr lang="en-AU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7FCA79-C1F5-7C41-B2BC-6324D1E773DF}"/>
              </a:ext>
            </a:extLst>
          </p:cNvPr>
          <p:cNvCxnSpPr/>
          <p:nvPr/>
        </p:nvCxnSpPr>
        <p:spPr>
          <a:xfrm>
            <a:off x="3924008" y="561498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E82CAF-58F9-3B4A-8CC3-866D1F7F909E}"/>
              </a:ext>
            </a:extLst>
          </p:cNvPr>
          <p:cNvCxnSpPr>
            <a:cxnSpLocks/>
          </p:cNvCxnSpPr>
          <p:nvPr/>
        </p:nvCxnSpPr>
        <p:spPr>
          <a:xfrm flipV="1">
            <a:off x="3924008" y="583864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40F7ED-C942-2D4E-8230-A6D6CFB0C6B2}"/>
              </a:ext>
            </a:extLst>
          </p:cNvPr>
          <p:cNvCxnSpPr>
            <a:cxnSpLocks/>
          </p:cNvCxnSpPr>
          <p:nvPr/>
        </p:nvCxnSpPr>
        <p:spPr>
          <a:xfrm>
            <a:off x="3924008" y="4924419"/>
            <a:ext cx="185707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629CD4-1E60-E346-BEC3-0F7E77616ABE}"/>
              </a:ext>
            </a:extLst>
          </p:cNvPr>
          <p:cNvCxnSpPr>
            <a:cxnSpLocks/>
          </p:cNvCxnSpPr>
          <p:nvPr/>
        </p:nvCxnSpPr>
        <p:spPr>
          <a:xfrm flipV="1">
            <a:off x="5033073" y="502398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668FBCB-8C88-CB4C-AF9A-046FCD3F7AF6}"/>
              </a:ext>
            </a:extLst>
          </p:cNvPr>
          <p:cNvCxnSpPr/>
          <p:nvPr/>
        </p:nvCxnSpPr>
        <p:spPr>
          <a:xfrm>
            <a:off x="3924008" y="345739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9B988B-1DA9-A340-99A7-602F145B3BD8}"/>
              </a:ext>
            </a:extLst>
          </p:cNvPr>
          <p:cNvCxnSpPr>
            <a:cxnSpLocks/>
          </p:cNvCxnSpPr>
          <p:nvPr/>
        </p:nvCxnSpPr>
        <p:spPr>
          <a:xfrm flipV="1">
            <a:off x="3924008" y="368105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3093B9-5B41-AE4D-A062-53F68812809E}"/>
              </a:ext>
            </a:extLst>
          </p:cNvPr>
          <p:cNvCxnSpPr>
            <a:cxnSpLocks/>
          </p:cNvCxnSpPr>
          <p:nvPr/>
        </p:nvCxnSpPr>
        <p:spPr>
          <a:xfrm flipV="1">
            <a:off x="6096000" y="3570867"/>
            <a:ext cx="1747838" cy="11977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0291474-F65B-1C48-AC71-449510E7C3F5}"/>
              </a:ext>
            </a:extLst>
          </p:cNvPr>
          <p:cNvCxnSpPr>
            <a:cxnSpLocks/>
          </p:cNvCxnSpPr>
          <p:nvPr/>
        </p:nvCxnSpPr>
        <p:spPr>
          <a:xfrm flipV="1">
            <a:off x="5033073" y="3443288"/>
            <a:ext cx="28107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A27CCB9-C344-E34A-BF70-78A3B5B0F309}"/>
              </a:ext>
            </a:extLst>
          </p:cNvPr>
          <p:cNvCxnSpPr>
            <a:cxnSpLocks/>
          </p:cNvCxnSpPr>
          <p:nvPr/>
        </p:nvCxnSpPr>
        <p:spPr>
          <a:xfrm flipV="1">
            <a:off x="8202823" y="284326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293F41C-A655-B843-A572-42433B706BDC}"/>
              </a:ext>
            </a:extLst>
          </p:cNvPr>
          <p:cNvCxnSpPr>
            <a:cxnSpLocks/>
          </p:cNvCxnSpPr>
          <p:nvPr/>
        </p:nvCxnSpPr>
        <p:spPr>
          <a:xfrm flipV="1">
            <a:off x="3942459" y="2700339"/>
            <a:ext cx="5008369" cy="28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07951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70C0"/>
                </a:solidFill>
              </a:rPr>
              <a:t>ABAABCO-ATAABCO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7101624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15</a:t>
            </a:r>
          </a:p>
          <a:p>
            <a:endParaRPr lang="en-AU" sz="2400" dirty="0"/>
          </a:p>
          <a:p>
            <a:r>
              <a:rPr lang="en-AU" sz="2400" dirty="0"/>
              <a:t>B	: 3               5                                            9</a:t>
            </a:r>
          </a:p>
          <a:p>
            <a:endParaRPr lang="en-AU" sz="2400" dirty="0"/>
          </a:p>
          <a:p>
            <a:r>
              <a:rPr lang="en-AU" sz="2400" dirty="0"/>
              <a:t>C	: 2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4</a:t>
            </a:r>
          </a:p>
          <a:p>
            <a:endParaRPr lang="en-AU" sz="2400" dirty="0"/>
          </a:p>
          <a:p>
            <a:r>
              <a:rPr lang="en-AU" sz="2400" dirty="0"/>
              <a:t>-	: 1               2</a:t>
            </a:r>
          </a:p>
          <a:p>
            <a:endParaRPr lang="en-AU" sz="2400" dirty="0"/>
          </a:p>
          <a:p>
            <a:r>
              <a:rPr lang="en-AU" sz="2400" dirty="0"/>
              <a:t>T	: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AC2E51-2EF6-BD40-B04A-7F4731BCB648}"/>
              </a:ext>
            </a:extLst>
          </p:cNvPr>
          <p:cNvSpPr/>
          <p:nvPr/>
        </p:nvSpPr>
        <p:spPr>
          <a:xfrm>
            <a:off x="8692142" y="4377658"/>
            <a:ext cx="1838645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Codificar</a:t>
            </a:r>
            <a:r>
              <a:rPr lang="en-AU" dirty="0"/>
              <a:t> el árbol:</a:t>
            </a:r>
          </a:p>
          <a:p>
            <a:pPr algn="ctr"/>
            <a:r>
              <a:rPr lang="en-AU" dirty="0"/>
              <a:t>0 horizontal,</a:t>
            </a:r>
          </a:p>
          <a:p>
            <a:pPr algn="ctr"/>
            <a:r>
              <a:rPr lang="en-AU" dirty="0"/>
              <a:t>1 diagonal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7FCA79-C1F5-7C41-B2BC-6324D1E773DF}"/>
              </a:ext>
            </a:extLst>
          </p:cNvPr>
          <p:cNvCxnSpPr/>
          <p:nvPr/>
        </p:nvCxnSpPr>
        <p:spPr>
          <a:xfrm>
            <a:off x="3924008" y="561498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E82CAF-58F9-3B4A-8CC3-866D1F7F909E}"/>
              </a:ext>
            </a:extLst>
          </p:cNvPr>
          <p:cNvCxnSpPr>
            <a:cxnSpLocks/>
          </p:cNvCxnSpPr>
          <p:nvPr/>
        </p:nvCxnSpPr>
        <p:spPr>
          <a:xfrm flipV="1">
            <a:off x="3924008" y="583864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40F7ED-C942-2D4E-8230-A6D6CFB0C6B2}"/>
              </a:ext>
            </a:extLst>
          </p:cNvPr>
          <p:cNvCxnSpPr>
            <a:cxnSpLocks/>
          </p:cNvCxnSpPr>
          <p:nvPr/>
        </p:nvCxnSpPr>
        <p:spPr>
          <a:xfrm>
            <a:off x="3924008" y="4924419"/>
            <a:ext cx="185707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629CD4-1E60-E346-BEC3-0F7E77616ABE}"/>
              </a:ext>
            </a:extLst>
          </p:cNvPr>
          <p:cNvCxnSpPr>
            <a:cxnSpLocks/>
          </p:cNvCxnSpPr>
          <p:nvPr/>
        </p:nvCxnSpPr>
        <p:spPr>
          <a:xfrm flipV="1">
            <a:off x="5033073" y="502398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668FBCB-8C88-CB4C-AF9A-046FCD3F7AF6}"/>
              </a:ext>
            </a:extLst>
          </p:cNvPr>
          <p:cNvCxnSpPr/>
          <p:nvPr/>
        </p:nvCxnSpPr>
        <p:spPr>
          <a:xfrm>
            <a:off x="3924008" y="345739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9B988B-1DA9-A340-99A7-602F145B3BD8}"/>
              </a:ext>
            </a:extLst>
          </p:cNvPr>
          <p:cNvCxnSpPr>
            <a:cxnSpLocks/>
          </p:cNvCxnSpPr>
          <p:nvPr/>
        </p:nvCxnSpPr>
        <p:spPr>
          <a:xfrm flipV="1">
            <a:off x="3924008" y="368105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3093B9-5B41-AE4D-A062-53F68812809E}"/>
              </a:ext>
            </a:extLst>
          </p:cNvPr>
          <p:cNvCxnSpPr>
            <a:cxnSpLocks/>
          </p:cNvCxnSpPr>
          <p:nvPr/>
        </p:nvCxnSpPr>
        <p:spPr>
          <a:xfrm flipV="1">
            <a:off x="6096000" y="3570867"/>
            <a:ext cx="1747838" cy="11977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0291474-F65B-1C48-AC71-449510E7C3F5}"/>
              </a:ext>
            </a:extLst>
          </p:cNvPr>
          <p:cNvCxnSpPr>
            <a:cxnSpLocks/>
          </p:cNvCxnSpPr>
          <p:nvPr/>
        </p:nvCxnSpPr>
        <p:spPr>
          <a:xfrm flipV="1">
            <a:off x="5033073" y="3443288"/>
            <a:ext cx="28107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A27CCB9-C344-E34A-BF70-78A3B5B0F309}"/>
              </a:ext>
            </a:extLst>
          </p:cNvPr>
          <p:cNvCxnSpPr>
            <a:cxnSpLocks/>
          </p:cNvCxnSpPr>
          <p:nvPr/>
        </p:nvCxnSpPr>
        <p:spPr>
          <a:xfrm flipV="1">
            <a:off x="8202823" y="284326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293F41C-A655-B843-A572-42433B706BDC}"/>
              </a:ext>
            </a:extLst>
          </p:cNvPr>
          <p:cNvCxnSpPr>
            <a:cxnSpLocks/>
          </p:cNvCxnSpPr>
          <p:nvPr/>
        </p:nvCxnSpPr>
        <p:spPr>
          <a:xfrm flipV="1">
            <a:off x="3942459" y="2700339"/>
            <a:ext cx="5008369" cy="28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4280694-958D-2645-AFBA-74FA7AC5BF39}"/>
              </a:ext>
            </a:extLst>
          </p:cNvPr>
          <p:cNvSpPr/>
          <p:nvPr/>
        </p:nvSpPr>
        <p:spPr>
          <a:xfrm>
            <a:off x="8431093" y="2229779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D23355-2E0D-9542-8BBE-459AC9AD525F}"/>
              </a:ext>
            </a:extLst>
          </p:cNvPr>
          <p:cNvSpPr/>
          <p:nvPr/>
        </p:nvSpPr>
        <p:spPr>
          <a:xfrm>
            <a:off x="8541299" y="3154686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A169CD-D24A-144B-8DC3-188F8CFE4987}"/>
              </a:ext>
            </a:extLst>
          </p:cNvPr>
          <p:cNvSpPr/>
          <p:nvPr/>
        </p:nvSpPr>
        <p:spPr>
          <a:xfrm>
            <a:off x="6668233" y="3071723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182D4C-E1A6-7F4B-AC44-A88EE1F2F4EF}"/>
              </a:ext>
            </a:extLst>
          </p:cNvPr>
          <p:cNvSpPr/>
          <p:nvPr/>
        </p:nvSpPr>
        <p:spPr>
          <a:xfrm>
            <a:off x="6731026" y="4202873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75E427-44A9-6345-8948-54DC11B3A609}"/>
              </a:ext>
            </a:extLst>
          </p:cNvPr>
          <p:cNvSpPr/>
          <p:nvPr/>
        </p:nvSpPr>
        <p:spPr>
          <a:xfrm>
            <a:off x="4147167" y="306672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92A34EE-3A99-AC45-A3D3-6121B2A4C15E}"/>
              </a:ext>
            </a:extLst>
          </p:cNvPr>
          <p:cNvSpPr/>
          <p:nvPr/>
        </p:nvSpPr>
        <p:spPr>
          <a:xfrm>
            <a:off x="4177533" y="388739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01E1721-569C-8B4A-A8EF-A8620D6D4038}"/>
              </a:ext>
            </a:extLst>
          </p:cNvPr>
          <p:cNvSpPr/>
          <p:nvPr/>
        </p:nvSpPr>
        <p:spPr>
          <a:xfrm>
            <a:off x="4186235" y="4527971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CB60CD-D3EA-DE41-AC42-B4434DF17334}"/>
              </a:ext>
            </a:extLst>
          </p:cNvPr>
          <p:cNvSpPr/>
          <p:nvPr/>
        </p:nvSpPr>
        <p:spPr>
          <a:xfrm>
            <a:off x="5401488" y="5284051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BA4AE9-97DD-A249-A65B-03BC531E6E1B}"/>
              </a:ext>
            </a:extLst>
          </p:cNvPr>
          <p:cNvSpPr/>
          <p:nvPr/>
        </p:nvSpPr>
        <p:spPr>
          <a:xfrm>
            <a:off x="4170800" y="5262232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4AF715-EB8F-1342-82B8-E9450262EE6D}"/>
              </a:ext>
            </a:extLst>
          </p:cNvPr>
          <p:cNvSpPr/>
          <p:nvPr/>
        </p:nvSpPr>
        <p:spPr>
          <a:xfrm>
            <a:off x="4183604" y="615898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296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00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00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0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00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0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70C0"/>
                </a:solidFill>
              </a:rPr>
              <a:t>ABAABCO-ATAABCO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7FCA79-C1F5-7C41-B2BC-6324D1E773DF}"/>
              </a:ext>
            </a:extLst>
          </p:cNvPr>
          <p:cNvCxnSpPr/>
          <p:nvPr/>
        </p:nvCxnSpPr>
        <p:spPr>
          <a:xfrm>
            <a:off x="3924008" y="561498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E82CAF-58F9-3B4A-8CC3-866D1F7F909E}"/>
              </a:ext>
            </a:extLst>
          </p:cNvPr>
          <p:cNvCxnSpPr>
            <a:cxnSpLocks/>
          </p:cNvCxnSpPr>
          <p:nvPr/>
        </p:nvCxnSpPr>
        <p:spPr>
          <a:xfrm flipV="1">
            <a:off x="3924008" y="583864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40F7ED-C942-2D4E-8230-A6D6CFB0C6B2}"/>
              </a:ext>
            </a:extLst>
          </p:cNvPr>
          <p:cNvCxnSpPr>
            <a:cxnSpLocks/>
          </p:cNvCxnSpPr>
          <p:nvPr/>
        </p:nvCxnSpPr>
        <p:spPr>
          <a:xfrm>
            <a:off x="3924008" y="4924419"/>
            <a:ext cx="185707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629CD4-1E60-E346-BEC3-0F7E77616ABE}"/>
              </a:ext>
            </a:extLst>
          </p:cNvPr>
          <p:cNvCxnSpPr>
            <a:cxnSpLocks/>
          </p:cNvCxnSpPr>
          <p:nvPr/>
        </p:nvCxnSpPr>
        <p:spPr>
          <a:xfrm flipV="1">
            <a:off x="5033073" y="502398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668FBCB-8C88-CB4C-AF9A-046FCD3F7AF6}"/>
              </a:ext>
            </a:extLst>
          </p:cNvPr>
          <p:cNvCxnSpPr/>
          <p:nvPr/>
        </p:nvCxnSpPr>
        <p:spPr>
          <a:xfrm>
            <a:off x="3924008" y="345739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9B988B-1DA9-A340-99A7-602F145B3BD8}"/>
              </a:ext>
            </a:extLst>
          </p:cNvPr>
          <p:cNvCxnSpPr>
            <a:cxnSpLocks/>
          </p:cNvCxnSpPr>
          <p:nvPr/>
        </p:nvCxnSpPr>
        <p:spPr>
          <a:xfrm flipV="1">
            <a:off x="3924008" y="368105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3093B9-5B41-AE4D-A062-53F68812809E}"/>
              </a:ext>
            </a:extLst>
          </p:cNvPr>
          <p:cNvCxnSpPr>
            <a:cxnSpLocks/>
          </p:cNvCxnSpPr>
          <p:nvPr/>
        </p:nvCxnSpPr>
        <p:spPr>
          <a:xfrm flipV="1">
            <a:off x="6096000" y="3570867"/>
            <a:ext cx="1747838" cy="11977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0291474-F65B-1C48-AC71-449510E7C3F5}"/>
              </a:ext>
            </a:extLst>
          </p:cNvPr>
          <p:cNvCxnSpPr>
            <a:cxnSpLocks/>
          </p:cNvCxnSpPr>
          <p:nvPr/>
        </p:nvCxnSpPr>
        <p:spPr>
          <a:xfrm flipV="1">
            <a:off x="5033073" y="3443288"/>
            <a:ext cx="28107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A27CCB9-C344-E34A-BF70-78A3B5B0F309}"/>
              </a:ext>
            </a:extLst>
          </p:cNvPr>
          <p:cNvCxnSpPr>
            <a:cxnSpLocks/>
          </p:cNvCxnSpPr>
          <p:nvPr/>
        </p:nvCxnSpPr>
        <p:spPr>
          <a:xfrm flipV="1">
            <a:off x="8202823" y="284326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293F41C-A655-B843-A572-42433B706BDC}"/>
              </a:ext>
            </a:extLst>
          </p:cNvPr>
          <p:cNvCxnSpPr>
            <a:cxnSpLocks/>
          </p:cNvCxnSpPr>
          <p:nvPr/>
        </p:nvCxnSpPr>
        <p:spPr>
          <a:xfrm flipV="1">
            <a:off x="3942459" y="2700339"/>
            <a:ext cx="5008369" cy="28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4280694-958D-2645-AFBA-74FA7AC5BF39}"/>
              </a:ext>
            </a:extLst>
          </p:cNvPr>
          <p:cNvSpPr/>
          <p:nvPr/>
        </p:nvSpPr>
        <p:spPr>
          <a:xfrm>
            <a:off x="8431093" y="2229779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D23355-2E0D-9542-8BBE-459AC9AD525F}"/>
              </a:ext>
            </a:extLst>
          </p:cNvPr>
          <p:cNvSpPr/>
          <p:nvPr/>
        </p:nvSpPr>
        <p:spPr>
          <a:xfrm>
            <a:off x="8541299" y="3154686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A169CD-D24A-144B-8DC3-188F8CFE4987}"/>
              </a:ext>
            </a:extLst>
          </p:cNvPr>
          <p:cNvSpPr/>
          <p:nvPr/>
        </p:nvSpPr>
        <p:spPr>
          <a:xfrm>
            <a:off x="6668233" y="3071723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182D4C-E1A6-7F4B-AC44-A88EE1F2F4EF}"/>
              </a:ext>
            </a:extLst>
          </p:cNvPr>
          <p:cNvSpPr/>
          <p:nvPr/>
        </p:nvSpPr>
        <p:spPr>
          <a:xfrm>
            <a:off x="6731026" y="4202873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75E427-44A9-6345-8948-54DC11B3A609}"/>
              </a:ext>
            </a:extLst>
          </p:cNvPr>
          <p:cNvSpPr/>
          <p:nvPr/>
        </p:nvSpPr>
        <p:spPr>
          <a:xfrm>
            <a:off x="4147167" y="306672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92A34EE-3A99-AC45-A3D3-6121B2A4C15E}"/>
              </a:ext>
            </a:extLst>
          </p:cNvPr>
          <p:cNvSpPr/>
          <p:nvPr/>
        </p:nvSpPr>
        <p:spPr>
          <a:xfrm>
            <a:off x="4177533" y="388739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CB60CD-D3EA-DE41-AC42-B4434DF17334}"/>
              </a:ext>
            </a:extLst>
          </p:cNvPr>
          <p:cNvSpPr/>
          <p:nvPr/>
        </p:nvSpPr>
        <p:spPr>
          <a:xfrm>
            <a:off x="5401488" y="5284051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BA4AE9-97DD-A249-A65B-03BC531E6E1B}"/>
              </a:ext>
            </a:extLst>
          </p:cNvPr>
          <p:cNvSpPr/>
          <p:nvPr/>
        </p:nvSpPr>
        <p:spPr>
          <a:xfrm>
            <a:off x="4170800" y="5262232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4AF715-EB8F-1342-82B8-E9450262EE6D}"/>
              </a:ext>
            </a:extLst>
          </p:cNvPr>
          <p:cNvSpPr/>
          <p:nvPr/>
        </p:nvSpPr>
        <p:spPr>
          <a:xfrm>
            <a:off x="4183604" y="615898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750188-7D52-4345-A26F-C84932B8B6DA}"/>
              </a:ext>
            </a:extLst>
          </p:cNvPr>
          <p:cNvSpPr/>
          <p:nvPr/>
        </p:nvSpPr>
        <p:spPr>
          <a:xfrm>
            <a:off x="9994372" y="1467922"/>
            <a:ext cx="17783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Construir</a:t>
            </a:r>
            <a:r>
              <a:rPr lang="en-AU" dirty="0"/>
              <a:t> </a:t>
            </a:r>
            <a:r>
              <a:rPr lang="en-AU" dirty="0" err="1"/>
              <a:t>código</a:t>
            </a:r>
            <a:r>
              <a:rPr lang="en-AU" dirty="0"/>
              <a:t> </a:t>
            </a:r>
          </a:p>
          <a:p>
            <a:pPr algn="ctr"/>
            <a:r>
              <a:rPr lang="en-AU" dirty="0"/>
              <a:t>de </a:t>
            </a:r>
            <a:r>
              <a:rPr lang="en-AU" dirty="0" err="1"/>
              <a:t>cada</a:t>
            </a:r>
            <a:r>
              <a:rPr lang="en-AU" dirty="0"/>
              <a:t> </a:t>
            </a:r>
            <a:r>
              <a:rPr lang="en-AU" dirty="0" err="1"/>
              <a:t>caracter</a:t>
            </a:r>
            <a:endParaRPr lang="en-AU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5EFF853-E4BD-ED44-8A79-F791200BAAAA}"/>
              </a:ext>
            </a:extLst>
          </p:cNvPr>
          <p:cNvCxnSpPr/>
          <p:nvPr/>
        </p:nvCxnSpPr>
        <p:spPr>
          <a:xfrm flipH="1">
            <a:off x="5293788" y="2600377"/>
            <a:ext cx="4786312" cy="0"/>
          </a:xfrm>
          <a:prstGeom prst="straightConnector1">
            <a:avLst/>
          </a:prstGeom>
          <a:ln w="38100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D100AB9D-101E-4944-9EC4-05EB0BB9C69E}"/>
              </a:ext>
            </a:extLst>
          </p:cNvPr>
          <p:cNvSpPr/>
          <p:nvPr/>
        </p:nvSpPr>
        <p:spPr>
          <a:xfrm>
            <a:off x="8202823" y="2114253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6D7E082-6C45-E546-951C-39FA7A15DA68}"/>
              </a:ext>
            </a:extLst>
          </p:cNvPr>
          <p:cNvSpPr/>
          <p:nvPr/>
        </p:nvSpPr>
        <p:spPr>
          <a:xfrm>
            <a:off x="4186235" y="4527971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AF53EB-9206-6340-9E98-E783B96F611D}"/>
              </a:ext>
            </a:extLst>
          </p:cNvPr>
          <p:cNvSpPr/>
          <p:nvPr/>
        </p:nvSpPr>
        <p:spPr>
          <a:xfrm>
            <a:off x="2509838" y="2114253"/>
            <a:ext cx="9347431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       		A : 0</a:t>
            </a:r>
          </a:p>
          <a:p>
            <a:endParaRPr lang="en-AU" sz="2400" dirty="0"/>
          </a:p>
          <a:p>
            <a:r>
              <a:rPr lang="en-AU" sz="2400" dirty="0"/>
              <a:t>B	: 3                                                                                               	</a:t>
            </a:r>
          </a:p>
          <a:p>
            <a:endParaRPr lang="en-AU" sz="2400" dirty="0"/>
          </a:p>
          <a:p>
            <a:r>
              <a:rPr lang="en-AU" sz="2400" dirty="0"/>
              <a:t>C	: 2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</a:t>
            </a:r>
          </a:p>
          <a:p>
            <a:endParaRPr lang="en-AU" sz="2400" dirty="0"/>
          </a:p>
          <a:p>
            <a:r>
              <a:rPr lang="en-AU" sz="2400" dirty="0"/>
              <a:t>-	: 1               </a:t>
            </a:r>
          </a:p>
          <a:p>
            <a:endParaRPr lang="en-AU" sz="2400" dirty="0"/>
          </a:p>
          <a:p>
            <a:r>
              <a:rPr lang="en-AU" sz="2400" dirty="0"/>
              <a:t>T	: 1</a:t>
            </a:r>
          </a:p>
        </p:txBody>
      </p:sp>
    </p:spTree>
    <p:extLst>
      <p:ext uri="{BB962C8B-B14F-4D97-AF65-F5344CB8AC3E}">
        <p14:creationId xmlns:p14="http://schemas.microsoft.com/office/powerpoint/2010/main" val="18534513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70C0"/>
                </a:solidFill>
              </a:rPr>
              <a:t>ABAABCO-ATAABCO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9347431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       		A : 0</a:t>
            </a:r>
          </a:p>
          <a:p>
            <a:endParaRPr lang="en-AU" sz="2400" dirty="0"/>
          </a:p>
          <a:p>
            <a:r>
              <a:rPr lang="en-AU" sz="2400" dirty="0"/>
              <a:t>B	: 3                                                                                               	B : 100</a:t>
            </a:r>
          </a:p>
          <a:p>
            <a:endParaRPr lang="en-AU" sz="2400" dirty="0"/>
          </a:p>
          <a:p>
            <a:r>
              <a:rPr lang="en-AU" sz="2400" dirty="0"/>
              <a:t>C	: 2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</a:t>
            </a:r>
          </a:p>
          <a:p>
            <a:endParaRPr lang="en-AU" sz="2400" dirty="0"/>
          </a:p>
          <a:p>
            <a:r>
              <a:rPr lang="en-AU" sz="2400" dirty="0"/>
              <a:t>-	: 1               </a:t>
            </a:r>
          </a:p>
          <a:p>
            <a:endParaRPr lang="en-AU" sz="2400" dirty="0"/>
          </a:p>
          <a:p>
            <a:r>
              <a:rPr lang="en-AU" sz="2400" dirty="0"/>
              <a:t>T	: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7FCA79-C1F5-7C41-B2BC-6324D1E773DF}"/>
              </a:ext>
            </a:extLst>
          </p:cNvPr>
          <p:cNvCxnSpPr/>
          <p:nvPr/>
        </p:nvCxnSpPr>
        <p:spPr>
          <a:xfrm>
            <a:off x="3924008" y="561498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E82CAF-58F9-3B4A-8CC3-866D1F7F909E}"/>
              </a:ext>
            </a:extLst>
          </p:cNvPr>
          <p:cNvCxnSpPr>
            <a:cxnSpLocks/>
          </p:cNvCxnSpPr>
          <p:nvPr/>
        </p:nvCxnSpPr>
        <p:spPr>
          <a:xfrm flipV="1">
            <a:off x="3924008" y="583864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40F7ED-C942-2D4E-8230-A6D6CFB0C6B2}"/>
              </a:ext>
            </a:extLst>
          </p:cNvPr>
          <p:cNvCxnSpPr>
            <a:cxnSpLocks/>
          </p:cNvCxnSpPr>
          <p:nvPr/>
        </p:nvCxnSpPr>
        <p:spPr>
          <a:xfrm>
            <a:off x="3924008" y="4924419"/>
            <a:ext cx="185707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629CD4-1E60-E346-BEC3-0F7E77616ABE}"/>
              </a:ext>
            </a:extLst>
          </p:cNvPr>
          <p:cNvCxnSpPr>
            <a:cxnSpLocks/>
          </p:cNvCxnSpPr>
          <p:nvPr/>
        </p:nvCxnSpPr>
        <p:spPr>
          <a:xfrm flipV="1">
            <a:off x="5033073" y="502398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668FBCB-8C88-CB4C-AF9A-046FCD3F7AF6}"/>
              </a:ext>
            </a:extLst>
          </p:cNvPr>
          <p:cNvCxnSpPr/>
          <p:nvPr/>
        </p:nvCxnSpPr>
        <p:spPr>
          <a:xfrm>
            <a:off x="3924008" y="345739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9B988B-1DA9-A340-99A7-602F145B3BD8}"/>
              </a:ext>
            </a:extLst>
          </p:cNvPr>
          <p:cNvCxnSpPr>
            <a:cxnSpLocks/>
          </p:cNvCxnSpPr>
          <p:nvPr/>
        </p:nvCxnSpPr>
        <p:spPr>
          <a:xfrm flipV="1">
            <a:off x="3924008" y="368105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3093B9-5B41-AE4D-A062-53F68812809E}"/>
              </a:ext>
            </a:extLst>
          </p:cNvPr>
          <p:cNvCxnSpPr>
            <a:cxnSpLocks/>
          </p:cNvCxnSpPr>
          <p:nvPr/>
        </p:nvCxnSpPr>
        <p:spPr>
          <a:xfrm flipV="1">
            <a:off x="6096000" y="3570867"/>
            <a:ext cx="1747838" cy="11977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0291474-F65B-1C48-AC71-449510E7C3F5}"/>
              </a:ext>
            </a:extLst>
          </p:cNvPr>
          <p:cNvCxnSpPr>
            <a:cxnSpLocks/>
          </p:cNvCxnSpPr>
          <p:nvPr/>
        </p:nvCxnSpPr>
        <p:spPr>
          <a:xfrm flipV="1">
            <a:off x="5033073" y="3443288"/>
            <a:ext cx="28107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A27CCB9-C344-E34A-BF70-78A3B5B0F309}"/>
              </a:ext>
            </a:extLst>
          </p:cNvPr>
          <p:cNvCxnSpPr>
            <a:cxnSpLocks/>
          </p:cNvCxnSpPr>
          <p:nvPr/>
        </p:nvCxnSpPr>
        <p:spPr>
          <a:xfrm flipV="1">
            <a:off x="8202823" y="284326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293F41C-A655-B843-A572-42433B706BDC}"/>
              </a:ext>
            </a:extLst>
          </p:cNvPr>
          <p:cNvCxnSpPr>
            <a:cxnSpLocks/>
          </p:cNvCxnSpPr>
          <p:nvPr/>
        </p:nvCxnSpPr>
        <p:spPr>
          <a:xfrm flipV="1">
            <a:off x="3942459" y="2700339"/>
            <a:ext cx="5008369" cy="28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4280694-958D-2645-AFBA-74FA7AC5BF39}"/>
              </a:ext>
            </a:extLst>
          </p:cNvPr>
          <p:cNvSpPr/>
          <p:nvPr/>
        </p:nvSpPr>
        <p:spPr>
          <a:xfrm>
            <a:off x="8431093" y="2229779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D23355-2E0D-9542-8BBE-459AC9AD525F}"/>
              </a:ext>
            </a:extLst>
          </p:cNvPr>
          <p:cNvSpPr/>
          <p:nvPr/>
        </p:nvSpPr>
        <p:spPr>
          <a:xfrm>
            <a:off x="8541299" y="3154686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A169CD-D24A-144B-8DC3-188F8CFE4987}"/>
              </a:ext>
            </a:extLst>
          </p:cNvPr>
          <p:cNvSpPr/>
          <p:nvPr/>
        </p:nvSpPr>
        <p:spPr>
          <a:xfrm>
            <a:off x="6668233" y="3071723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182D4C-E1A6-7F4B-AC44-A88EE1F2F4EF}"/>
              </a:ext>
            </a:extLst>
          </p:cNvPr>
          <p:cNvSpPr/>
          <p:nvPr/>
        </p:nvSpPr>
        <p:spPr>
          <a:xfrm>
            <a:off x="6731026" y="4202873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75E427-44A9-6345-8948-54DC11B3A609}"/>
              </a:ext>
            </a:extLst>
          </p:cNvPr>
          <p:cNvSpPr/>
          <p:nvPr/>
        </p:nvSpPr>
        <p:spPr>
          <a:xfrm>
            <a:off x="4147167" y="306672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92A34EE-3A99-AC45-A3D3-6121B2A4C15E}"/>
              </a:ext>
            </a:extLst>
          </p:cNvPr>
          <p:cNvSpPr/>
          <p:nvPr/>
        </p:nvSpPr>
        <p:spPr>
          <a:xfrm>
            <a:off x="4177533" y="388739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CB60CD-D3EA-DE41-AC42-B4434DF17334}"/>
              </a:ext>
            </a:extLst>
          </p:cNvPr>
          <p:cNvSpPr/>
          <p:nvPr/>
        </p:nvSpPr>
        <p:spPr>
          <a:xfrm>
            <a:off x="5401488" y="5284051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BA4AE9-97DD-A249-A65B-03BC531E6E1B}"/>
              </a:ext>
            </a:extLst>
          </p:cNvPr>
          <p:cNvSpPr/>
          <p:nvPr/>
        </p:nvSpPr>
        <p:spPr>
          <a:xfrm>
            <a:off x="4170800" y="5262232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4AF715-EB8F-1342-82B8-E9450262EE6D}"/>
              </a:ext>
            </a:extLst>
          </p:cNvPr>
          <p:cNvSpPr/>
          <p:nvPr/>
        </p:nvSpPr>
        <p:spPr>
          <a:xfrm>
            <a:off x="4183604" y="615898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750188-7D52-4345-A26F-C84932B8B6DA}"/>
              </a:ext>
            </a:extLst>
          </p:cNvPr>
          <p:cNvSpPr/>
          <p:nvPr/>
        </p:nvSpPr>
        <p:spPr>
          <a:xfrm>
            <a:off x="9994372" y="1467922"/>
            <a:ext cx="17783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Construir</a:t>
            </a:r>
            <a:r>
              <a:rPr lang="en-AU" dirty="0"/>
              <a:t> </a:t>
            </a:r>
            <a:r>
              <a:rPr lang="en-AU" dirty="0" err="1"/>
              <a:t>código</a:t>
            </a:r>
            <a:r>
              <a:rPr lang="en-AU" dirty="0"/>
              <a:t> </a:t>
            </a:r>
          </a:p>
          <a:p>
            <a:pPr algn="ctr"/>
            <a:r>
              <a:rPr lang="en-AU" dirty="0"/>
              <a:t>de </a:t>
            </a:r>
            <a:r>
              <a:rPr lang="en-AU" dirty="0" err="1"/>
              <a:t>cada</a:t>
            </a:r>
            <a:r>
              <a:rPr lang="en-AU" dirty="0"/>
              <a:t> </a:t>
            </a:r>
            <a:r>
              <a:rPr lang="en-AU" dirty="0" err="1"/>
              <a:t>caracter</a:t>
            </a:r>
            <a:endParaRPr lang="en-AU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F848F91-54F4-7A4A-A3C0-39305A91C5CE}"/>
              </a:ext>
            </a:extLst>
          </p:cNvPr>
          <p:cNvSpPr/>
          <p:nvPr/>
        </p:nvSpPr>
        <p:spPr>
          <a:xfrm>
            <a:off x="8328737" y="2956205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227179F-062A-1846-AC46-3711C8AB580B}"/>
              </a:ext>
            </a:extLst>
          </p:cNvPr>
          <p:cNvSpPr/>
          <p:nvPr/>
        </p:nvSpPr>
        <p:spPr>
          <a:xfrm>
            <a:off x="6454257" y="2953436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1B5C56F-CD55-8F42-AE17-8591897EDB00}"/>
              </a:ext>
            </a:extLst>
          </p:cNvPr>
          <p:cNvSpPr/>
          <p:nvPr/>
        </p:nvSpPr>
        <p:spPr>
          <a:xfrm>
            <a:off x="3942459" y="2949058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1063C37-1BC2-D844-90BE-931654627481}"/>
              </a:ext>
            </a:extLst>
          </p:cNvPr>
          <p:cNvSpPr/>
          <p:nvPr/>
        </p:nvSpPr>
        <p:spPr>
          <a:xfrm>
            <a:off x="4186235" y="4527971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85AEC9E-668E-82B0-B3F5-B0F93BDFD945}"/>
              </a:ext>
            </a:extLst>
          </p:cNvPr>
          <p:cNvSpPr/>
          <p:nvPr/>
        </p:nvSpPr>
        <p:spPr>
          <a:xfrm rot="21259671">
            <a:off x="4300255" y="2892002"/>
            <a:ext cx="4849174" cy="285675"/>
          </a:xfrm>
          <a:custGeom>
            <a:avLst/>
            <a:gdLst>
              <a:gd name="connsiteX0" fmla="*/ 5572125 w 5572125"/>
              <a:gd name="connsiteY0" fmla="*/ 0 h 1414463"/>
              <a:gd name="connsiteX1" fmla="*/ 4729162 w 5572125"/>
              <a:gd name="connsiteY1" fmla="*/ 785813 h 1414463"/>
              <a:gd name="connsiteX2" fmla="*/ 1343025 w 5572125"/>
              <a:gd name="connsiteY2" fmla="*/ 757238 h 1414463"/>
              <a:gd name="connsiteX3" fmla="*/ 42862 w 5572125"/>
              <a:gd name="connsiteY3" fmla="*/ 1357313 h 1414463"/>
              <a:gd name="connsiteX4" fmla="*/ 42862 w 5572125"/>
              <a:gd name="connsiteY4" fmla="*/ 1357313 h 1414463"/>
              <a:gd name="connsiteX5" fmla="*/ 0 w 5572125"/>
              <a:gd name="connsiteY5" fmla="*/ 1414463 h 1414463"/>
              <a:gd name="connsiteX0" fmla="*/ 5572125 w 5572125"/>
              <a:gd name="connsiteY0" fmla="*/ 0 h 1414463"/>
              <a:gd name="connsiteX1" fmla="*/ 4682660 w 5572125"/>
              <a:gd name="connsiteY1" fmla="*/ 527903 h 1414463"/>
              <a:gd name="connsiteX2" fmla="*/ 1343025 w 5572125"/>
              <a:gd name="connsiteY2" fmla="*/ 757238 h 1414463"/>
              <a:gd name="connsiteX3" fmla="*/ 42862 w 5572125"/>
              <a:gd name="connsiteY3" fmla="*/ 1357313 h 1414463"/>
              <a:gd name="connsiteX4" fmla="*/ 42862 w 5572125"/>
              <a:gd name="connsiteY4" fmla="*/ 1357313 h 1414463"/>
              <a:gd name="connsiteX5" fmla="*/ 0 w 5572125"/>
              <a:gd name="connsiteY5" fmla="*/ 1414463 h 1414463"/>
              <a:gd name="connsiteX0" fmla="*/ 5572125 w 5572125"/>
              <a:gd name="connsiteY0" fmla="*/ 0 h 1414463"/>
              <a:gd name="connsiteX1" fmla="*/ 4682660 w 5572125"/>
              <a:gd name="connsiteY1" fmla="*/ 527903 h 1414463"/>
              <a:gd name="connsiteX2" fmla="*/ 3125585 w 5572125"/>
              <a:gd name="connsiteY2" fmla="*/ 1084586 h 1414463"/>
              <a:gd name="connsiteX3" fmla="*/ 42862 w 5572125"/>
              <a:gd name="connsiteY3" fmla="*/ 1357313 h 1414463"/>
              <a:gd name="connsiteX4" fmla="*/ 42862 w 5572125"/>
              <a:gd name="connsiteY4" fmla="*/ 1357313 h 1414463"/>
              <a:gd name="connsiteX5" fmla="*/ 0 w 5572125"/>
              <a:gd name="connsiteY5" fmla="*/ 1414463 h 1414463"/>
              <a:gd name="connsiteX0" fmla="*/ 5572125 w 5572125"/>
              <a:gd name="connsiteY0" fmla="*/ 0 h 1414463"/>
              <a:gd name="connsiteX1" fmla="*/ 4806664 w 5572125"/>
              <a:gd name="connsiteY1" fmla="*/ 587421 h 1414463"/>
              <a:gd name="connsiteX2" fmla="*/ 3125585 w 5572125"/>
              <a:gd name="connsiteY2" fmla="*/ 1084586 h 1414463"/>
              <a:gd name="connsiteX3" fmla="*/ 42862 w 5572125"/>
              <a:gd name="connsiteY3" fmla="*/ 1357313 h 1414463"/>
              <a:gd name="connsiteX4" fmla="*/ 42862 w 5572125"/>
              <a:gd name="connsiteY4" fmla="*/ 1357313 h 1414463"/>
              <a:gd name="connsiteX5" fmla="*/ 0 w 5572125"/>
              <a:gd name="connsiteY5" fmla="*/ 1414463 h 14144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72125" h="1414463">
                <a:moveTo>
                  <a:pt x="5572125" y="0"/>
                </a:moveTo>
                <a:cubicBezTo>
                  <a:pt x="5503068" y="329803"/>
                  <a:pt x="5214421" y="406657"/>
                  <a:pt x="4806664" y="587421"/>
                </a:cubicBezTo>
                <a:cubicBezTo>
                  <a:pt x="4398907" y="768185"/>
                  <a:pt x="3919552" y="956271"/>
                  <a:pt x="3125585" y="1084586"/>
                </a:cubicBezTo>
                <a:cubicBezTo>
                  <a:pt x="2331618" y="1212901"/>
                  <a:pt x="42862" y="1357313"/>
                  <a:pt x="42862" y="1357313"/>
                </a:cubicBezTo>
                <a:lnTo>
                  <a:pt x="42862" y="1357313"/>
                </a:lnTo>
                <a:lnTo>
                  <a:pt x="0" y="1414463"/>
                </a:lnTo>
              </a:path>
            </a:pathLst>
          </a:custGeom>
          <a:noFill/>
          <a:ln w="38100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0808384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70C0"/>
                </a:solidFill>
              </a:rPr>
              <a:t>ABAABCO-ATAABCO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9347431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       		A : 0</a:t>
            </a:r>
          </a:p>
          <a:p>
            <a:endParaRPr lang="en-AU" sz="2400" dirty="0"/>
          </a:p>
          <a:p>
            <a:r>
              <a:rPr lang="en-AU" sz="2400" dirty="0"/>
              <a:t>B	: 3                                                                                               	B : 100</a:t>
            </a:r>
          </a:p>
          <a:p>
            <a:endParaRPr lang="en-AU" sz="2400" dirty="0"/>
          </a:p>
          <a:p>
            <a:r>
              <a:rPr lang="en-AU" sz="2400" dirty="0"/>
              <a:t>C	: 2								C : 101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</a:t>
            </a:r>
          </a:p>
          <a:p>
            <a:endParaRPr lang="en-AU" sz="2400" dirty="0"/>
          </a:p>
          <a:p>
            <a:r>
              <a:rPr lang="en-AU" sz="2400" dirty="0"/>
              <a:t>-	: 1               </a:t>
            </a:r>
          </a:p>
          <a:p>
            <a:endParaRPr lang="en-AU" sz="2400" dirty="0"/>
          </a:p>
          <a:p>
            <a:r>
              <a:rPr lang="en-AU" sz="2400" dirty="0"/>
              <a:t>T	: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7FCA79-C1F5-7C41-B2BC-6324D1E773DF}"/>
              </a:ext>
            </a:extLst>
          </p:cNvPr>
          <p:cNvCxnSpPr/>
          <p:nvPr/>
        </p:nvCxnSpPr>
        <p:spPr>
          <a:xfrm>
            <a:off x="3924008" y="561498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E82CAF-58F9-3B4A-8CC3-866D1F7F909E}"/>
              </a:ext>
            </a:extLst>
          </p:cNvPr>
          <p:cNvCxnSpPr>
            <a:cxnSpLocks/>
          </p:cNvCxnSpPr>
          <p:nvPr/>
        </p:nvCxnSpPr>
        <p:spPr>
          <a:xfrm flipV="1">
            <a:off x="3924008" y="583864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40F7ED-C942-2D4E-8230-A6D6CFB0C6B2}"/>
              </a:ext>
            </a:extLst>
          </p:cNvPr>
          <p:cNvCxnSpPr>
            <a:cxnSpLocks/>
          </p:cNvCxnSpPr>
          <p:nvPr/>
        </p:nvCxnSpPr>
        <p:spPr>
          <a:xfrm>
            <a:off x="3924008" y="4924419"/>
            <a:ext cx="185707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629CD4-1E60-E346-BEC3-0F7E77616ABE}"/>
              </a:ext>
            </a:extLst>
          </p:cNvPr>
          <p:cNvCxnSpPr>
            <a:cxnSpLocks/>
          </p:cNvCxnSpPr>
          <p:nvPr/>
        </p:nvCxnSpPr>
        <p:spPr>
          <a:xfrm flipV="1">
            <a:off x="5033073" y="502398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668FBCB-8C88-CB4C-AF9A-046FCD3F7AF6}"/>
              </a:ext>
            </a:extLst>
          </p:cNvPr>
          <p:cNvCxnSpPr/>
          <p:nvPr/>
        </p:nvCxnSpPr>
        <p:spPr>
          <a:xfrm>
            <a:off x="3924008" y="345739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9B988B-1DA9-A340-99A7-602F145B3BD8}"/>
              </a:ext>
            </a:extLst>
          </p:cNvPr>
          <p:cNvCxnSpPr>
            <a:cxnSpLocks/>
          </p:cNvCxnSpPr>
          <p:nvPr/>
        </p:nvCxnSpPr>
        <p:spPr>
          <a:xfrm flipV="1">
            <a:off x="3924008" y="368105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3093B9-5B41-AE4D-A062-53F68812809E}"/>
              </a:ext>
            </a:extLst>
          </p:cNvPr>
          <p:cNvCxnSpPr>
            <a:cxnSpLocks/>
          </p:cNvCxnSpPr>
          <p:nvPr/>
        </p:nvCxnSpPr>
        <p:spPr>
          <a:xfrm flipV="1">
            <a:off x="6096000" y="3570867"/>
            <a:ext cx="1747838" cy="11977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0291474-F65B-1C48-AC71-449510E7C3F5}"/>
              </a:ext>
            </a:extLst>
          </p:cNvPr>
          <p:cNvCxnSpPr>
            <a:cxnSpLocks/>
          </p:cNvCxnSpPr>
          <p:nvPr/>
        </p:nvCxnSpPr>
        <p:spPr>
          <a:xfrm flipV="1">
            <a:off x="5033073" y="3443288"/>
            <a:ext cx="28107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A27CCB9-C344-E34A-BF70-78A3B5B0F309}"/>
              </a:ext>
            </a:extLst>
          </p:cNvPr>
          <p:cNvCxnSpPr>
            <a:cxnSpLocks/>
          </p:cNvCxnSpPr>
          <p:nvPr/>
        </p:nvCxnSpPr>
        <p:spPr>
          <a:xfrm flipV="1">
            <a:off x="8202823" y="284326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293F41C-A655-B843-A572-42433B706BDC}"/>
              </a:ext>
            </a:extLst>
          </p:cNvPr>
          <p:cNvCxnSpPr>
            <a:cxnSpLocks/>
          </p:cNvCxnSpPr>
          <p:nvPr/>
        </p:nvCxnSpPr>
        <p:spPr>
          <a:xfrm flipV="1">
            <a:off x="3942459" y="2700339"/>
            <a:ext cx="5008369" cy="28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4280694-958D-2645-AFBA-74FA7AC5BF39}"/>
              </a:ext>
            </a:extLst>
          </p:cNvPr>
          <p:cNvSpPr/>
          <p:nvPr/>
        </p:nvSpPr>
        <p:spPr>
          <a:xfrm>
            <a:off x="8431093" y="2229779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D23355-2E0D-9542-8BBE-459AC9AD525F}"/>
              </a:ext>
            </a:extLst>
          </p:cNvPr>
          <p:cNvSpPr/>
          <p:nvPr/>
        </p:nvSpPr>
        <p:spPr>
          <a:xfrm>
            <a:off x="8541299" y="3154686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A169CD-D24A-144B-8DC3-188F8CFE4987}"/>
              </a:ext>
            </a:extLst>
          </p:cNvPr>
          <p:cNvSpPr/>
          <p:nvPr/>
        </p:nvSpPr>
        <p:spPr>
          <a:xfrm>
            <a:off x="6668233" y="3071723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182D4C-E1A6-7F4B-AC44-A88EE1F2F4EF}"/>
              </a:ext>
            </a:extLst>
          </p:cNvPr>
          <p:cNvSpPr/>
          <p:nvPr/>
        </p:nvSpPr>
        <p:spPr>
          <a:xfrm>
            <a:off x="6731026" y="4202873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75E427-44A9-6345-8948-54DC11B3A609}"/>
              </a:ext>
            </a:extLst>
          </p:cNvPr>
          <p:cNvSpPr/>
          <p:nvPr/>
        </p:nvSpPr>
        <p:spPr>
          <a:xfrm>
            <a:off x="4147167" y="306672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92A34EE-3A99-AC45-A3D3-6121B2A4C15E}"/>
              </a:ext>
            </a:extLst>
          </p:cNvPr>
          <p:cNvSpPr/>
          <p:nvPr/>
        </p:nvSpPr>
        <p:spPr>
          <a:xfrm>
            <a:off x="4177533" y="388739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CB60CD-D3EA-DE41-AC42-B4434DF17334}"/>
              </a:ext>
            </a:extLst>
          </p:cNvPr>
          <p:cNvSpPr/>
          <p:nvPr/>
        </p:nvSpPr>
        <p:spPr>
          <a:xfrm>
            <a:off x="5401488" y="5284051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BA4AE9-97DD-A249-A65B-03BC531E6E1B}"/>
              </a:ext>
            </a:extLst>
          </p:cNvPr>
          <p:cNvSpPr/>
          <p:nvPr/>
        </p:nvSpPr>
        <p:spPr>
          <a:xfrm>
            <a:off x="4170800" y="5262232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4AF715-EB8F-1342-82B8-E9450262EE6D}"/>
              </a:ext>
            </a:extLst>
          </p:cNvPr>
          <p:cNvSpPr/>
          <p:nvPr/>
        </p:nvSpPr>
        <p:spPr>
          <a:xfrm>
            <a:off x="4183604" y="615898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750188-7D52-4345-A26F-C84932B8B6DA}"/>
              </a:ext>
            </a:extLst>
          </p:cNvPr>
          <p:cNvSpPr/>
          <p:nvPr/>
        </p:nvSpPr>
        <p:spPr>
          <a:xfrm>
            <a:off x="9994372" y="1467922"/>
            <a:ext cx="17783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Construir</a:t>
            </a:r>
            <a:r>
              <a:rPr lang="en-AU" dirty="0"/>
              <a:t> </a:t>
            </a:r>
            <a:r>
              <a:rPr lang="en-AU" dirty="0" err="1"/>
              <a:t>código</a:t>
            </a:r>
            <a:r>
              <a:rPr lang="en-AU" dirty="0"/>
              <a:t> </a:t>
            </a:r>
          </a:p>
          <a:p>
            <a:pPr algn="ctr"/>
            <a:r>
              <a:rPr lang="en-AU" dirty="0"/>
              <a:t>de </a:t>
            </a:r>
            <a:r>
              <a:rPr lang="en-AU" dirty="0" err="1"/>
              <a:t>cada</a:t>
            </a:r>
            <a:r>
              <a:rPr lang="en-AU" dirty="0"/>
              <a:t> </a:t>
            </a:r>
            <a:r>
              <a:rPr lang="en-AU" dirty="0" err="1"/>
              <a:t>caracter</a:t>
            </a:r>
            <a:endParaRPr lang="en-AU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0DE0B70-BFEC-C64C-B927-78EA65A05BE5}"/>
              </a:ext>
            </a:extLst>
          </p:cNvPr>
          <p:cNvSpPr/>
          <p:nvPr/>
        </p:nvSpPr>
        <p:spPr>
          <a:xfrm>
            <a:off x="4755357" y="3401716"/>
            <a:ext cx="4321385" cy="709491"/>
          </a:xfrm>
          <a:custGeom>
            <a:avLst/>
            <a:gdLst>
              <a:gd name="connsiteX0" fmla="*/ 5572125 w 5572125"/>
              <a:gd name="connsiteY0" fmla="*/ 0 h 1414463"/>
              <a:gd name="connsiteX1" fmla="*/ 4729162 w 5572125"/>
              <a:gd name="connsiteY1" fmla="*/ 785813 h 1414463"/>
              <a:gd name="connsiteX2" fmla="*/ 1343025 w 5572125"/>
              <a:gd name="connsiteY2" fmla="*/ 757238 h 1414463"/>
              <a:gd name="connsiteX3" fmla="*/ 42862 w 5572125"/>
              <a:gd name="connsiteY3" fmla="*/ 1357313 h 1414463"/>
              <a:gd name="connsiteX4" fmla="*/ 42862 w 5572125"/>
              <a:gd name="connsiteY4" fmla="*/ 1357313 h 1414463"/>
              <a:gd name="connsiteX5" fmla="*/ 0 w 5572125"/>
              <a:gd name="connsiteY5" fmla="*/ 1414463 h 14144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72125" h="1414463">
                <a:moveTo>
                  <a:pt x="5572125" y="0"/>
                </a:moveTo>
                <a:cubicBezTo>
                  <a:pt x="5503068" y="329803"/>
                  <a:pt x="5434012" y="659607"/>
                  <a:pt x="4729162" y="785813"/>
                </a:cubicBezTo>
                <a:cubicBezTo>
                  <a:pt x="4024312" y="912019"/>
                  <a:pt x="2124075" y="661988"/>
                  <a:pt x="1343025" y="757238"/>
                </a:cubicBezTo>
                <a:cubicBezTo>
                  <a:pt x="561975" y="852488"/>
                  <a:pt x="42862" y="1357313"/>
                  <a:pt x="42862" y="1357313"/>
                </a:cubicBezTo>
                <a:lnTo>
                  <a:pt x="42862" y="1357313"/>
                </a:lnTo>
                <a:lnTo>
                  <a:pt x="0" y="1414463"/>
                </a:lnTo>
              </a:path>
            </a:pathLst>
          </a:custGeom>
          <a:noFill/>
          <a:ln w="38100">
            <a:solidFill>
              <a:srgbClr val="FF0000"/>
            </a:solidFill>
            <a:prstDash val="dash"/>
            <a:tailEnd type="arrow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BE13E6E-1DEA-F547-869D-0335984DA540}"/>
              </a:ext>
            </a:extLst>
          </p:cNvPr>
          <p:cNvSpPr/>
          <p:nvPr/>
        </p:nvSpPr>
        <p:spPr>
          <a:xfrm>
            <a:off x="8328737" y="2956205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6C97650-C934-AC40-ABCB-C850C5B25E27}"/>
              </a:ext>
            </a:extLst>
          </p:cNvPr>
          <p:cNvSpPr/>
          <p:nvPr/>
        </p:nvSpPr>
        <p:spPr>
          <a:xfrm>
            <a:off x="6454257" y="2953436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BB625CD-C1CE-FB48-8DDA-D97100E4AB7A}"/>
              </a:ext>
            </a:extLst>
          </p:cNvPr>
          <p:cNvSpPr/>
          <p:nvPr/>
        </p:nvSpPr>
        <p:spPr>
          <a:xfrm>
            <a:off x="3942459" y="3720589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FA0F13-D683-D740-AC46-9BD7153D4CBC}"/>
              </a:ext>
            </a:extLst>
          </p:cNvPr>
          <p:cNvSpPr/>
          <p:nvPr/>
        </p:nvSpPr>
        <p:spPr>
          <a:xfrm>
            <a:off x="4186235" y="4527971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29474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70C0"/>
                </a:solidFill>
              </a:rPr>
              <a:t>ABAABCO-ATAABCO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9347431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       		A : 0</a:t>
            </a:r>
          </a:p>
          <a:p>
            <a:endParaRPr lang="en-AU" sz="2400" dirty="0"/>
          </a:p>
          <a:p>
            <a:r>
              <a:rPr lang="en-AU" sz="2400" dirty="0"/>
              <a:t>B	: 3                                                                                               	B : 100</a:t>
            </a:r>
          </a:p>
          <a:p>
            <a:endParaRPr lang="en-AU" sz="2400" dirty="0"/>
          </a:p>
          <a:p>
            <a:r>
              <a:rPr lang="en-AU" sz="2400" dirty="0"/>
              <a:t>C	: 2								C : 101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                                           			O : 110</a:t>
            </a:r>
          </a:p>
          <a:p>
            <a:endParaRPr lang="en-AU" sz="2400" dirty="0"/>
          </a:p>
          <a:p>
            <a:r>
              <a:rPr lang="en-AU" sz="2400" dirty="0"/>
              <a:t>-	: 1               </a:t>
            </a:r>
          </a:p>
          <a:p>
            <a:endParaRPr lang="en-AU" sz="2400" dirty="0"/>
          </a:p>
          <a:p>
            <a:r>
              <a:rPr lang="en-AU" sz="2400" dirty="0"/>
              <a:t>T	: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7FCA79-C1F5-7C41-B2BC-6324D1E773DF}"/>
              </a:ext>
            </a:extLst>
          </p:cNvPr>
          <p:cNvCxnSpPr/>
          <p:nvPr/>
        </p:nvCxnSpPr>
        <p:spPr>
          <a:xfrm>
            <a:off x="3924008" y="561498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E82CAF-58F9-3B4A-8CC3-866D1F7F909E}"/>
              </a:ext>
            </a:extLst>
          </p:cNvPr>
          <p:cNvCxnSpPr>
            <a:cxnSpLocks/>
          </p:cNvCxnSpPr>
          <p:nvPr/>
        </p:nvCxnSpPr>
        <p:spPr>
          <a:xfrm flipV="1">
            <a:off x="3924008" y="583864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40F7ED-C942-2D4E-8230-A6D6CFB0C6B2}"/>
              </a:ext>
            </a:extLst>
          </p:cNvPr>
          <p:cNvCxnSpPr>
            <a:cxnSpLocks/>
          </p:cNvCxnSpPr>
          <p:nvPr/>
        </p:nvCxnSpPr>
        <p:spPr>
          <a:xfrm>
            <a:off x="3924008" y="4924419"/>
            <a:ext cx="185707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629CD4-1E60-E346-BEC3-0F7E77616ABE}"/>
              </a:ext>
            </a:extLst>
          </p:cNvPr>
          <p:cNvCxnSpPr>
            <a:cxnSpLocks/>
          </p:cNvCxnSpPr>
          <p:nvPr/>
        </p:nvCxnSpPr>
        <p:spPr>
          <a:xfrm flipV="1">
            <a:off x="5033073" y="502398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668FBCB-8C88-CB4C-AF9A-046FCD3F7AF6}"/>
              </a:ext>
            </a:extLst>
          </p:cNvPr>
          <p:cNvCxnSpPr/>
          <p:nvPr/>
        </p:nvCxnSpPr>
        <p:spPr>
          <a:xfrm>
            <a:off x="3924008" y="345739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9B988B-1DA9-A340-99A7-602F145B3BD8}"/>
              </a:ext>
            </a:extLst>
          </p:cNvPr>
          <p:cNvCxnSpPr>
            <a:cxnSpLocks/>
          </p:cNvCxnSpPr>
          <p:nvPr/>
        </p:nvCxnSpPr>
        <p:spPr>
          <a:xfrm flipV="1">
            <a:off x="3924008" y="368105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3093B9-5B41-AE4D-A062-53F68812809E}"/>
              </a:ext>
            </a:extLst>
          </p:cNvPr>
          <p:cNvCxnSpPr>
            <a:cxnSpLocks/>
          </p:cNvCxnSpPr>
          <p:nvPr/>
        </p:nvCxnSpPr>
        <p:spPr>
          <a:xfrm flipV="1">
            <a:off x="6096000" y="3570867"/>
            <a:ext cx="1747838" cy="11977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0291474-F65B-1C48-AC71-449510E7C3F5}"/>
              </a:ext>
            </a:extLst>
          </p:cNvPr>
          <p:cNvCxnSpPr>
            <a:cxnSpLocks/>
          </p:cNvCxnSpPr>
          <p:nvPr/>
        </p:nvCxnSpPr>
        <p:spPr>
          <a:xfrm flipV="1">
            <a:off x="5033073" y="3443288"/>
            <a:ext cx="28107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A27CCB9-C344-E34A-BF70-78A3B5B0F309}"/>
              </a:ext>
            </a:extLst>
          </p:cNvPr>
          <p:cNvCxnSpPr>
            <a:cxnSpLocks/>
          </p:cNvCxnSpPr>
          <p:nvPr/>
        </p:nvCxnSpPr>
        <p:spPr>
          <a:xfrm flipV="1">
            <a:off x="8202823" y="284326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293F41C-A655-B843-A572-42433B706BDC}"/>
              </a:ext>
            </a:extLst>
          </p:cNvPr>
          <p:cNvCxnSpPr>
            <a:cxnSpLocks/>
          </p:cNvCxnSpPr>
          <p:nvPr/>
        </p:nvCxnSpPr>
        <p:spPr>
          <a:xfrm flipV="1">
            <a:off x="3942459" y="2700339"/>
            <a:ext cx="5008369" cy="28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4280694-958D-2645-AFBA-74FA7AC5BF39}"/>
              </a:ext>
            </a:extLst>
          </p:cNvPr>
          <p:cNvSpPr/>
          <p:nvPr/>
        </p:nvSpPr>
        <p:spPr>
          <a:xfrm>
            <a:off x="8431093" y="2229779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D23355-2E0D-9542-8BBE-459AC9AD525F}"/>
              </a:ext>
            </a:extLst>
          </p:cNvPr>
          <p:cNvSpPr/>
          <p:nvPr/>
        </p:nvSpPr>
        <p:spPr>
          <a:xfrm>
            <a:off x="8541299" y="3154686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A169CD-D24A-144B-8DC3-188F8CFE4987}"/>
              </a:ext>
            </a:extLst>
          </p:cNvPr>
          <p:cNvSpPr/>
          <p:nvPr/>
        </p:nvSpPr>
        <p:spPr>
          <a:xfrm>
            <a:off x="6668233" y="3071723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182D4C-E1A6-7F4B-AC44-A88EE1F2F4EF}"/>
              </a:ext>
            </a:extLst>
          </p:cNvPr>
          <p:cNvSpPr/>
          <p:nvPr/>
        </p:nvSpPr>
        <p:spPr>
          <a:xfrm>
            <a:off x="6731026" y="4202873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75E427-44A9-6345-8948-54DC11B3A609}"/>
              </a:ext>
            </a:extLst>
          </p:cNvPr>
          <p:cNvSpPr/>
          <p:nvPr/>
        </p:nvSpPr>
        <p:spPr>
          <a:xfrm>
            <a:off x="4147167" y="306672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92A34EE-3A99-AC45-A3D3-6121B2A4C15E}"/>
              </a:ext>
            </a:extLst>
          </p:cNvPr>
          <p:cNvSpPr/>
          <p:nvPr/>
        </p:nvSpPr>
        <p:spPr>
          <a:xfrm>
            <a:off x="4177533" y="388739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CB60CD-D3EA-DE41-AC42-B4434DF17334}"/>
              </a:ext>
            </a:extLst>
          </p:cNvPr>
          <p:cNvSpPr/>
          <p:nvPr/>
        </p:nvSpPr>
        <p:spPr>
          <a:xfrm>
            <a:off x="5401488" y="5284051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BA4AE9-97DD-A249-A65B-03BC531E6E1B}"/>
              </a:ext>
            </a:extLst>
          </p:cNvPr>
          <p:cNvSpPr/>
          <p:nvPr/>
        </p:nvSpPr>
        <p:spPr>
          <a:xfrm>
            <a:off x="4170800" y="5262232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4AF715-EB8F-1342-82B8-E9450262EE6D}"/>
              </a:ext>
            </a:extLst>
          </p:cNvPr>
          <p:cNvSpPr/>
          <p:nvPr/>
        </p:nvSpPr>
        <p:spPr>
          <a:xfrm>
            <a:off x="4183604" y="615898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750188-7D52-4345-A26F-C84932B8B6DA}"/>
              </a:ext>
            </a:extLst>
          </p:cNvPr>
          <p:cNvSpPr/>
          <p:nvPr/>
        </p:nvSpPr>
        <p:spPr>
          <a:xfrm>
            <a:off x="9994372" y="1467922"/>
            <a:ext cx="17783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Construir</a:t>
            </a:r>
            <a:r>
              <a:rPr lang="en-AU" dirty="0"/>
              <a:t> </a:t>
            </a:r>
            <a:r>
              <a:rPr lang="en-AU" dirty="0" err="1"/>
              <a:t>código</a:t>
            </a:r>
            <a:r>
              <a:rPr lang="en-AU" dirty="0"/>
              <a:t> </a:t>
            </a:r>
          </a:p>
          <a:p>
            <a:pPr algn="ctr"/>
            <a:r>
              <a:rPr lang="en-AU" dirty="0"/>
              <a:t>de </a:t>
            </a:r>
            <a:r>
              <a:rPr lang="en-AU" dirty="0" err="1"/>
              <a:t>cada</a:t>
            </a:r>
            <a:r>
              <a:rPr lang="en-AU" dirty="0"/>
              <a:t> </a:t>
            </a:r>
            <a:r>
              <a:rPr lang="en-AU" dirty="0" err="1"/>
              <a:t>caracter</a:t>
            </a:r>
            <a:endParaRPr lang="en-AU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0DE0B70-BFEC-C64C-B927-78EA65A05BE5}"/>
              </a:ext>
            </a:extLst>
          </p:cNvPr>
          <p:cNvSpPr/>
          <p:nvPr/>
        </p:nvSpPr>
        <p:spPr>
          <a:xfrm>
            <a:off x="4328376" y="3040276"/>
            <a:ext cx="5136065" cy="2037289"/>
          </a:xfrm>
          <a:custGeom>
            <a:avLst/>
            <a:gdLst>
              <a:gd name="connsiteX0" fmla="*/ 5572125 w 5572125"/>
              <a:gd name="connsiteY0" fmla="*/ 0 h 1414463"/>
              <a:gd name="connsiteX1" fmla="*/ 4729162 w 5572125"/>
              <a:gd name="connsiteY1" fmla="*/ 785813 h 1414463"/>
              <a:gd name="connsiteX2" fmla="*/ 1343025 w 5572125"/>
              <a:gd name="connsiteY2" fmla="*/ 757238 h 1414463"/>
              <a:gd name="connsiteX3" fmla="*/ 42862 w 5572125"/>
              <a:gd name="connsiteY3" fmla="*/ 1357313 h 1414463"/>
              <a:gd name="connsiteX4" fmla="*/ 42862 w 5572125"/>
              <a:gd name="connsiteY4" fmla="*/ 1357313 h 1414463"/>
              <a:gd name="connsiteX5" fmla="*/ 0 w 5572125"/>
              <a:gd name="connsiteY5" fmla="*/ 1414463 h 1414463"/>
              <a:gd name="connsiteX0" fmla="*/ 5572125 w 5572125"/>
              <a:gd name="connsiteY0" fmla="*/ 0 h 1414463"/>
              <a:gd name="connsiteX1" fmla="*/ 4682660 w 5572125"/>
              <a:gd name="connsiteY1" fmla="*/ 527903 h 1414463"/>
              <a:gd name="connsiteX2" fmla="*/ 1343025 w 5572125"/>
              <a:gd name="connsiteY2" fmla="*/ 757238 h 1414463"/>
              <a:gd name="connsiteX3" fmla="*/ 42862 w 5572125"/>
              <a:gd name="connsiteY3" fmla="*/ 1357313 h 1414463"/>
              <a:gd name="connsiteX4" fmla="*/ 42862 w 5572125"/>
              <a:gd name="connsiteY4" fmla="*/ 1357313 h 1414463"/>
              <a:gd name="connsiteX5" fmla="*/ 0 w 5572125"/>
              <a:gd name="connsiteY5" fmla="*/ 1414463 h 1414463"/>
              <a:gd name="connsiteX0" fmla="*/ 5572125 w 5572125"/>
              <a:gd name="connsiteY0" fmla="*/ 0 h 1414463"/>
              <a:gd name="connsiteX1" fmla="*/ 4682660 w 5572125"/>
              <a:gd name="connsiteY1" fmla="*/ 527903 h 1414463"/>
              <a:gd name="connsiteX2" fmla="*/ 3125585 w 5572125"/>
              <a:gd name="connsiteY2" fmla="*/ 1084586 h 1414463"/>
              <a:gd name="connsiteX3" fmla="*/ 42862 w 5572125"/>
              <a:gd name="connsiteY3" fmla="*/ 1357313 h 1414463"/>
              <a:gd name="connsiteX4" fmla="*/ 42862 w 5572125"/>
              <a:gd name="connsiteY4" fmla="*/ 1357313 h 1414463"/>
              <a:gd name="connsiteX5" fmla="*/ 0 w 5572125"/>
              <a:gd name="connsiteY5" fmla="*/ 1414463 h 1414463"/>
              <a:gd name="connsiteX0" fmla="*/ 5572125 w 5572125"/>
              <a:gd name="connsiteY0" fmla="*/ 0 h 1414463"/>
              <a:gd name="connsiteX1" fmla="*/ 4806664 w 5572125"/>
              <a:gd name="connsiteY1" fmla="*/ 587421 h 1414463"/>
              <a:gd name="connsiteX2" fmla="*/ 3125585 w 5572125"/>
              <a:gd name="connsiteY2" fmla="*/ 1084586 h 1414463"/>
              <a:gd name="connsiteX3" fmla="*/ 42862 w 5572125"/>
              <a:gd name="connsiteY3" fmla="*/ 1357313 h 1414463"/>
              <a:gd name="connsiteX4" fmla="*/ 42862 w 5572125"/>
              <a:gd name="connsiteY4" fmla="*/ 1357313 h 1414463"/>
              <a:gd name="connsiteX5" fmla="*/ 0 w 5572125"/>
              <a:gd name="connsiteY5" fmla="*/ 1414463 h 14144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72125" h="1414463">
                <a:moveTo>
                  <a:pt x="5572125" y="0"/>
                </a:moveTo>
                <a:cubicBezTo>
                  <a:pt x="5503068" y="329803"/>
                  <a:pt x="5214421" y="406657"/>
                  <a:pt x="4806664" y="587421"/>
                </a:cubicBezTo>
                <a:cubicBezTo>
                  <a:pt x="4398907" y="768185"/>
                  <a:pt x="3919552" y="956271"/>
                  <a:pt x="3125585" y="1084586"/>
                </a:cubicBezTo>
                <a:cubicBezTo>
                  <a:pt x="2331618" y="1212901"/>
                  <a:pt x="42862" y="1357313"/>
                  <a:pt x="42862" y="1357313"/>
                </a:cubicBezTo>
                <a:lnTo>
                  <a:pt x="42862" y="1357313"/>
                </a:lnTo>
                <a:lnTo>
                  <a:pt x="0" y="1414463"/>
                </a:lnTo>
              </a:path>
            </a:pathLst>
          </a:custGeom>
          <a:noFill/>
          <a:ln w="38100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D236A13-F62A-6449-BF21-2E5F4CB7061D}"/>
              </a:ext>
            </a:extLst>
          </p:cNvPr>
          <p:cNvSpPr/>
          <p:nvPr/>
        </p:nvSpPr>
        <p:spPr>
          <a:xfrm>
            <a:off x="8328737" y="2956205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83872EE-71C5-6642-B94D-CC9520274005}"/>
              </a:ext>
            </a:extLst>
          </p:cNvPr>
          <p:cNvSpPr/>
          <p:nvPr/>
        </p:nvSpPr>
        <p:spPr>
          <a:xfrm>
            <a:off x="6511409" y="4067867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A623EF4-2AEA-4D48-A91A-B65459349CCA}"/>
              </a:ext>
            </a:extLst>
          </p:cNvPr>
          <p:cNvSpPr/>
          <p:nvPr/>
        </p:nvSpPr>
        <p:spPr>
          <a:xfrm>
            <a:off x="3971038" y="4392107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CEACD2-3375-5644-8D5F-CBA3C28485A1}"/>
              </a:ext>
            </a:extLst>
          </p:cNvPr>
          <p:cNvSpPr/>
          <p:nvPr/>
        </p:nvSpPr>
        <p:spPr>
          <a:xfrm>
            <a:off x="4186235" y="4527971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3466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70C0"/>
                </a:solidFill>
              </a:rPr>
              <a:t>ABAABCO-ATAABCO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9499716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       		A : 0</a:t>
            </a:r>
          </a:p>
          <a:p>
            <a:endParaRPr lang="en-AU" sz="2400" dirty="0"/>
          </a:p>
          <a:p>
            <a:r>
              <a:rPr lang="en-AU" sz="2400" dirty="0"/>
              <a:t>B	: 3                                                                                               	B : 100</a:t>
            </a:r>
          </a:p>
          <a:p>
            <a:endParaRPr lang="en-AU" sz="2400" dirty="0"/>
          </a:p>
          <a:p>
            <a:r>
              <a:rPr lang="en-AU" sz="2400" dirty="0"/>
              <a:t>C	: 2								C : 101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                                           			O : 110</a:t>
            </a:r>
          </a:p>
          <a:p>
            <a:endParaRPr lang="en-AU" sz="2400" dirty="0"/>
          </a:p>
          <a:p>
            <a:r>
              <a:rPr lang="en-AU" sz="2400" dirty="0"/>
              <a:t>-	: 1               							-  : 1110</a:t>
            </a:r>
          </a:p>
          <a:p>
            <a:endParaRPr lang="en-AU" sz="2400" dirty="0"/>
          </a:p>
          <a:p>
            <a:r>
              <a:rPr lang="en-AU" sz="2400" dirty="0"/>
              <a:t>T	: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7FCA79-C1F5-7C41-B2BC-6324D1E773DF}"/>
              </a:ext>
            </a:extLst>
          </p:cNvPr>
          <p:cNvCxnSpPr/>
          <p:nvPr/>
        </p:nvCxnSpPr>
        <p:spPr>
          <a:xfrm>
            <a:off x="3924008" y="561498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E82CAF-58F9-3B4A-8CC3-866D1F7F909E}"/>
              </a:ext>
            </a:extLst>
          </p:cNvPr>
          <p:cNvCxnSpPr>
            <a:cxnSpLocks/>
          </p:cNvCxnSpPr>
          <p:nvPr/>
        </p:nvCxnSpPr>
        <p:spPr>
          <a:xfrm flipV="1">
            <a:off x="3924008" y="583864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40F7ED-C942-2D4E-8230-A6D6CFB0C6B2}"/>
              </a:ext>
            </a:extLst>
          </p:cNvPr>
          <p:cNvCxnSpPr>
            <a:cxnSpLocks/>
          </p:cNvCxnSpPr>
          <p:nvPr/>
        </p:nvCxnSpPr>
        <p:spPr>
          <a:xfrm>
            <a:off x="3924008" y="4924419"/>
            <a:ext cx="185707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629CD4-1E60-E346-BEC3-0F7E77616ABE}"/>
              </a:ext>
            </a:extLst>
          </p:cNvPr>
          <p:cNvCxnSpPr>
            <a:cxnSpLocks/>
          </p:cNvCxnSpPr>
          <p:nvPr/>
        </p:nvCxnSpPr>
        <p:spPr>
          <a:xfrm flipV="1">
            <a:off x="5033073" y="502398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668FBCB-8C88-CB4C-AF9A-046FCD3F7AF6}"/>
              </a:ext>
            </a:extLst>
          </p:cNvPr>
          <p:cNvCxnSpPr/>
          <p:nvPr/>
        </p:nvCxnSpPr>
        <p:spPr>
          <a:xfrm>
            <a:off x="5124164" y="5671973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9B988B-1DA9-A340-99A7-602F145B3BD8}"/>
              </a:ext>
            </a:extLst>
          </p:cNvPr>
          <p:cNvCxnSpPr>
            <a:cxnSpLocks/>
          </p:cNvCxnSpPr>
          <p:nvPr/>
        </p:nvCxnSpPr>
        <p:spPr>
          <a:xfrm flipV="1">
            <a:off x="3924008" y="368105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3093B9-5B41-AE4D-A062-53F68812809E}"/>
              </a:ext>
            </a:extLst>
          </p:cNvPr>
          <p:cNvCxnSpPr>
            <a:cxnSpLocks/>
          </p:cNvCxnSpPr>
          <p:nvPr/>
        </p:nvCxnSpPr>
        <p:spPr>
          <a:xfrm flipV="1">
            <a:off x="6096000" y="3570867"/>
            <a:ext cx="1747838" cy="11977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0291474-F65B-1C48-AC71-449510E7C3F5}"/>
              </a:ext>
            </a:extLst>
          </p:cNvPr>
          <p:cNvCxnSpPr>
            <a:cxnSpLocks/>
          </p:cNvCxnSpPr>
          <p:nvPr/>
        </p:nvCxnSpPr>
        <p:spPr>
          <a:xfrm flipV="1">
            <a:off x="5033073" y="3443288"/>
            <a:ext cx="28107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A27CCB9-C344-E34A-BF70-78A3B5B0F309}"/>
              </a:ext>
            </a:extLst>
          </p:cNvPr>
          <p:cNvCxnSpPr>
            <a:cxnSpLocks/>
          </p:cNvCxnSpPr>
          <p:nvPr/>
        </p:nvCxnSpPr>
        <p:spPr>
          <a:xfrm flipV="1">
            <a:off x="8202823" y="284326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293F41C-A655-B843-A572-42433B706BDC}"/>
              </a:ext>
            </a:extLst>
          </p:cNvPr>
          <p:cNvCxnSpPr>
            <a:cxnSpLocks/>
          </p:cNvCxnSpPr>
          <p:nvPr/>
        </p:nvCxnSpPr>
        <p:spPr>
          <a:xfrm flipV="1">
            <a:off x="3942459" y="2700339"/>
            <a:ext cx="5008369" cy="28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4280694-958D-2645-AFBA-74FA7AC5BF39}"/>
              </a:ext>
            </a:extLst>
          </p:cNvPr>
          <p:cNvSpPr/>
          <p:nvPr/>
        </p:nvSpPr>
        <p:spPr>
          <a:xfrm>
            <a:off x="8431093" y="2229779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D23355-2E0D-9542-8BBE-459AC9AD525F}"/>
              </a:ext>
            </a:extLst>
          </p:cNvPr>
          <p:cNvSpPr/>
          <p:nvPr/>
        </p:nvSpPr>
        <p:spPr>
          <a:xfrm>
            <a:off x="8541299" y="3154686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A169CD-D24A-144B-8DC3-188F8CFE4987}"/>
              </a:ext>
            </a:extLst>
          </p:cNvPr>
          <p:cNvSpPr/>
          <p:nvPr/>
        </p:nvSpPr>
        <p:spPr>
          <a:xfrm>
            <a:off x="6668233" y="3071723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182D4C-E1A6-7F4B-AC44-A88EE1F2F4EF}"/>
              </a:ext>
            </a:extLst>
          </p:cNvPr>
          <p:cNvSpPr/>
          <p:nvPr/>
        </p:nvSpPr>
        <p:spPr>
          <a:xfrm>
            <a:off x="6731026" y="4202873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75E427-44A9-6345-8948-54DC11B3A609}"/>
              </a:ext>
            </a:extLst>
          </p:cNvPr>
          <p:cNvSpPr/>
          <p:nvPr/>
        </p:nvSpPr>
        <p:spPr>
          <a:xfrm>
            <a:off x="4147167" y="306672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92A34EE-3A99-AC45-A3D3-6121B2A4C15E}"/>
              </a:ext>
            </a:extLst>
          </p:cNvPr>
          <p:cNvSpPr/>
          <p:nvPr/>
        </p:nvSpPr>
        <p:spPr>
          <a:xfrm>
            <a:off x="4177533" y="388739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CB60CD-D3EA-DE41-AC42-B4434DF17334}"/>
              </a:ext>
            </a:extLst>
          </p:cNvPr>
          <p:cNvSpPr/>
          <p:nvPr/>
        </p:nvSpPr>
        <p:spPr>
          <a:xfrm>
            <a:off x="5401488" y="5284051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BA4AE9-97DD-A249-A65B-03BC531E6E1B}"/>
              </a:ext>
            </a:extLst>
          </p:cNvPr>
          <p:cNvSpPr/>
          <p:nvPr/>
        </p:nvSpPr>
        <p:spPr>
          <a:xfrm>
            <a:off x="4170800" y="5262232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4AF715-EB8F-1342-82B8-E9450262EE6D}"/>
              </a:ext>
            </a:extLst>
          </p:cNvPr>
          <p:cNvSpPr/>
          <p:nvPr/>
        </p:nvSpPr>
        <p:spPr>
          <a:xfrm>
            <a:off x="4183604" y="615898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750188-7D52-4345-A26F-C84932B8B6DA}"/>
              </a:ext>
            </a:extLst>
          </p:cNvPr>
          <p:cNvSpPr/>
          <p:nvPr/>
        </p:nvSpPr>
        <p:spPr>
          <a:xfrm>
            <a:off x="9994372" y="1467922"/>
            <a:ext cx="17783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Construir</a:t>
            </a:r>
            <a:r>
              <a:rPr lang="en-AU" dirty="0"/>
              <a:t> </a:t>
            </a:r>
            <a:r>
              <a:rPr lang="en-AU" dirty="0" err="1"/>
              <a:t>código</a:t>
            </a:r>
            <a:r>
              <a:rPr lang="en-AU" dirty="0"/>
              <a:t> </a:t>
            </a:r>
          </a:p>
          <a:p>
            <a:pPr algn="ctr"/>
            <a:r>
              <a:rPr lang="en-AU" dirty="0"/>
              <a:t>de </a:t>
            </a:r>
            <a:r>
              <a:rPr lang="en-AU" dirty="0" err="1"/>
              <a:t>cada</a:t>
            </a:r>
            <a:r>
              <a:rPr lang="en-AU" dirty="0"/>
              <a:t> </a:t>
            </a:r>
            <a:r>
              <a:rPr lang="en-AU" dirty="0" err="1"/>
              <a:t>caracter</a:t>
            </a:r>
            <a:endParaRPr lang="en-AU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A0D2603-34A2-3042-BD07-92B3BD224E05}"/>
              </a:ext>
            </a:extLst>
          </p:cNvPr>
          <p:cNvSpPr/>
          <p:nvPr/>
        </p:nvSpPr>
        <p:spPr>
          <a:xfrm>
            <a:off x="8328737" y="2956205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4745B7-2655-354E-9963-9C82BE263650}"/>
              </a:ext>
            </a:extLst>
          </p:cNvPr>
          <p:cNvSpPr/>
          <p:nvPr/>
        </p:nvSpPr>
        <p:spPr>
          <a:xfrm>
            <a:off x="6511409" y="4082155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0CDD330-E755-1846-BB7D-ABCBEC4E5E83}"/>
              </a:ext>
            </a:extLst>
          </p:cNvPr>
          <p:cNvSpPr/>
          <p:nvPr/>
        </p:nvSpPr>
        <p:spPr>
          <a:xfrm>
            <a:off x="5142615" y="5163633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BC851E6-183A-874C-B0D6-E3451481CE39}"/>
              </a:ext>
            </a:extLst>
          </p:cNvPr>
          <p:cNvCxnSpPr/>
          <p:nvPr/>
        </p:nvCxnSpPr>
        <p:spPr>
          <a:xfrm>
            <a:off x="3933544" y="5670411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7A93F545-2BE9-A64E-9FC2-DE27C2881551}"/>
              </a:ext>
            </a:extLst>
          </p:cNvPr>
          <p:cNvSpPr/>
          <p:nvPr/>
        </p:nvSpPr>
        <p:spPr>
          <a:xfrm>
            <a:off x="3951995" y="5162071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BBC7066-13DC-F945-B9A1-7F66533A8520}"/>
              </a:ext>
            </a:extLst>
          </p:cNvPr>
          <p:cNvSpPr/>
          <p:nvPr/>
        </p:nvSpPr>
        <p:spPr>
          <a:xfrm>
            <a:off x="4029075" y="3529013"/>
            <a:ext cx="5072063" cy="2597359"/>
          </a:xfrm>
          <a:custGeom>
            <a:avLst/>
            <a:gdLst>
              <a:gd name="connsiteX0" fmla="*/ 5072063 w 5072063"/>
              <a:gd name="connsiteY0" fmla="*/ 0 h 2597359"/>
              <a:gd name="connsiteX1" fmla="*/ 3271838 w 5072063"/>
              <a:gd name="connsiteY1" fmla="*/ 1214437 h 2597359"/>
              <a:gd name="connsiteX2" fmla="*/ 1414463 w 5072063"/>
              <a:gd name="connsiteY2" fmla="*/ 2457450 h 2597359"/>
              <a:gd name="connsiteX3" fmla="*/ 0 w 5072063"/>
              <a:gd name="connsiteY3" fmla="*/ 2514600 h 2597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72063" h="2597359">
                <a:moveTo>
                  <a:pt x="5072063" y="0"/>
                </a:moveTo>
                <a:lnTo>
                  <a:pt x="3271838" y="1214437"/>
                </a:lnTo>
                <a:cubicBezTo>
                  <a:pt x="2662238" y="1624012"/>
                  <a:pt x="1959769" y="2240756"/>
                  <a:pt x="1414463" y="2457450"/>
                </a:cubicBezTo>
                <a:cubicBezTo>
                  <a:pt x="869157" y="2674144"/>
                  <a:pt x="434578" y="2594372"/>
                  <a:pt x="0" y="2514600"/>
                </a:cubicBezTo>
              </a:path>
            </a:pathLst>
          </a:custGeom>
          <a:noFill/>
          <a:ln w="38100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2312C9-8193-1647-800A-D40697B3D36A}"/>
              </a:ext>
            </a:extLst>
          </p:cNvPr>
          <p:cNvSpPr/>
          <p:nvPr/>
        </p:nvSpPr>
        <p:spPr>
          <a:xfrm>
            <a:off x="4186235" y="4527971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96734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70C0"/>
                </a:solidFill>
              </a:rPr>
              <a:t>ABAABCO-ATAABCO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9499716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       		A : 0</a:t>
            </a:r>
          </a:p>
          <a:p>
            <a:endParaRPr lang="en-AU" sz="2400" dirty="0"/>
          </a:p>
          <a:p>
            <a:r>
              <a:rPr lang="en-AU" sz="2400" dirty="0"/>
              <a:t>B	: 3                                                                                               	B : 100</a:t>
            </a:r>
          </a:p>
          <a:p>
            <a:endParaRPr lang="en-AU" sz="2400" dirty="0"/>
          </a:p>
          <a:p>
            <a:r>
              <a:rPr lang="en-AU" sz="2400" dirty="0"/>
              <a:t>C	: 2								C : 101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                                           			O : 110</a:t>
            </a:r>
          </a:p>
          <a:p>
            <a:endParaRPr lang="en-AU" sz="2400" dirty="0"/>
          </a:p>
          <a:p>
            <a:r>
              <a:rPr lang="en-AU" sz="2400" dirty="0"/>
              <a:t>-	: 1               							-  : 1110</a:t>
            </a:r>
          </a:p>
          <a:p>
            <a:endParaRPr lang="en-AU" sz="2400" dirty="0"/>
          </a:p>
          <a:p>
            <a:r>
              <a:rPr lang="en-AU" sz="2400" dirty="0"/>
              <a:t>T	: 1								T : 1111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7FCA79-C1F5-7C41-B2BC-6324D1E773DF}"/>
              </a:ext>
            </a:extLst>
          </p:cNvPr>
          <p:cNvCxnSpPr/>
          <p:nvPr/>
        </p:nvCxnSpPr>
        <p:spPr>
          <a:xfrm>
            <a:off x="3924008" y="561498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E82CAF-58F9-3B4A-8CC3-866D1F7F909E}"/>
              </a:ext>
            </a:extLst>
          </p:cNvPr>
          <p:cNvCxnSpPr>
            <a:cxnSpLocks/>
          </p:cNvCxnSpPr>
          <p:nvPr/>
        </p:nvCxnSpPr>
        <p:spPr>
          <a:xfrm flipV="1">
            <a:off x="3924008" y="583864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40F7ED-C942-2D4E-8230-A6D6CFB0C6B2}"/>
              </a:ext>
            </a:extLst>
          </p:cNvPr>
          <p:cNvCxnSpPr>
            <a:cxnSpLocks/>
          </p:cNvCxnSpPr>
          <p:nvPr/>
        </p:nvCxnSpPr>
        <p:spPr>
          <a:xfrm>
            <a:off x="3924008" y="4924419"/>
            <a:ext cx="185707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629CD4-1E60-E346-BEC3-0F7E77616ABE}"/>
              </a:ext>
            </a:extLst>
          </p:cNvPr>
          <p:cNvCxnSpPr>
            <a:cxnSpLocks/>
          </p:cNvCxnSpPr>
          <p:nvPr/>
        </p:nvCxnSpPr>
        <p:spPr>
          <a:xfrm flipV="1">
            <a:off x="5033073" y="502398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668FBCB-8C88-CB4C-AF9A-046FCD3F7AF6}"/>
              </a:ext>
            </a:extLst>
          </p:cNvPr>
          <p:cNvCxnSpPr/>
          <p:nvPr/>
        </p:nvCxnSpPr>
        <p:spPr>
          <a:xfrm>
            <a:off x="3924008" y="3457398"/>
            <a:ext cx="74800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9B988B-1DA9-A340-99A7-602F145B3BD8}"/>
              </a:ext>
            </a:extLst>
          </p:cNvPr>
          <p:cNvCxnSpPr>
            <a:cxnSpLocks/>
          </p:cNvCxnSpPr>
          <p:nvPr/>
        </p:nvCxnSpPr>
        <p:spPr>
          <a:xfrm flipV="1">
            <a:off x="3924008" y="3681057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3093B9-5B41-AE4D-A062-53F68812809E}"/>
              </a:ext>
            </a:extLst>
          </p:cNvPr>
          <p:cNvCxnSpPr>
            <a:cxnSpLocks/>
          </p:cNvCxnSpPr>
          <p:nvPr/>
        </p:nvCxnSpPr>
        <p:spPr>
          <a:xfrm flipV="1">
            <a:off x="6096000" y="3570867"/>
            <a:ext cx="1747838" cy="11977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0291474-F65B-1C48-AC71-449510E7C3F5}"/>
              </a:ext>
            </a:extLst>
          </p:cNvPr>
          <p:cNvCxnSpPr>
            <a:cxnSpLocks/>
          </p:cNvCxnSpPr>
          <p:nvPr/>
        </p:nvCxnSpPr>
        <p:spPr>
          <a:xfrm flipV="1">
            <a:off x="5033073" y="3443288"/>
            <a:ext cx="28107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A27CCB9-C344-E34A-BF70-78A3B5B0F309}"/>
              </a:ext>
            </a:extLst>
          </p:cNvPr>
          <p:cNvCxnSpPr>
            <a:cxnSpLocks/>
          </p:cNvCxnSpPr>
          <p:nvPr/>
        </p:nvCxnSpPr>
        <p:spPr>
          <a:xfrm flipV="1">
            <a:off x="8202823" y="2843269"/>
            <a:ext cx="748005" cy="5050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293F41C-A655-B843-A572-42433B706BDC}"/>
              </a:ext>
            </a:extLst>
          </p:cNvPr>
          <p:cNvCxnSpPr>
            <a:cxnSpLocks/>
          </p:cNvCxnSpPr>
          <p:nvPr/>
        </p:nvCxnSpPr>
        <p:spPr>
          <a:xfrm flipV="1">
            <a:off x="3942459" y="2700339"/>
            <a:ext cx="5008369" cy="28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4280694-958D-2645-AFBA-74FA7AC5BF39}"/>
              </a:ext>
            </a:extLst>
          </p:cNvPr>
          <p:cNvSpPr/>
          <p:nvPr/>
        </p:nvSpPr>
        <p:spPr>
          <a:xfrm>
            <a:off x="8431093" y="2229779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D23355-2E0D-9542-8BBE-459AC9AD525F}"/>
              </a:ext>
            </a:extLst>
          </p:cNvPr>
          <p:cNvSpPr/>
          <p:nvPr/>
        </p:nvSpPr>
        <p:spPr>
          <a:xfrm>
            <a:off x="8541299" y="3154686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A169CD-D24A-144B-8DC3-188F8CFE4987}"/>
              </a:ext>
            </a:extLst>
          </p:cNvPr>
          <p:cNvSpPr/>
          <p:nvPr/>
        </p:nvSpPr>
        <p:spPr>
          <a:xfrm>
            <a:off x="6668233" y="3071723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182D4C-E1A6-7F4B-AC44-A88EE1F2F4EF}"/>
              </a:ext>
            </a:extLst>
          </p:cNvPr>
          <p:cNvSpPr/>
          <p:nvPr/>
        </p:nvSpPr>
        <p:spPr>
          <a:xfrm>
            <a:off x="6731026" y="4202873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75E427-44A9-6345-8948-54DC11B3A609}"/>
              </a:ext>
            </a:extLst>
          </p:cNvPr>
          <p:cNvSpPr/>
          <p:nvPr/>
        </p:nvSpPr>
        <p:spPr>
          <a:xfrm>
            <a:off x="4147167" y="306672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92A34EE-3A99-AC45-A3D3-6121B2A4C15E}"/>
              </a:ext>
            </a:extLst>
          </p:cNvPr>
          <p:cNvSpPr/>
          <p:nvPr/>
        </p:nvSpPr>
        <p:spPr>
          <a:xfrm>
            <a:off x="4177533" y="388739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CB60CD-D3EA-DE41-AC42-B4434DF17334}"/>
              </a:ext>
            </a:extLst>
          </p:cNvPr>
          <p:cNvSpPr/>
          <p:nvPr/>
        </p:nvSpPr>
        <p:spPr>
          <a:xfrm>
            <a:off x="5401488" y="5284051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BA4AE9-97DD-A249-A65B-03BC531E6E1B}"/>
              </a:ext>
            </a:extLst>
          </p:cNvPr>
          <p:cNvSpPr/>
          <p:nvPr/>
        </p:nvSpPr>
        <p:spPr>
          <a:xfrm>
            <a:off x="4170800" y="5262232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4AF715-EB8F-1342-82B8-E9450262EE6D}"/>
              </a:ext>
            </a:extLst>
          </p:cNvPr>
          <p:cNvSpPr/>
          <p:nvPr/>
        </p:nvSpPr>
        <p:spPr>
          <a:xfrm>
            <a:off x="4183604" y="615898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1</a:t>
            </a:r>
            <a:endParaRPr lang="es-ES_tradnl" dirty="0">
              <a:solidFill>
                <a:schemeClr val="accent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750188-7D52-4345-A26F-C84932B8B6DA}"/>
              </a:ext>
            </a:extLst>
          </p:cNvPr>
          <p:cNvSpPr/>
          <p:nvPr/>
        </p:nvSpPr>
        <p:spPr>
          <a:xfrm>
            <a:off x="9994372" y="1467922"/>
            <a:ext cx="17783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Construir</a:t>
            </a:r>
            <a:r>
              <a:rPr lang="en-AU" dirty="0"/>
              <a:t> </a:t>
            </a:r>
            <a:r>
              <a:rPr lang="en-AU" dirty="0" err="1"/>
              <a:t>código</a:t>
            </a:r>
            <a:r>
              <a:rPr lang="en-AU" dirty="0"/>
              <a:t> </a:t>
            </a:r>
          </a:p>
          <a:p>
            <a:pPr algn="ctr"/>
            <a:r>
              <a:rPr lang="en-AU" dirty="0"/>
              <a:t>de </a:t>
            </a:r>
            <a:r>
              <a:rPr lang="en-AU" dirty="0" err="1"/>
              <a:t>cada</a:t>
            </a:r>
            <a:r>
              <a:rPr lang="en-AU" dirty="0"/>
              <a:t> </a:t>
            </a:r>
            <a:r>
              <a:rPr lang="en-AU" dirty="0" err="1"/>
              <a:t>caracter</a:t>
            </a:r>
            <a:endParaRPr lang="en-AU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5CAA3C2-EC87-5D4D-8158-194D47902797}"/>
              </a:ext>
            </a:extLst>
          </p:cNvPr>
          <p:cNvSpPr/>
          <p:nvPr/>
        </p:nvSpPr>
        <p:spPr>
          <a:xfrm>
            <a:off x="8328737" y="2956205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7CE9F01-67A8-144C-97B0-ECAAE012BE88}"/>
              </a:ext>
            </a:extLst>
          </p:cNvPr>
          <p:cNvSpPr/>
          <p:nvPr/>
        </p:nvSpPr>
        <p:spPr>
          <a:xfrm>
            <a:off x="6511409" y="4082155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3182BC4-DB11-8742-84BA-989E718888BA}"/>
              </a:ext>
            </a:extLst>
          </p:cNvPr>
          <p:cNvSpPr/>
          <p:nvPr/>
        </p:nvSpPr>
        <p:spPr>
          <a:xfrm>
            <a:off x="5142615" y="5163633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C0CA933-603F-3645-9514-3B036A4624E9}"/>
              </a:ext>
            </a:extLst>
          </p:cNvPr>
          <p:cNvSpPr/>
          <p:nvPr/>
        </p:nvSpPr>
        <p:spPr>
          <a:xfrm>
            <a:off x="3951995" y="6019331"/>
            <a:ext cx="748005" cy="61466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3A0D4C1A-9F34-C048-ACB2-0E5C7FD48B1C}"/>
              </a:ext>
            </a:extLst>
          </p:cNvPr>
          <p:cNvSpPr/>
          <p:nvPr/>
        </p:nvSpPr>
        <p:spPr>
          <a:xfrm>
            <a:off x="4029075" y="3315001"/>
            <a:ext cx="5472113" cy="3397163"/>
          </a:xfrm>
          <a:custGeom>
            <a:avLst/>
            <a:gdLst>
              <a:gd name="connsiteX0" fmla="*/ 5072063 w 5072063"/>
              <a:gd name="connsiteY0" fmla="*/ 0 h 2597359"/>
              <a:gd name="connsiteX1" fmla="*/ 3271838 w 5072063"/>
              <a:gd name="connsiteY1" fmla="*/ 1214437 h 2597359"/>
              <a:gd name="connsiteX2" fmla="*/ 1414463 w 5072063"/>
              <a:gd name="connsiteY2" fmla="*/ 2457450 h 2597359"/>
              <a:gd name="connsiteX3" fmla="*/ 0 w 5072063"/>
              <a:gd name="connsiteY3" fmla="*/ 2514600 h 2597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72063" h="2597359">
                <a:moveTo>
                  <a:pt x="5072063" y="0"/>
                </a:moveTo>
                <a:lnTo>
                  <a:pt x="3271838" y="1214437"/>
                </a:lnTo>
                <a:cubicBezTo>
                  <a:pt x="2662238" y="1624012"/>
                  <a:pt x="1959769" y="2240756"/>
                  <a:pt x="1414463" y="2457450"/>
                </a:cubicBezTo>
                <a:cubicBezTo>
                  <a:pt x="869157" y="2674144"/>
                  <a:pt x="434578" y="2594372"/>
                  <a:pt x="0" y="2514600"/>
                </a:cubicBezTo>
              </a:path>
            </a:pathLst>
          </a:custGeom>
          <a:noFill/>
          <a:ln w="38100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F4F706E-6F81-A042-B6A1-CF1B649C333C}"/>
              </a:ext>
            </a:extLst>
          </p:cNvPr>
          <p:cNvSpPr/>
          <p:nvPr/>
        </p:nvSpPr>
        <p:spPr>
          <a:xfrm>
            <a:off x="4186235" y="4527971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>
                <a:solidFill>
                  <a:schemeClr val="accent2"/>
                </a:solidFill>
              </a:rPr>
              <a:t>0</a:t>
            </a:r>
            <a:endParaRPr lang="es-ES_tradnl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98050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70C0"/>
                </a:solidFill>
              </a:rPr>
              <a:t>ABAABCO-ATAABCO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9499716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       		A : 0</a:t>
            </a:r>
          </a:p>
          <a:p>
            <a:endParaRPr lang="en-AU" sz="2400" dirty="0"/>
          </a:p>
          <a:p>
            <a:r>
              <a:rPr lang="en-AU" sz="2400" dirty="0"/>
              <a:t>B	: 3                                                                                               	B : 100</a:t>
            </a:r>
          </a:p>
          <a:p>
            <a:endParaRPr lang="en-AU" sz="2400" dirty="0"/>
          </a:p>
          <a:p>
            <a:r>
              <a:rPr lang="en-AU" sz="2400" dirty="0"/>
              <a:t>C	: 2								C : 101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                                           			O : 110</a:t>
            </a:r>
          </a:p>
          <a:p>
            <a:endParaRPr lang="en-AU" sz="2400" dirty="0"/>
          </a:p>
          <a:p>
            <a:r>
              <a:rPr lang="en-AU" sz="2400" dirty="0"/>
              <a:t>-	: 1               							-  : 1110</a:t>
            </a:r>
          </a:p>
          <a:p>
            <a:endParaRPr lang="en-AU" sz="2400" dirty="0"/>
          </a:p>
          <a:p>
            <a:r>
              <a:rPr lang="en-AU" sz="2400" dirty="0"/>
              <a:t>T	: 1								T : 1111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750188-7D52-4345-A26F-C84932B8B6DA}"/>
              </a:ext>
            </a:extLst>
          </p:cNvPr>
          <p:cNvSpPr/>
          <p:nvPr/>
        </p:nvSpPr>
        <p:spPr>
          <a:xfrm>
            <a:off x="9994372" y="1467922"/>
            <a:ext cx="17783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Construir</a:t>
            </a:r>
            <a:r>
              <a:rPr lang="en-AU" dirty="0"/>
              <a:t> </a:t>
            </a:r>
            <a:r>
              <a:rPr lang="en-AU" dirty="0" err="1"/>
              <a:t>código</a:t>
            </a:r>
            <a:r>
              <a:rPr lang="en-AU" dirty="0"/>
              <a:t> </a:t>
            </a:r>
          </a:p>
          <a:p>
            <a:pPr algn="ctr"/>
            <a:r>
              <a:rPr lang="en-AU" dirty="0"/>
              <a:t>de </a:t>
            </a:r>
            <a:r>
              <a:rPr lang="en-AU" dirty="0" err="1"/>
              <a:t>cada</a:t>
            </a:r>
            <a:r>
              <a:rPr lang="en-AU" dirty="0"/>
              <a:t> </a:t>
            </a:r>
            <a:r>
              <a:rPr lang="en-AU" dirty="0" err="1"/>
              <a:t>caracter</a:t>
            </a:r>
            <a:endParaRPr lang="en-AU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6DA4042-551E-C043-A98B-DBD4052BC899}"/>
              </a:ext>
            </a:extLst>
          </p:cNvPr>
          <p:cNvSpPr/>
          <p:nvPr/>
        </p:nvSpPr>
        <p:spPr>
          <a:xfrm>
            <a:off x="628650" y="2243138"/>
            <a:ext cx="3800475" cy="4614862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992884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B050"/>
                </a:solidFill>
              </a:rPr>
              <a:t>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00B050"/>
                </a:solidFill>
              </a:rPr>
              <a:t>AA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FF0000"/>
                </a:solidFill>
              </a:rPr>
              <a:t>C</a:t>
            </a:r>
            <a:r>
              <a:rPr lang="en-AU" sz="2400" dirty="0">
                <a:solidFill>
                  <a:schemeClr val="accent2"/>
                </a:solidFill>
              </a:rPr>
              <a:t>O</a:t>
            </a:r>
            <a:r>
              <a:rPr lang="en-AU" sz="2400" dirty="0"/>
              <a:t>-</a:t>
            </a:r>
            <a:r>
              <a:rPr lang="en-AU" sz="2400" dirty="0">
                <a:solidFill>
                  <a:srgbClr val="00B050"/>
                </a:solidFill>
              </a:rPr>
              <a:t>A</a:t>
            </a:r>
            <a:r>
              <a:rPr lang="en-AU" sz="2400" dirty="0">
                <a:solidFill>
                  <a:schemeClr val="accent4">
                    <a:lumMod val="75000"/>
                  </a:schemeClr>
                </a:solidFill>
              </a:rPr>
              <a:t>T</a:t>
            </a:r>
            <a:r>
              <a:rPr lang="en-AU" sz="2400" dirty="0">
                <a:solidFill>
                  <a:srgbClr val="00B050"/>
                </a:solidFill>
              </a:rPr>
              <a:t>AA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FF0000"/>
                </a:solidFill>
              </a:rPr>
              <a:t>C</a:t>
            </a:r>
            <a:r>
              <a:rPr lang="en-AU" sz="2400" dirty="0">
                <a:solidFill>
                  <a:schemeClr val="accent2"/>
                </a:solidFill>
              </a:rPr>
              <a:t>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9499716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       		</a:t>
            </a:r>
            <a:r>
              <a:rPr lang="en-AU" sz="2400" dirty="0">
                <a:solidFill>
                  <a:srgbClr val="00B050"/>
                </a:solidFill>
              </a:rPr>
              <a:t>A : 0</a:t>
            </a:r>
          </a:p>
          <a:p>
            <a:endParaRPr lang="en-AU" sz="2400" dirty="0"/>
          </a:p>
          <a:p>
            <a:r>
              <a:rPr lang="en-AU" sz="2400" dirty="0"/>
              <a:t>B	: 3                                                                                               	</a:t>
            </a:r>
            <a:r>
              <a:rPr lang="en-AU" sz="2400" dirty="0">
                <a:solidFill>
                  <a:srgbClr val="0070C0"/>
                </a:solidFill>
              </a:rPr>
              <a:t>B : 100</a:t>
            </a:r>
          </a:p>
          <a:p>
            <a:endParaRPr lang="en-AU" sz="2400" dirty="0"/>
          </a:p>
          <a:p>
            <a:r>
              <a:rPr lang="en-AU" sz="2400" dirty="0"/>
              <a:t>C	: 2								</a:t>
            </a:r>
            <a:r>
              <a:rPr lang="en-AU" sz="2400" dirty="0">
                <a:solidFill>
                  <a:srgbClr val="FF0000"/>
                </a:solidFill>
              </a:rPr>
              <a:t>C : 101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                                           			</a:t>
            </a:r>
            <a:r>
              <a:rPr lang="en-AU" sz="2400" dirty="0">
                <a:solidFill>
                  <a:schemeClr val="accent2"/>
                </a:solidFill>
              </a:rPr>
              <a:t>O : 110</a:t>
            </a:r>
          </a:p>
          <a:p>
            <a:endParaRPr lang="en-AU" sz="2400" dirty="0"/>
          </a:p>
          <a:p>
            <a:r>
              <a:rPr lang="en-AU" sz="2400" dirty="0"/>
              <a:t>-	: 1               							-  : 1110</a:t>
            </a:r>
          </a:p>
          <a:p>
            <a:endParaRPr lang="en-AU" sz="2400" dirty="0"/>
          </a:p>
          <a:p>
            <a:r>
              <a:rPr lang="en-AU" sz="2400" dirty="0"/>
              <a:t>T	: 1								</a:t>
            </a:r>
            <a:r>
              <a:rPr lang="en-AU" sz="2400" dirty="0">
                <a:solidFill>
                  <a:schemeClr val="accent4">
                    <a:lumMod val="75000"/>
                  </a:schemeClr>
                </a:solidFill>
              </a:rPr>
              <a:t>T : 1111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750188-7D52-4345-A26F-C84932B8B6DA}"/>
              </a:ext>
            </a:extLst>
          </p:cNvPr>
          <p:cNvSpPr/>
          <p:nvPr/>
        </p:nvSpPr>
        <p:spPr>
          <a:xfrm>
            <a:off x="9994372" y="1467922"/>
            <a:ext cx="17783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Construir</a:t>
            </a:r>
            <a:r>
              <a:rPr lang="en-AU" dirty="0"/>
              <a:t> </a:t>
            </a:r>
            <a:r>
              <a:rPr lang="en-AU" dirty="0" err="1"/>
              <a:t>código</a:t>
            </a:r>
            <a:r>
              <a:rPr lang="en-AU" dirty="0"/>
              <a:t> </a:t>
            </a:r>
          </a:p>
          <a:p>
            <a:pPr algn="ctr"/>
            <a:r>
              <a:rPr lang="en-AU" dirty="0"/>
              <a:t>de </a:t>
            </a:r>
            <a:r>
              <a:rPr lang="en-AU" dirty="0" err="1"/>
              <a:t>cada</a:t>
            </a:r>
            <a:r>
              <a:rPr lang="en-AU" dirty="0"/>
              <a:t> </a:t>
            </a:r>
            <a:r>
              <a:rPr lang="en-AU" dirty="0" err="1"/>
              <a:t>caracter</a:t>
            </a:r>
            <a:endParaRPr lang="en-AU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6DA4042-551E-C043-A98B-DBD4052BC899}"/>
              </a:ext>
            </a:extLst>
          </p:cNvPr>
          <p:cNvSpPr/>
          <p:nvPr/>
        </p:nvSpPr>
        <p:spPr>
          <a:xfrm>
            <a:off x="628650" y="2243138"/>
            <a:ext cx="3800475" cy="4614862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D8A450-BB5B-754C-8BAC-2345BE66BBFE}"/>
              </a:ext>
            </a:extLst>
          </p:cNvPr>
          <p:cNvSpPr/>
          <p:nvPr/>
        </p:nvSpPr>
        <p:spPr>
          <a:xfrm>
            <a:off x="628650" y="3331309"/>
            <a:ext cx="10171374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4400" dirty="0">
                <a:solidFill>
                  <a:srgbClr val="00B050"/>
                </a:solidFill>
              </a:rPr>
              <a:t>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00B050"/>
                </a:solidFill>
              </a:rPr>
              <a:t>00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FF0000"/>
                </a:solidFill>
              </a:rPr>
              <a:t>101</a:t>
            </a:r>
            <a:r>
              <a:rPr lang="en-AU" sz="4400" dirty="0">
                <a:solidFill>
                  <a:schemeClr val="accent2"/>
                </a:solidFill>
              </a:rPr>
              <a:t>110</a:t>
            </a:r>
            <a:r>
              <a:rPr lang="en-AU" sz="4400" dirty="0"/>
              <a:t>1110</a:t>
            </a:r>
            <a:r>
              <a:rPr lang="en-AU" sz="4400" dirty="0">
                <a:solidFill>
                  <a:srgbClr val="00B050"/>
                </a:solidFill>
              </a:rPr>
              <a:t>0</a:t>
            </a:r>
            <a:r>
              <a:rPr lang="en-AU" sz="4400" dirty="0">
                <a:solidFill>
                  <a:schemeClr val="accent4">
                    <a:lumMod val="75000"/>
                  </a:schemeClr>
                </a:solidFill>
              </a:rPr>
              <a:t>1111</a:t>
            </a:r>
            <a:r>
              <a:rPr lang="en-AU" sz="4400" dirty="0">
                <a:solidFill>
                  <a:srgbClr val="00B050"/>
                </a:solidFill>
              </a:rPr>
              <a:t>00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FF0000"/>
                </a:solidFill>
              </a:rPr>
              <a:t>101</a:t>
            </a:r>
            <a:r>
              <a:rPr lang="en-AU" sz="4400" dirty="0">
                <a:solidFill>
                  <a:schemeClr val="accent2"/>
                </a:solidFill>
              </a:rPr>
              <a:t>110</a:t>
            </a:r>
            <a:endParaRPr lang="es-ES_tradnl" sz="44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C7EBD1-EC08-1941-B898-0B6867D51952}"/>
              </a:ext>
            </a:extLst>
          </p:cNvPr>
          <p:cNvSpPr/>
          <p:nvPr/>
        </p:nvSpPr>
        <p:spPr>
          <a:xfrm>
            <a:off x="339745" y="2372023"/>
            <a:ext cx="10440401" cy="4614862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773499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B050"/>
                </a:solidFill>
              </a:rPr>
              <a:t>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00B050"/>
                </a:solidFill>
              </a:rPr>
              <a:t>AA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FF0000"/>
                </a:solidFill>
              </a:rPr>
              <a:t>C</a:t>
            </a:r>
            <a:r>
              <a:rPr lang="en-AU" sz="2400" dirty="0">
                <a:solidFill>
                  <a:schemeClr val="accent2"/>
                </a:solidFill>
              </a:rPr>
              <a:t>O</a:t>
            </a:r>
            <a:r>
              <a:rPr lang="en-AU" sz="2400" dirty="0"/>
              <a:t>-</a:t>
            </a:r>
            <a:r>
              <a:rPr lang="en-AU" sz="2400" dirty="0">
                <a:solidFill>
                  <a:srgbClr val="00B050"/>
                </a:solidFill>
              </a:rPr>
              <a:t>A</a:t>
            </a:r>
            <a:r>
              <a:rPr lang="en-AU" sz="2400" dirty="0">
                <a:solidFill>
                  <a:schemeClr val="accent4">
                    <a:lumMod val="75000"/>
                  </a:schemeClr>
                </a:solidFill>
              </a:rPr>
              <a:t>T</a:t>
            </a:r>
            <a:r>
              <a:rPr lang="en-AU" sz="2400" dirty="0">
                <a:solidFill>
                  <a:srgbClr val="00B050"/>
                </a:solidFill>
              </a:rPr>
              <a:t>AA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FF0000"/>
                </a:solidFill>
              </a:rPr>
              <a:t>C</a:t>
            </a:r>
            <a:r>
              <a:rPr lang="en-AU" sz="2400" dirty="0">
                <a:solidFill>
                  <a:schemeClr val="accent2"/>
                </a:solidFill>
              </a:rPr>
              <a:t>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9499716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       		</a:t>
            </a:r>
            <a:r>
              <a:rPr lang="en-AU" sz="2400" dirty="0">
                <a:solidFill>
                  <a:srgbClr val="00B050"/>
                </a:solidFill>
              </a:rPr>
              <a:t>A : 0</a:t>
            </a:r>
          </a:p>
          <a:p>
            <a:endParaRPr lang="en-AU" sz="2400" dirty="0"/>
          </a:p>
          <a:p>
            <a:r>
              <a:rPr lang="en-AU" sz="2400" dirty="0"/>
              <a:t>B	: 3                                                                                               	</a:t>
            </a:r>
            <a:r>
              <a:rPr lang="en-AU" sz="2400" dirty="0">
                <a:solidFill>
                  <a:srgbClr val="0070C0"/>
                </a:solidFill>
              </a:rPr>
              <a:t>B : 100</a:t>
            </a:r>
          </a:p>
          <a:p>
            <a:endParaRPr lang="en-AU" sz="2400" dirty="0"/>
          </a:p>
          <a:p>
            <a:r>
              <a:rPr lang="en-AU" sz="2400" dirty="0"/>
              <a:t>C	: 2								</a:t>
            </a:r>
            <a:r>
              <a:rPr lang="en-AU" sz="2400" dirty="0">
                <a:solidFill>
                  <a:srgbClr val="FF0000"/>
                </a:solidFill>
              </a:rPr>
              <a:t>C : 101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                                           			</a:t>
            </a:r>
            <a:r>
              <a:rPr lang="en-AU" sz="2400" dirty="0">
                <a:solidFill>
                  <a:schemeClr val="accent2"/>
                </a:solidFill>
              </a:rPr>
              <a:t>O : 110</a:t>
            </a:r>
          </a:p>
          <a:p>
            <a:endParaRPr lang="en-AU" sz="2400" dirty="0"/>
          </a:p>
          <a:p>
            <a:r>
              <a:rPr lang="en-AU" sz="2400" dirty="0"/>
              <a:t>-	: 1               							-  : 1110</a:t>
            </a:r>
          </a:p>
          <a:p>
            <a:endParaRPr lang="en-AU" sz="2400" dirty="0"/>
          </a:p>
          <a:p>
            <a:r>
              <a:rPr lang="en-AU" sz="2400" dirty="0"/>
              <a:t>T	: 1								</a:t>
            </a:r>
            <a:r>
              <a:rPr lang="en-AU" sz="2400" dirty="0">
                <a:solidFill>
                  <a:schemeClr val="accent4">
                    <a:lumMod val="75000"/>
                  </a:schemeClr>
                </a:solidFill>
              </a:rPr>
              <a:t>T : 1111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750188-7D52-4345-A26F-C84932B8B6DA}"/>
              </a:ext>
            </a:extLst>
          </p:cNvPr>
          <p:cNvSpPr/>
          <p:nvPr/>
        </p:nvSpPr>
        <p:spPr>
          <a:xfrm>
            <a:off x="9994372" y="1467922"/>
            <a:ext cx="17783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Construir</a:t>
            </a:r>
            <a:r>
              <a:rPr lang="en-AU" dirty="0"/>
              <a:t> </a:t>
            </a:r>
            <a:r>
              <a:rPr lang="en-AU" dirty="0" err="1"/>
              <a:t>código</a:t>
            </a:r>
            <a:r>
              <a:rPr lang="en-AU" dirty="0"/>
              <a:t> </a:t>
            </a:r>
          </a:p>
          <a:p>
            <a:pPr algn="ctr"/>
            <a:r>
              <a:rPr lang="en-AU" dirty="0"/>
              <a:t>de </a:t>
            </a:r>
            <a:r>
              <a:rPr lang="en-AU" dirty="0" err="1"/>
              <a:t>cada</a:t>
            </a:r>
            <a:r>
              <a:rPr lang="en-AU" dirty="0"/>
              <a:t> </a:t>
            </a:r>
            <a:r>
              <a:rPr lang="en-AU" dirty="0" err="1"/>
              <a:t>caracter</a:t>
            </a:r>
            <a:endParaRPr lang="en-AU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6DA4042-551E-C043-A98B-DBD4052BC899}"/>
              </a:ext>
            </a:extLst>
          </p:cNvPr>
          <p:cNvSpPr/>
          <p:nvPr/>
        </p:nvSpPr>
        <p:spPr>
          <a:xfrm>
            <a:off x="628650" y="2243138"/>
            <a:ext cx="3800475" cy="4614862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D8A450-BB5B-754C-8BAC-2345BE66BBFE}"/>
              </a:ext>
            </a:extLst>
          </p:cNvPr>
          <p:cNvSpPr/>
          <p:nvPr/>
        </p:nvSpPr>
        <p:spPr>
          <a:xfrm>
            <a:off x="628650" y="3331309"/>
            <a:ext cx="10171374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4400" dirty="0">
                <a:solidFill>
                  <a:srgbClr val="00B050"/>
                </a:solidFill>
              </a:rPr>
              <a:t>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00B050"/>
                </a:solidFill>
              </a:rPr>
              <a:t>00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FF0000"/>
                </a:solidFill>
              </a:rPr>
              <a:t>101</a:t>
            </a:r>
            <a:r>
              <a:rPr lang="en-AU" sz="4400" dirty="0">
                <a:solidFill>
                  <a:schemeClr val="accent2"/>
                </a:solidFill>
              </a:rPr>
              <a:t>110</a:t>
            </a:r>
            <a:r>
              <a:rPr lang="en-AU" sz="4400" dirty="0"/>
              <a:t>1110</a:t>
            </a:r>
            <a:r>
              <a:rPr lang="en-AU" sz="4400" dirty="0">
                <a:solidFill>
                  <a:srgbClr val="00B050"/>
                </a:solidFill>
              </a:rPr>
              <a:t>0</a:t>
            </a:r>
            <a:r>
              <a:rPr lang="en-AU" sz="4400" dirty="0">
                <a:solidFill>
                  <a:schemeClr val="accent4">
                    <a:lumMod val="75000"/>
                  </a:schemeClr>
                </a:solidFill>
              </a:rPr>
              <a:t>1111</a:t>
            </a:r>
            <a:r>
              <a:rPr lang="en-AU" sz="4400" dirty="0">
                <a:solidFill>
                  <a:srgbClr val="00B050"/>
                </a:solidFill>
              </a:rPr>
              <a:t>00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FF0000"/>
                </a:solidFill>
              </a:rPr>
              <a:t>101</a:t>
            </a:r>
            <a:r>
              <a:rPr lang="en-AU" sz="4400" dirty="0">
                <a:solidFill>
                  <a:schemeClr val="accent2"/>
                </a:solidFill>
              </a:rPr>
              <a:t>110</a:t>
            </a:r>
            <a:endParaRPr lang="es-ES_tradnl" sz="44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C7EBD1-EC08-1941-B898-0B6867D51952}"/>
              </a:ext>
            </a:extLst>
          </p:cNvPr>
          <p:cNvSpPr/>
          <p:nvPr/>
        </p:nvSpPr>
        <p:spPr>
          <a:xfrm>
            <a:off x="1034172" y="2372023"/>
            <a:ext cx="9745974" cy="4614862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918CDBA-1F86-F347-A34A-F84F30CD2DDE}"/>
              </a:ext>
            </a:extLst>
          </p:cNvPr>
          <p:cNvCxnSpPr/>
          <p:nvPr/>
        </p:nvCxnSpPr>
        <p:spPr>
          <a:xfrm flipH="1">
            <a:off x="1034172" y="2114253"/>
            <a:ext cx="4849793" cy="1314747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0AFD56A-3D27-FE44-AA8C-6431F20C925F}"/>
              </a:ext>
            </a:extLst>
          </p:cNvPr>
          <p:cNvSpPr/>
          <p:nvPr/>
        </p:nvSpPr>
        <p:spPr>
          <a:xfrm>
            <a:off x="10488692" y="2372023"/>
            <a:ext cx="1363563" cy="595312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219278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B050"/>
                </a:solidFill>
              </a:rPr>
              <a:t>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00B050"/>
                </a:solidFill>
              </a:rPr>
              <a:t>AA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FF0000"/>
                </a:solidFill>
              </a:rPr>
              <a:t>C</a:t>
            </a:r>
            <a:r>
              <a:rPr lang="en-AU" sz="2400" dirty="0">
                <a:solidFill>
                  <a:schemeClr val="accent2"/>
                </a:solidFill>
              </a:rPr>
              <a:t>O</a:t>
            </a:r>
            <a:r>
              <a:rPr lang="en-AU" sz="2400" dirty="0"/>
              <a:t>-</a:t>
            </a:r>
            <a:r>
              <a:rPr lang="en-AU" sz="2400" dirty="0">
                <a:solidFill>
                  <a:srgbClr val="00B050"/>
                </a:solidFill>
              </a:rPr>
              <a:t>A</a:t>
            </a:r>
            <a:r>
              <a:rPr lang="en-AU" sz="2400" dirty="0">
                <a:solidFill>
                  <a:schemeClr val="accent4">
                    <a:lumMod val="75000"/>
                  </a:schemeClr>
                </a:solidFill>
              </a:rPr>
              <a:t>T</a:t>
            </a:r>
            <a:r>
              <a:rPr lang="en-AU" sz="2400" dirty="0">
                <a:solidFill>
                  <a:srgbClr val="00B050"/>
                </a:solidFill>
              </a:rPr>
              <a:t>AA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FF0000"/>
                </a:solidFill>
              </a:rPr>
              <a:t>C</a:t>
            </a:r>
            <a:r>
              <a:rPr lang="en-AU" sz="2400" dirty="0">
                <a:solidFill>
                  <a:schemeClr val="accent2"/>
                </a:solidFill>
              </a:rPr>
              <a:t>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9499716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       		</a:t>
            </a:r>
            <a:r>
              <a:rPr lang="en-AU" sz="2400" dirty="0">
                <a:solidFill>
                  <a:srgbClr val="00B050"/>
                </a:solidFill>
              </a:rPr>
              <a:t>A : 0</a:t>
            </a:r>
          </a:p>
          <a:p>
            <a:endParaRPr lang="en-AU" sz="2400" dirty="0"/>
          </a:p>
          <a:p>
            <a:r>
              <a:rPr lang="en-AU" sz="2400" dirty="0"/>
              <a:t>B	: 3                                                                                               	</a:t>
            </a:r>
            <a:r>
              <a:rPr lang="en-AU" sz="2400" dirty="0">
                <a:solidFill>
                  <a:srgbClr val="0070C0"/>
                </a:solidFill>
              </a:rPr>
              <a:t>B : 100</a:t>
            </a:r>
          </a:p>
          <a:p>
            <a:endParaRPr lang="en-AU" sz="2400" dirty="0"/>
          </a:p>
          <a:p>
            <a:r>
              <a:rPr lang="en-AU" sz="2400" dirty="0"/>
              <a:t>C	: 2								</a:t>
            </a:r>
            <a:r>
              <a:rPr lang="en-AU" sz="2400" dirty="0">
                <a:solidFill>
                  <a:srgbClr val="FF0000"/>
                </a:solidFill>
              </a:rPr>
              <a:t>C : 101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                                           			</a:t>
            </a:r>
            <a:r>
              <a:rPr lang="en-AU" sz="2400" dirty="0">
                <a:solidFill>
                  <a:schemeClr val="accent2"/>
                </a:solidFill>
              </a:rPr>
              <a:t>O : 110</a:t>
            </a:r>
          </a:p>
          <a:p>
            <a:endParaRPr lang="en-AU" sz="2400" dirty="0"/>
          </a:p>
          <a:p>
            <a:r>
              <a:rPr lang="en-AU" sz="2400" dirty="0"/>
              <a:t>-	: 1               							-  : 1110</a:t>
            </a:r>
          </a:p>
          <a:p>
            <a:endParaRPr lang="en-AU" sz="2400" dirty="0"/>
          </a:p>
          <a:p>
            <a:r>
              <a:rPr lang="en-AU" sz="2400" dirty="0"/>
              <a:t>T	: 1								</a:t>
            </a:r>
            <a:r>
              <a:rPr lang="en-AU" sz="2400" dirty="0">
                <a:solidFill>
                  <a:schemeClr val="accent4">
                    <a:lumMod val="75000"/>
                  </a:schemeClr>
                </a:solidFill>
              </a:rPr>
              <a:t>T : 1111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750188-7D52-4345-A26F-C84932B8B6DA}"/>
              </a:ext>
            </a:extLst>
          </p:cNvPr>
          <p:cNvSpPr/>
          <p:nvPr/>
        </p:nvSpPr>
        <p:spPr>
          <a:xfrm>
            <a:off x="9994372" y="1467922"/>
            <a:ext cx="17783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Construir</a:t>
            </a:r>
            <a:r>
              <a:rPr lang="en-AU" dirty="0"/>
              <a:t> </a:t>
            </a:r>
            <a:r>
              <a:rPr lang="en-AU" dirty="0" err="1"/>
              <a:t>código</a:t>
            </a:r>
            <a:r>
              <a:rPr lang="en-AU" dirty="0"/>
              <a:t> </a:t>
            </a:r>
          </a:p>
          <a:p>
            <a:pPr algn="ctr"/>
            <a:r>
              <a:rPr lang="en-AU" dirty="0"/>
              <a:t>de </a:t>
            </a:r>
            <a:r>
              <a:rPr lang="en-AU" dirty="0" err="1"/>
              <a:t>cada</a:t>
            </a:r>
            <a:r>
              <a:rPr lang="en-AU" dirty="0"/>
              <a:t> </a:t>
            </a:r>
            <a:r>
              <a:rPr lang="en-AU" dirty="0" err="1"/>
              <a:t>caracter</a:t>
            </a:r>
            <a:endParaRPr lang="en-AU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6DA4042-551E-C043-A98B-DBD4052BC899}"/>
              </a:ext>
            </a:extLst>
          </p:cNvPr>
          <p:cNvSpPr/>
          <p:nvPr/>
        </p:nvSpPr>
        <p:spPr>
          <a:xfrm>
            <a:off x="628650" y="2243138"/>
            <a:ext cx="3800475" cy="4614862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D8A450-BB5B-754C-8BAC-2345BE66BBFE}"/>
              </a:ext>
            </a:extLst>
          </p:cNvPr>
          <p:cNvSpPr/>
          <p:nvPr/>
        </p:nvSpPr>
        <p:spPr>
          <a:xfrm>
            <a:off x="628650" y="3331309"/>
            <a:ext cx="10171374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4400" dirty="0">
                <a:solidFill>
                  <a:srgbClr val="00B050"/>
                </a:solidFill>
              </a:rPr>
              <a:t>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00B050"/>
                </a:solidFill>
              </a:rPr>
              <a:t>00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FF0000"/>
                </a:solidFill>
              </a:rPr>
              <a:t>101</a:t>
            </a:r>
            <a:r>
              <a:rPr lang="en-AU" sz="4400" dirty="0">
                <a:solidFill>
                  <a:schemeClr val="accent2"/>
                </a:solidFill>
              </a:rPr>
              <a:t>110</a:t>
            </a:r>
            <a:r>
              <a:rPr lang="en-AU" sz="4400" dirty="0"/>
              <a:t>1110</a:t>
            </a:r>
            <a:r>
              <a:rPr lang="en-AU" sz="4400" dirty="0">
                <a:solidFill>
                  <a:srgbClr val="00B050"/>
                </a:solidFill>
              </a:rPr>
              <a:t>0</a:t>
            </a:r>
            <a:r>
              <a:rPr lang="en-AU" sz="4400" dirty="0">
                <a:solidFill>
                  <a:schemeClr val="accent4">
                    <a:lumMod val="75000"/>
                  </a:schemeClr>
                </a:solidFill>
              </a:rPr>
              <a:t>1111</a:t>
            </a:r>
            <a:r>
              <a:rPr lang="en-AU" sz="4400" dirty="0">
                <a:solidFill>
                  <a:srgbClr val="00B050"/>
                </a:solidFill>
              </a:rPr>
              <a:t>00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FF0000"/>
                </a:solidFill>
              </a:rPr>
              <a:t>101</a:t>
            </a:r>
            <a:r>
              <a:rPr lang="en-AU" sz="4400" dirty="0">
                <a:solidFill>
                  <a:schemeClr val="accent2"/>
                </a:solidFill>
              </a:rPr>
              <a:t>110</a:t>
            </a:r>
            <a:endParaRPr lang="es-ES_tradnl" sz="44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C7EBD1-EC08-1941-B898-0B6867D51952}"/>
              </a:ext>
            </a:extLst>
          </p:cNvPr>
          <p:cNvSpPr/>
          <p:nvPr/>
        </p:nvSpPr>
        <p:spPr>
          <a:xfrm>
            <a:off x="1848678" y="2372023"/>
            <a:ext cx="8951346" cy="4614862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918CDBA-1F86-F347-A34A-F84F30CD2DDE}"/>
              </a:ext>
            </a:extLst>
          </p:cNvPr>
          <p:cNvCxnSpPr>
            <a:cxnSpLocks/>
          </p:cNvCxnSpPr>
          <p:nvPr/>
        </p:nvCxnSpPr>
        <p:spPr>
          <a:xfrm flipH="1">
            <a:off x="1391976" y="2114253"/>
            <a:ext cx="4491990" cy="1314747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0AFD56A-3D27-FE44-AA8C-6431F20C925F}"/>
              </a:ext>
            </a:extLst>
          </p:cNvPr>
          <p:cNvSpPr/>
          <p:nvPr/>
        </p:nvSpPr>
        <p:spPr>
          <a:xfrm>
            <a:off x="10488692" y="3167156"/>
            <a:ext cx="1363563" cy="59531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298691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B050"/>
                </a:solidFill>
              </a:rPr>
              <a:t>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00B050"/>
                </a:solidFill>
              </a:rPr>
              <a:t>AA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FF0000"/>
                </a:solidFill>
              </a:rPr>
              <a:t>C</a:t>
            </a:r>
            <a:r>
              <a:rPr lang="en-AU" sz="2400" dirty="0">
                <a:solidFill>
                  <a:schemeClr val="accent2"/>
                </a:solidFill>
              </a:rPr>
              <a:t>O</a:t>
            </a:r>
            <a:r>
              <a:rPr lang="en-AU" sz="2400" dirty="0"/>
              <a:t>-</a:t>
            </a:r>
            <a:r>
              <a:rPr lang="en-AU" sz="2400" dirty="0">
                <a:solidFill>
                  <a:srgbClr val="00B050"/>
                </a:solidFill>
              </a:rPr>
              <a:t>A</a:t>
            </a:r>
            <a:r>
              <a:rPr lang="en-AU" sz="2400" dirty="0">
                <a:solidFill>
                  <a:schemeClr val="accent4">
                    <a:lumMod val="75000"/>
                  </a:schemeClr>
                </a:solidFill>
              </a:rPr>
              <a:t>T</a:t>
            </a:r>
            <a:r>
              <a:rPr lang="en-AU" sz="2400" dirty="0">
                <a:solidFill>
                  <a:srgbClr val="00B050"/>
                </a:solidFill>
              </a:rPr>
              <a:t>AA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FF0000"/>
                </a:solidFill>
              </a:rPr>
              <a:t>C</a:t>
            </a:r>
            <a:r>
              <a:rPr lang="en-AU" sz="2400" dirty="0">
                <a:solidFill>
                  <a:schemeClr val="accent2"/>
                </a:solidFill>
              </a:rPr>
              <a:t>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9499716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       		</a:t>
            </a:r>
            <a:r>
              <a:rPr lang="en-AU" sz="2400" dirty="0">
                <a:solidFill>
                  <a:srgbClr val="00B050"/>
                </a:solidFill>
              </a:rPr>
              <a:t>A : 0</a:t>
            </a:r>
          </a:p>
          <a:p>
            <a:endParaRPr lang="en-AU" sz="2400" dirty="0"/>
          </a:p>
          <a:p>
            <a:r>
              <a:rPr lang="en-AU" sz="2400" dirty="0"/>
              <a:t>B	: 3                                                                                               	</a:t>
            </a:r>
            <a:r>
              <a:rPr lang="en-AU" sz="2400" dirty="0">
                <a:solidFill>
                  <a:srgbClr val="0070C0"/>
                </a:solidFill>
              </a:rPr>
              <a:t>B : 100</a:t>
            </a:r>
          </a:p>
          <a:p>
            <a:endParaRPr lang="en-AU" sz="2400" dirty="0"/>
          </a:p>
          <a:p>
            <a:r>
              <a:rPr lang="en-AU" sz="2400" dirty="0"/>
              <a:t>C	: 2								</a:t>
            </a:r>
            <a:r>
              <a:rPr lang="en-AU" sz="2400" dirty="0">
                <a:solidFill>
                  <a:srgbClr val="FF0000"/>
                </a:solidFill>
              </a:rPr>
              <a:t>C : 101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                                           			</a:t>
            </a:r>
            <a:r>
              <a:rPr lang="en-AU" sz="2400" dirty="0">
                <a:solidFill>
                  <a:schemeClr val="accent2"/>
                </a:solidFill>
              </a:rPr>
              <a:t>O : 110</a:t>
            </a:r>
          </a:p>
          <a:p>
            <a:endParaRPr lang="en-AU" sz="2400" dirty="0"/>
          </a:p>
          <a:p>
            <a:r>
              <a:rPr lang="en-AU" sz="2400" dirty="0"/>
              <a:t>-	: 1               							-  : 1110</a:t>
            </a:r>
          </a:p>
          <a:p>
            <a:endParaRPr lang="en-AU" sz="2400" dirty="0"/>
          </a:p>
          <a:p>
            <a:r>
              <a:rPr lang="en-AU" sz="2400" dirty="0"/>
              <a:t>T	: 1								</a:t>
            </a:r>
            <a:r>
              <a:rPr lang="en-AU" sz="2400" dirty="0">
                <a:solidFill>
                  <a:schemeClr val="accent4">
                    <a:lumMod val="75000"/>
                  </a:schemeClr>
                </a:solidFill>
              </a:rPr>
              <a:t>T : 1111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750188-7D52-4345-A26F-C84932B8B6DA}"/>
              </a:ext>
            </a:extLst>
          </p:cNvPr>
          <p:cNvSpPr/>
          <p:nvPr/>
        </p:nvSpPr>
        <p:spPr>
          <a:xfrm>
            <a:off x="9994372" y="1467922"/>
            <a:ext cx="17783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Construir</a:t>
            </a:r>
            <a:r>
              <a:rPr lang="en-AU" dirty="0"/>
              <a:t> </a:t>
            </a:r>
            <a:r>
              <a:rPr lang="en-AU" dirty="0" err="1"/>
              <a:t>código</a:t>
            </a:r>
            <a:r>
              <a:rPr lang="en-AU" dirty="0"/>
              <a:t> </a:t>
            </a:r>
          </a:p>
          <a:p>
            <a:pPr algn="ctr"/>
            <a:r>
              <a:rPr lang="en-AU" dirty="0"/>
              <a:t>de </a:t>
            </a:r>
            <a:r>
              <a:rPr lang="en-AU" dirty="0" err="1"/>
              <a:t>cada</a:t>
            </a:r>
            <a:r>
              <a:rPr lang="en-AU" dirty="0"/>
              <a:t> </a:t>
            </a:r>
            <a:r>
              <a:rPr lang="en-AU" dirty="0" err="1"/>
              <a:t>caracter</a:t>
            </a:r>
            <a:endParaRPr lang="en-AU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6DA4042-551E-C043-A98B-DBD4052BC899}"/>
              </a:ext>
            </a:extLst>
          </p:cNvPr>
          <p:cNvSpPr/>
          <p:nvPr/>
        </p:nvSpPr>
        <p:spPr>
          <a:xfrm>
            <a:off x="628650" y="2243138"/>
            <a:ext cx="3800475" cy="4614862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D8A450-BB5B-754C-8BAC-2345BE66BBFE}"/>
              </a:ext>
            </a:extLst>
          </p:cNvPr>
          <p:cNvSpPr/>
          <p:nvPr/>
        </p:nvSpPr>
        <p:spPr>
          <a:xfrm>
            <a:off x="628650" y="3331309"/>
            <a:ext cx="10171374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4400" dirty="0">
                <a:solidFill>
                  <a:srgbClr val="00B050"/>
                </a:solidFill>
              </a:rPr>
              <a:t>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00B050"/>
                </a:solidFill>
              </a:rPr>
              <a:t>00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FF0000"/>
                </a:solidFill>
              </a:rPr>
              <a:t>101</a:t>
            </a:r>
            <a:r>
              <a:rPr lang="en-AU" sz="4400" dirty="0">
                <a:solidFill>
                  <a:schemeClr val="accent2"/>
                </a:solidFill>
              </a:rPr>
              <a:t>110</a:t>
            </a:r>
            <a:r>
              <a:rPr lang="en-AU" sz="4400" dirty="0"/>
              <a:t>1110</a:t>
            </a:r>
            <a:r>
              <a:rPr lang="en-AU" sz="4400" dirty="0">
                <a:solidFill>
                  <a:srgbClr val="00B050"/>
                </a:solidFill>
              </a:rPr>
              <a:t>0</a:t>
            </a:r>
            <a:r>
              <a:rPr lang="en-AU" sz="4400" dirty="0">
                <a:solidFill>
                  <a:schemeClr val="accent4">
                    <a:lumMod val="75000"/>
                  </a:schemeClr>
                </a:solidFill>
              </a:rPr>
              <a:t>1111</a:t>
            </a:r>
            <a:r>
              <a:rPr lang="en-AU" sz="4400" dirty="0">
                <a:solidFill>
                  <a:srgbClr val="00B050"/>
                </a:solidFill>
              </a:rPr>
              <a:t>00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FF0000"/>
                </a:solidFill>
              </a:rPr>
              <a:t>101</a:t>
            </a:r>
            <a:r>
              <a:rPr lang="en-AU" sz="4400" dirty="0">
                <a:solidFill>
                  <a:schemeClr val="accent2"/>
                </a:solidFill>
              </a:rPr>
              <a:t>110</a:t>
            </a:r>
            <a:endParaRPr lang="es-ES_tradnl" sz="44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C7EBD1-EC08-1941-B898-0B6867D51952}"/>
              </a:ext>
            </a:extLst>
          </p:cNvPr>
          <p:cNvSpPr/>
          <p:nvPr/>
        </p:nvSpPr>
        <p:spPr>
          <a:xfrm>
            <a:off x="2387618" y="2372023"/>
            <a:ext cx="8392527" cy="4614862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918CDBA-1F86-F347-A34A-F84F30CD2DDE}"/>
              </a:ext>
            </a:extLst>
          </p:cNvPr>
          <p:cNvCxnSpPr>
            <a:cxnSpLocks/>
          </p:cNvCxnSpPr>
          <p:nvPr/>
        </p:nvCxnSpPr>
        <p:spPr>
          <a:xfrm flipH="1">
            <a:off x="2014168" y="2068414"/>
            <a:ext cx="4227602" cy="136058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0AFD56A-3D27-FE44-AA8C-6431F20C925F}"/>
              </a:ext>
            </a:extLst>
          </p:cNvPr>
          <p:cNvSpPr/>
          <p:nvPr/>
        </p:nvSpPr>
        <p:spPr>
          <a:xfrm>
            <a:off x="10488692" y="2372023"/>
            <a:ext cx="1363563" cy="595312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F4C14A-08BF-B447-88DC-52EF43DC7817}"/>
              </a:ext>
            </a:extLst>
          </p:cNvPr>
          <p:cNvCxnSpPr>
            <a:cxnSpLocks/>
          </p:cNvCxnSpPr>
          <p:nvPr/>
        </p:nvCxnSpPr>
        <p:spPr>
          <a:xfrm flipH="1">
            <a:off x="2305715" y="2081667"/>
            <a:ext cx="4227602" cy="136058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40865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B050"/>
                </a:solidFill>
              </a:rPr>
              <a:t>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00B050"/>
                </a:solidFill>
              </a:rPr>
              <a:t>AA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FF0000"/>
                </a:solidFill>
              </a:rPr>
              <a:t>C</a:t>
            </a:r>
            <a:r>
              <a:rPr lang="en-AU" sz="2400" dirty="0">
                <a:solidFill>
                  <a:schemeClr val="accent2"/>
                </a:solidFill>
              </a:rPr>
              <a:t>O</a:t>
            </a:r>
            <a:r>
              <a:rPr lang="en-AU" sz="2400" dirty="0"/>
              <a:t>-</a:t>
            </a:r>
            <a:r>
              <a:rPr lang="en-AU" sz="2400" dirty="0">
                <a:solidFill>
                  <a:srgbClr val="00B050"/>
                </a:solidFill>
              </a:rPr>
              <a:t>A</a:t>
            </a:r>
            <a:r>
              <a:rPr lang="en-AU" sz="2400" dirty="0">
                <a:solidFill>
                  <a:schemeClr val="accent4">
                    <a:lumMod val="75000"/>
                  </a:schemeClr>
                </a:solidFill>
              </a:rPr>
              <a:t>T</a:t>
            </a:r>
            <a:r>
              <a:rPr lang="en-AU" sz="2400" dirty="0">
                <a:solidFill>
                  <a:srgbClr val="00B050"/>
                </a:solidFill>
              </a:rPr>
              <a:t>AA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FF0000"/>
                </a:solidFill>
              </a:rPr>
              <a:t>C</a:t>
            </a:r>
            <a:r>
              <a:rPr lang="en-AU" sz="2400" dirty="0">
                <a:solidFill>
                  <a:schemeClr val="accent2"/>
                </a:solidFill>
              </a:rPr>
              <a:t>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9499716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       		</a:t>
            </a:r>
            <a:r>
              <a:rPr lang="en-AU" sz="2400" dirty="0">
                <a:solidFill>
                  <a:srgbClr val="00B050"/>
                </a:solidFill>
              </a:rPr>
              <a:t>A : 0</a:t>
            </a:r>
          </a:p>
          <a:p>
            <a:endParaRPr lang="en-AU" sz="2400" dirty="0"/>
          </a:p>
          <a:p>
            <a:r>
              <a:rPr lang="en-AU" sz="2400" dirty="0"/>
              <a:t>B	: 3                                                                                               	</a:t>
            </a:r>
            <a:r>
              <a:rPr lang="en-AU" sz="2400" dirty="0">
                <a:solidFill>
                  <a:srgbClr val="0070C0"/>
                </a:solidFill>
              </a:rPr>
              <a:t>B : 100</a:t>
            </a:r>
          </a:p>
          <a:p>
            <a:endParaRPr lang="en-AU" sz="2400" dirty="0"/>
          </a:p>
          <a:p>
            <a:r>
              <a:rPr lang="en-AU" sz="2400" dirty="0"/>
              <a:t>C	: 2								</a:t>
            </a:r>
            <a:r>
              <a:rPr lang="en-AU" sz="2400" dirty="0">
                <a:solidFill>
                  <a:srgbClr val="FF0000"/>
                </a:solidFill>
              </a:rPr>
              <a:t>C : 101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                                           			</a:t>
            </a:r>
            <a:r>
              <a:rPr lang="en-AU" sz="2400" dirty="0">
                <a:solidFill>
                  <a:schemeClr val="accent2"/>
                </a:solidFill>
              </a:rPr>
              <a:t>O : 110</a:t>
            </a:r>
          </a:p>
          <a:p>
            <a:endParaRPr lang="en-AU" sz="2400" dirty="0"/>
          </a:p>
          <a:p>
            <a:r>
              <a:rPr lang="en-AU" sz="2400" dirty="0"/>
              <a:t>-	: 1               							-  : 1110</a:t>
            </a:r>
          </a:p>
          <a:p>
            <a:endParaRPr lang="en-AU" sz="2400" dirty="0"/>
          </a:p>
          <a:p>
            <a:r>
              <a:rPr lang="en-AU" sz="2400" dirty="0"/>
              <a:t>T	: 1								</a:t>
            </a:r>
            <a:r>
              <a:rPr lang="en-AU" sz="2400" dirty="0">
                <a:solidFill>
                  <a:schemeClr val="accent4">
                    <a:lumMod val="75000"/>
                  </a:schemeClr>
                </a:solidFill>
              </a:rPr>
              <a:t>T : 1111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750188-7D52-4345-A26F-C84932B8B6DA}"/>
              </a:ext>
            </a:extLst>
          </p:cNvPr>
          <p:cNvSpPr/>
          <p:nvPr/>
        </p:nvSpPr>
        <p:spPr>
          <a:xfrm>
            <a:off x="9994372" y="1467922"/>
            <a:ext cx="17783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Construir</a:t>
            </a:r>
            <a:r>
              <a:rPr lang="en-AU" dirty="0"/>
              <a:t> </a:t>
            </a:r>
            <a:r>
              <a:rPr lang="en-AU" dirty="0" err="1"/>
              <a:t>código</a:t>
            </a:r>
            <a:r>
              <a:rPr lang="en-AU" dirty="0"/>
              <a:t> </a:t>
            </a:r>
          </a:p>
          <a:p>
            <a:pPr algn="ctr"/>
            <a:r>
              <a:rPr lang="en-AU" dirty="0"/>
              <a:t>de </a:t>
            </a:r>
            <a:r>
              <a:rPr lang="en-AU" dirty="0" err="1"/>
              <a:t>cada</a:t>
            </a:r>
            <a:r>
              <a:rPr lang="en-AU" dirty="0"/>
              <a:t> </a:t>
            </a:r>
            <a:r>
              <a:rPr lang="en-AU" dirty="0" err="1"/>
              <a:t>caracter</a:t>
            </a:r>
            <a:endParaRPr lang="en-AU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6DA4042-551E-C043-A98B-DBD4052BC899}"/>
              </a:ext>
            </a:extLst>
          </p:cNvPr>
          <p:cNvSpPr/>
          <p:nvPr/>
        </p:nvSpPr>
        <p:spPr>
          <a:xfrm>
            <a:off x="628650" y="2243138"/>
            <a:ext cx="3800475" cy="4614862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D8A450-BB5B-754C-8BAC-2345BE66BBFE}"/>
              </a:ext>
            </a:extLst>
          </p:cNvPr>
          <p:cNvSpPr/>
          <p:nvPr/>
        </p:nvSpPr>
        <p:spPr>
          <a:xfrm>
            <a:off x="628650" y="3331309"/>
            <a:ext cx="10171374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4400" dirty="0">
                <a:solidFill>
                  <a:srgbClr val="00B050"/>
                </a:solidFill>
              </a:rPr>
              <a:t>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00B050"/>
                </a:solidFill>
              </a:rPr>
              <a:t>00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FF0000"/>
                </a:solidFill>
              </a:rPr>
              <a:t>101</a:t>
            </a:r>
            <a:r>
              <a:rPr lang="en-AU" sz="4400" dirty="0">
                <a:solidFill>
                  <a:schemeClr val="accent2"/>
                </a:solidFill>
              </a:rPr>
              <a:t>110</a:t>
            </a:r>
            <a:r>
              <a:rPr lang="en-AU" sz="4400" dirty="0"/>
              <a:t>1110</a:t>
            </a:r>
            <a:r>
              <a:rPr lang="en-AU" sz="4400" dirty="0">
                <a:solidFill>
                  <a:srgbClr val="00B050"/>
                </a:solidFill>
              </a:rPr>
              <a:t>0</a:t>
            </a:r>
            <a:r>
              <a:rPr lang="en-AU" sz="4400" dirty="0">
                <a:solidFill>
                  <a:schemeClr val="accent4">
                    <a:lumMod val="75000"/>
                  </a:schemeClr>
                </a:solidFill>
              </a:rPr>
              <a:t>1111</a:t>
            </a:r>
            <a:r>
              <a:rPr lang="en-AU" sz="4400" dirty="0">
                <a:solidFill>
                  <a:srgbClr val="00B050"/>
                </a:solidFill>
              </a:rPr>
              <a:t>00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FF0000"/>
                </a:solidFill>
              </a:rPr>
              <a:t>101</a:t>
            </a:r>
            <a:r>
              <a:rPr lang="en-AU" sz="4400" dirty="0">
                <a:solidFill>
                  <a:schemeClr val="accent2"/>
                </a:solidFill>
              </a:rPr>
              <a:t>110</a:t>
            </a:r>
            <a:endParaRPr lang="es-ES_tradnl" sz="44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C7EBD1-EC08-1941-B898-0B6867D51952}"/>
              </a:ext>
            </a:extLst>
          </p:cNvPr>
          <p:cNvSpPr/>
          <p:nvPr/>
        </p:nvSpPr>
        <p:spPr>
          <a:xfrm>
            <a:off x="3309508" y="2372023"/>
            <a:ext cx="7490515" cy="4614862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918CDBA-1F86-F347-A34A-F84F30CD2DDE}"/>
              </a:ext>
            </a:extLst>
          </p:cNvPr>
          <p:cNvCxnSpPr>
            <a:cxnSpLocks/>
          </p:cNvCxnSpPr>
          <p:nvPr/>
        </p:nvCxnSpPr>
        <p:spPr>
          <a:xfrm flipH="1">
            <a:off x="2739473" y="2114253"/>
            <a:ext cx="3800475" cy="1314747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0AFD56A-3D27-FE44-AA8C-6431F20C925F}"/>
              </a:ext>
            </a:extLst>
          </p:cNvPr>
          <p:cNvSpPr/>
          <p:nvPr/>
        </p:nvSpPr>
        <p:spPr>
          <a:xfrm>
            <a:off x="10488692" y="3167156"/>
            <a:ext cx="1363563" cy="59531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712058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B050"/>
                </a:solidFill>
              </a:rPr>
              <a:t>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00B050"/>
                </a:solidFill>
              </a:rPr>
              <a:t>AA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FF0000"/>
                </a:solidFill>
              </a:rPr>
              <a:t>C</a:t>
            </a:r>
            <a:r>
              <a:rPr lang="en-AU" sz="2400" dirty="0">
                <a:solidFill>
                  <a:schemeClr val="accent2"/>
                </a:solidFill>
              </a:rPr>
              <a:t>O</a:t>
            </a:r>
            <a:r>
              <a:rPr lang="en-AU" sz="2400" dirty="0"/>
              <a:t>-</a:t>
            </a:r>
            <a:r>
              <a:rPr lang="en-AU" sz="2400" dirty="0">
                <a:solidFill>
                  <a:srgbClr val="00B050"/>
                </a:solidFill>
              </a:rPr>
              <a:t>A</a:t>
            </a:r>
            <a:r>
              <a:rPr lang="en-AU" sz="2400" dirty="0">
                <a:solidFill>
                  <a:schemeClr val="accent4">
                    <a:lumMod val="75000"/>
                  </a:schemeClr>
                </a:solidFill>
              </a:rPr>
              <a:t>T</a:t>
            </a:r>
            <a:r>
              <a:rPr lang="en-AU" sz="2400" dirty="0">
                <a:solidFill>
                  <a:srgbClr val="00B050"/>
                </a:solidFill>
              </a:rPr>
              <a:t>AA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FF0000"/>
                </a:solidFill>
              </a:rPr>
              <a:t>C</a:t>
            </a:r>
            <a:r>
              <a:rPr lang="en-AU" sz="2400" dirty="0">
                <a:solidFill>
                  <a:schemeClr val="accent2"/>
                </a:solidFill>
              </a:rPr>
              <a:t>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9499716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       		</a:t>
            </a:r>
            <a:r>
              <a:rPr lang="en-AU" sz="2400" dirty="0">
                <a:solidFill>
                  <a:srgbClr val="00B050"/>
                </a:solidFill>
              </a:rPr>
              <a:t>A : 0</a:t>
            </a:r>
          </a:p>
          <a:p>
            <a:endParaRPr lang="en-AU" sz="2400" dirty="0"/>
          </a:p>
          <a:p>
            <a:r>
              <a:rPr lang="en-AU" sz="2400" dirty="0"/>
              <a:t>B	: 3                                                                                               	</a:t>
            </a:r>
            <a:r>
              <a:rPr lang="en-AU" sz="2400" dirty="0">
                <a:solidFill>
                  <a:srgbClr val="0070C0"/>
                </a:solidFill>
              </a:rPr>
              <a:t>B : 100</a:t>
            </a:r>
          </a:p>
          <a:p>
            <a:endParaRPr lang="en-AU" sz="2400" dirty="0"/>
          </a:p>
          <a:p>
            <a:r>
              <a:rPr lang="en-AU" sz="2400" dirty="0"/>
              <a:t>C	: 2								</a:t>
            </a:r>
            <a:r>
              <a:rPr lang="en-AU" sz="2400" dirty="0">
                <a:solidFill>
                  <a:srgbClr val="FF0000"/>
                </a:solidFill>
              </a:rPr>
              <a:t>C : 101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                                           			</a:t>
            </a:r>
            <a:r>
              <a:rPr lang="en-AU" sz="2400" dirty="0">
                <a:solidFill>
                  <a:schemeClr val="accent2"/>
                </a:solidFill>
              </a:rPr>
              <a:t>O : 110</a:t>
            </a:r>
          </a:p>
          <a:p>
            <a:endParaRPr lang="en-AU" sz="2400" dirty="0"/>
          </a:p>
          <a:p>
            <a:r>
              <a:rPr lang="en-AU" sz="2400" dirty="0"/>
              <a:t>-	: 1               							-  : 1110</a:t>
            </a:r>
          </a:p>
          <a:p>
            <a:endParaRPr lang="en-AU" sz="2400" dirty="0"/>
          </a:p>
          <a:p>
            <a:r>
              <a:rPr lang="en-AU" sz="2400" dirty="0"/>
              <a:t>T	: 1								</a:t>
            </a:r>
            <a:r>
              <a:rPr lang="en-AU" sz="2400" dirty="0">
                <a:solidFill>
                  <a:schemeClr val="accent4">
                    <a:lumMod val="75000"/>
                  </a:schemeClr>
                </a:solidFill>
              </a:rPr>
              <a:t>T : 1111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750188-7D52-4345-A26F-C84932B8B6DA}"/>
              </a:ext>
            </a:extLst>
          </p:cNvPr>
          <p:cNvSpPr/>
          <p:nvPr/>
        </p:nvSpPr>
        <p:spPr>
          <a:xfrm>
            <a:off x="9994372" y="1467922"/>
            <a:ext cx="17783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Construir</a:t>
            </a:r>
            <a:r>
              <a:rPr lang="en-AU" dirty="0"/>
              <a:t> </a:t>
            </a:r>
            <a:r>
              <a:rPr lang="en-AU" dirty="0" err="1"/>
              <a:t>código</a:t>
            </a:r>
            <a:r>
              <a:rPr lang="en-AU" dirty="0"/>
              <a:t> </a:t>
            </a:r>
          </a:p>
          <a:p>
            <a:pPr algn="ctr"/>
            <a:r>
              <a:rPr lang="en-AU" dirty="0"/>
              <a:t>de </a:t>
            </a:r>
            <a:r>
              <a:rPr lang="en-AU" dirty="0" err="1"/>
              <a:t>cada</a:t>
            </a:r>
            <a:r>
              <a:rPr lang="en-AU" dirty="0"/>
              <a:t> </a:t>
            </a:r>
            <a:r>
              <a:rPr lang="en-AU" dirty="0" err="1"/>
              <a:t>caracter</a:t>
            </a:r>
            <a:endParaRPr lang="en-AU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6DA4042-551E-C043-A98B-DBD4052BC899}"/>
              </a:ext>
            </a:extLst>
          </p:cNvPr>
          <p:cNvSpPr/>
          <p:nvPr/>
        </p:nvSpPr>
        <p:spPr>
          <a:xfrm>
            <a:off x="628650" y="2243138"/>
            <a:ext cx="3800475" cy="4614862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D8A450-BB5B-754C-8BAC-2345BE66BBFE}"/>
              </a:ext>
            </a:extLst>
          </p:cNvPr>
          <p:cNvSpPr/>
          <p:nvPr/>
        </p:nvSpPr>
        <p:spPr>
          <a:xfrm>
            <a:off x="628650" y="3331309"/>
            <a:ext cx="10171374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4400" dirty="0">
                <a:solidFill>
                  <a:srgbClr val="00B050"/>
                </a:solidFill>
              </a:rPr>
              <a:t>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00B050"/>
                </a:solidFill>
              </a:rPr>
              <a:t>00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FF0000"/>
                </a:solidFill>
              </a:rPr>
              <a:t>101</a:t>
            </a:r>
            <a:r>
              <a:rPr lang="en-AU" sz="4400" dirty="0">
                <a:solidFill>
                  <a:schemeClr val="accent2"/>
                </a:solidFill>
              </a:rPr>
              <a:t>110</a:t>
            </a:r>
            <a:r>
              <a:rPr lang="en-AU" sz="4400" dirty="0"/>
              <a:t>1110</a:t>
            </a:r>
            <a:r>
              <a:rPr lang="en-AU" sz="4400" dirty="0">
                <a:solidFill>
                  <a:srgbClr val="00B050"/>
                </a:solidFill>
              </a:rPr>
              <a:t>0</a:t>
            </a:r>
            <a:r>
              <a:rPr lang="en-AU" sz="4400" dirty="0">
                <a:solidFill>
                  <a:schemeClr val="accent4">
                    <a:lumMod val="75000"/>
                  </a:schemeClr>
                </a:solidFill>
              </a:rPr>
              <a:t>1111</a:t>
            </a:r>
            <a:r>
              <a:rPr lang="en-AU" sz="4400" dirty="0">
                <a:solidFill>
                  <a:srgbClr val="00B050"/>
                </a:solidFill>
              </a:rPr>
              <a:t>00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FF0000"/>
                </a:solidFill>
              </a:rPr>
              <a:t>101</a:t>
            </a:r>
            <a:r>
              <a:rPr lang="en-AU" sz="4400" dirty="0">
                <a:solidFill>
                  <a:schemeClr val="accent2"/>
                </a:solidFill>
              </a:rPr>
              <a:t>110</a:t>
            </a:r>
            <a:endParaRPr lang="es-ES_tradnl" sz="44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C7EBD1-EC08-1941-B898-0B6867D51952}"/>
              </a:ext>
            </a:extLst>
          </p:cNvPr>
          <p:cNvSpPr/>
          <p:nvPr/>
        </p:nvSpPr>
        <p:spPr>
          <a:xfrm>
            <a:off x="4072835" y="2372023"/>
            <a:ext cx="6727188" cy="4614862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918CDBA-1F86-F347-A34A-F84F30CD2DDE}"/>
              </a:ext>
            </a:extLst>
          </p:cNvPr>
          <p:cNvCxnSpPr>
            <a:cxnSpLocks/>
          </p:cNvCxnSpPr>
          <p:nvPr/>
        </p:nvCxnSpPr>
        <p:spPr>
          <a:xfrm flipH="1">
            <a:off x="3754644" y="2114253"/>
            <a:ext cx="2924451" cy="132556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0AFD56A-3D27-FE44-AA8C-6431F20C925F}"/>
              </a:ext>
            </a:extLst>
          </p:cNvPr>
          <p:cNvSpPr/>
          <p:nvPr/>
        </p:nvSpPr>
        <p:spPr>
          <a:xfrm>
            <a:off x="10488692" y="3862896"/>
            <a:ext cx="1363563" cy="595312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370904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854582-CA90-974F-B012-3300A4C0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E63B97-701E-8D41-A19B-DBAA1A6DFD8B}"/>
              </a:ext>
            </a:extLst>
          </p:cNvPr>
          <p:cNvSpPr/>
          <p:nvPr/>
        </p:nvSpPr>
        <p:spPr>
          <a:xfrm>
            <a:off x="838200" y="1652588"/>
            <a:ext cx="7899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Ejemplo</a:t>
            </a:r>
            <a:r>
              <a:rPr lang="en-US" sz="2400" dirty="0"/>
              <a:t>: </a:t>
            </a:r>
            <a:r>
              <a:rPr lang="en-US" sz="2400" dirty="0" err="1"/>
              <a:t>Codificar</a:t>
            </a:r>
            <a:r>
              <a:rPr lang="en-US" sz="2400" dirty="0"/>
              <a:t> las palabras </a:t>
            </a:r>
            <a:r>
              <a:rPr lang="en-US" sz="2400" dirty="0" err="1"/>
              <a:t>mágicas</a:t>
            </a:r>
            <a:r>
              <a:rPr lang="en-US" sz="2400" dirty="0"/>
              <a:t> </a:t>
            </a:r>
            <a:r>
              <a:rPr lang="en-AU" sz="2400" dirty="0">
                <a:solidFill>
                  <a:srgbClr val="00B050"/>
                </a:solidFill>
              </a:rPr>
              <a:t>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00B050"/>
                </a:solidFill>
              </a:rPr>
              <a:t>AA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FF0000"/>
                </a:solidFill>
              </a:rPr>
              <a:t>C</a:t>
            </a:r>
            <a:r>
              <a:rPr lang="en-AU" sz="2400" dirty="0">
                <a:solidFill>
                  <a:schemeClr val="accent2"/>
                </a:solidFill>
              </a:rPr>
              <a:t>O</a:t>
            </a:r>
            <a:r>
              <a:rPr lang="en-AU" sz="2400" dirty="0"/>
              <a:t>-</a:t>
            </a:r>
            <a:r>
              <a:rPr lang="en-AU" sz="2400" dirty="0">
                <a:solidFill>
                  <a:srgbClr val="00B050"/>
                </a:solidFill>
              </a:rPr>
              <a:t>A</a:t>
            </a:r>
            <a:r>
              <a:rPr lang="en-AU" sz="2400" dirty="0">
                <a:solidFill>
                  <a:schemeClr val="accent4">
                    <a:lumMod val="75000"/>
                  </a:schemeClr>
                </a:solidFill>
              </a:rPr>
              <a:t>T</a:t>
            </a:r>
            <a:r>
              <a:rPr lang="en-AU" sz="2400" dirty="0">
                <a:solidFill>
                  <a:srgbClr val="00B050"/>
                </a:solidFill>
              </a:rPr>
              <a:t>AA</a:t>
            </a:r>
            <a:r>
              <a:rPr lang="en-AU" sz="2400" dirty="0">
                <a:solidFill>
                  <a:srgbClr val="0070C0"/>
                </a:solidFill>
              </a:rPr>
              <a:t>B</a:t>
            </a:r>
            <a:r>
              <a:rPr lang="en-AU" sz="2400" dirty="0">
                <a:solidFill>
                  <a:srgbClr val="FF0000"/>
                </a:solidFill>
              </a:rPr>
              <a:t>C</a:t>
            </a:r>
            <a:r>
              <a:rPr lang="en-AU" sz="2400" dirty="0">
                <a:solidFill>
                  <a:schemeClr val="accent2"/>
                </a:solidFill>
              </a:rPr>
              <a:t>O</a:t>
            </a:r>
            <a:r>
              <a:rPr lang="en-US" sz="2400" dirty="0"/>
              <a:t>    </a:t>
            </a:r>
            <a:endParaRPr lang="es-ES_tradnl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14F11-24A5-8B43-A04A-350F83F18D5A}"/>
              </a:ext>
            </a:extLst>
          </p:cNvPr>
          <p:cNvSpPr/>
          <p:nvPr/>
        </p:nvSpPr>
        <p:spPr>
          <a:xfrm>
            <a:off x="2509838" y="2114253"/>
            <a:ext cx="9499716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AU" sz="2400" dirty="0"/>
          </a:p>
          <a:p>
            <a:r>
              <a:rPr lang="en-AU" sz="2400" dirty="0"/>
              <a:t>A 	: 6                                                                                     		</a:t>
            </a:r>
            <a:r>
              <a:rPr lang="en-AU" sz="2400" dirty="0">
                <a:solidFill>
                  <a:srgbClr val="00B050"/>
                </a:solidFill>
              </a:rPr>
              <a:t>A : 0</a:t>
            </a:r>
          </a:p>
          <a:p>
            <a:endParaRPr lang="en-AU" sz="2400" dirty="0"/>
          </a:p>
          <a:p>
            <a:r>
              <a:rPr lang="en-AU" sz="2400" dirty="0"/>
              <a:t>B	: 3                                                                                               	</a:t>
            </a:r>
            <a:r>
              <a:rPr lang="en-AU" sz="2400" dirty="0">
                <a:solidFill>
                  <a:srgbClr val="0070C0"/>
                </a:solidFill>
              </a:rPr>
              <a:t>B : 100</a:t>
            </a:r>
          </a:p>
          <a:p>
            <a:endParaRPr lang="en-AU" sz="2400" dirty="0"/>
          </a:p>
          <a:p>
            <a:r>
              <a:rPr lang="en-AU" sz="2400" dirty="0"/>
              <a:t>C	: 2								</a:t>
            </a:r>
            <a:r>
              <a:rPr lang="en-AU" sz="2400" dirty="0">
                <a:solidFill>
                  <a:srgbClr val="FF0000"/>
                </a:solidFill>
              </a:rPr>
              <a:t>C : 101</a:t>
            </a:r>
          </a:p>
          <a:p>
            <a:endParaRPr lang="en-AU" sz="2400" dirty="0"/>
          </a:p>
          <a:p>
            <a:r>
              <a:rPr lang="en-AU" sz="2400" dirty="0"/>
              <a:t>O	: 2                                                                          			</a:t>
            </a:r>
            <a:r>
              <a:rPr lang="en-AU" sz="2400" dirty="0">
                <a:solidFill>
                  <a:schemeClr val="accent2"/>
                </a:solidFill>
              </a:rPr>
              <a:t>O : 110</a:t>
            </a:r>
          </a:p>
          <a:p>
            <a:endParaRPr lang="en-AU" sz="2400" dirty="0"/>
          </a:p>
          <a:p>
            <a:r>
              <a:rPr lang="en-AU" sz="2400" dirty="0"/>
              <a:t>-	: 1               							-  : 1110</a:t>
            </a:r>
          </a:p>
          <a:p>
            <a:endParaRPr lang="en-AU" sz="2400" dirty="0"/>
          </a:p>
          <a:p>
            <a:r>
              <a:rPr lang="en-AU" sz="2400" dirty="0"/>
              <a:t>T	: 1								</a:t>
            </a:r>
            <a:r>
              <a:rPr lang="en-AU" sz="2400" dirty="0">
                <a:solidFill>
                  <a:schemeClr val="accent4">
                    <a:lumMod val="75000"/>
                  </a:schemeClr>
                </a:solidFill>
              </a:rPr>
              <a:t>T : 1111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196BB-C061-284D-953A-1244BB4ABD2F}"/>
              </a:ext>
            </a:extLst>
          </p:cNvPr>
          <p:cNvSpPr/>
          <p:nvPr/>
        </p:nvSpPr>
        <p:spPr>
          <a:xfrm>
            <a:off x="838200" y="2515673"/>
            <a:ext cx="13534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dirty="0" err="1"/>
              <a:t>Frecuencias</a:t>
            </a:r>
            <a:r>
              <a:rPr lang="en-AU" dirty="0"/>
              <a:t>: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750188-7D52-4345-A26F-C84932B8B6DA}"/>
              </a:ext>
            </a:extLst>
          </p:cNvPr>
          <p:cNvSpPr/>
          <p:nvPr/>
        </p:nvSpPr>
        <p:spPr>
          <a:xfrm>
            <a:off x="9994372" y="1467922"/>
            <a:ext cx="17783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AU" dirty="0" err="1"/>
              <a:t>Construir</a:t>
            </a:r>
            <a:r>
              <a:rPr lang="en-AU" dirty="0"/>
              <a:t> </a:t>
            </a:r>
            <a:r>
              <a:rPr lang="en-AU" dirty="0" err="1"/>
              <a:t>código</a:t>
            </a:r>
            <a:r>
              <a:rPr lang="en-AU" dirty="0"/>
              <a:t> </a:t>
            </a:r>
          </a:p>
          <a:p>
            <a:pPr algn="ctr"/>
            <a:r>
              <a:rPr lang="en-AU" dirty="0"/>
              <a:t>de </a:t>
            </a:r>
            <a:r>
              <a:rPr lang="en-AU" dirty="0" err="1"/>
              <a:t>cada</a:t>
            </a:r>
            <a:r>
              <a:rPr lang="en-AU" dirty="0"/>
              <a:t> </a:t>
            </a:r>
            <a:r>
              <a:rPr lang="en-AU" dirty="0" err="1"/>
              <a:t>caracter</a:t>
            </a:r>
            <a:endParaRPr lang="en-AU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6DA4042-551E-C043-A98B-DBD4052BC899}"/>
              </a:ext>
            </a:extLst>
          </p:cNvPr>
          <p:cNvSpPr/>
          <p:nvPr/>
        </p:nvSpPr>
        <p:spPr>
          <a:xfrm>
            <a:off x="628650" y="2243138"/>
            <a:ext cx="3800475" cy="4614862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D8A450-BB5B-754C-8BAC-2345BE66BBFE}"/>
              </a:ext>
            </a:extLst>
          </p:cNvPr>
          <p:cNvSpPr/>
          <p:nvPr/>
        </p:nvSpPr>
        <p:spPr>
          <a:xfrm>
            <a:off x="628650" y="3331309"/>
            <a:ext cx="10171374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4400" dirty="0">
                <a:solidFill>
                  <a:srgbClr val="00B050"/>
                </a:solidFill>
              </a:rPr>
              <a:t>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00B050"/>
                </a:solidFill>
              </a:rPr>
              <a:t>00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FF0000"/>
                </a:solidFill>
              </a:rPr>
              <a:t>101</a:t>
            </a:r>
            <a:r>
              <a:rPr lang="en-AU" sz="4400" dirty="0">
                <a:solidFill>
                  <a:schemeClr val="accent2"/>
                </a:solidFill>
              </a:rPr>
              <a:t>110</a:t>
            </a:r>
            <a:r>
              <a:rPr lang="en-AU" sz="4400" dirty="0"/>
              <a:t>1110</a:t>
            </a:r>
            <a:r>
              <a:rPr lang="en-AU" sz="4400" dirty="0">
                <a:solidFill>
                  <a:srgbClr val="00B050"/>
                </a:solidFill>
              </a:rPr>
              <a:t>0</a:t>
            </a:r>
            <a:r>
              <a:rPr lang="en-AU" sz="4400" dirty="0">
                <a:solidFill>
                  <a:schemeClr val="accent4">
                    <a:lumMod val="75000"/>
                  </a:schemeClr>
                </a:solidFill>
              </a:rPr>
              <a:t>1111</a:t>
            </a:r>
            <a:r>
              <a:rPr lang="en-AU" sz="4400" dirty="0">
                <a:solidFill>
                  <a:srgbClr val="00B050"/>
                </a:solidFill>
              </a:rPr>
              <a:t>00</a:t>
            </a:r>
            <a:r>
              <a:rPr lang="en-AU" sz="4400" dirty="0">
                <a:solidFill>
                  <a:srgbClr val="0070C0"/>
                </a:solidFill>
              </a:rPr>
              <a:t>100</a:t>
            </a:r>
            <a:r>
              <a:rPr lang="en-AU" sz="4400" dirty="0">
                <a:solidFill>
                  <a:srgbClr val="FF0000"/>
                </a:solidFill>
              </a:rPr>
              <a:t>101</a:t>
            </a:r>
            <a:r>
              <a:rPr lang="en-AU" sz="4400" dirty="0">
                <a:solidFill>
                  <a:schemeClr val="accent2"/>
                </a:solidFill>
              </a:rPr>
              <a:t>110</a:t>
            </a:r>
            <a:endParaRPr lang="es-ES_tradnl" sz="4400" dirty="0"/>
          </a:p>
        </p:txBody>
      </p:sp>
    </p:spTree>
    <p:extLst>
      <p:ext uri="{BB962C8B-B14F-4D97-AF65-F5344CB8AC3E}">
        <p14:creationId xmlns:p14="http://schemas.microsoft.com/office/powerpoint/2010/main" val="41367014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EC729-1EAB-11A3-1444-233A3FA35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number with numbers and digits&#10;&#10;Description automatically generated with medium confidence">
            <a:extLst>
              <a:ext uri="{FF2B5EF4-FFF2-40B4-BE49-F238E27FC236}">
                <a16:creationId xmlns:a16="http://schemas.microsoft.com/office/drawing/2014/main" id="{330E1FC6-8545-08CD-D80E-64CABE86F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44" y="2172076"/>
            <a:ext cx="5181600" cy="2844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2B98ED-1FCE-B759-4A0E-6B6C06BDB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5. Huffman encoding + Run Length Encoding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544C98D-9BCB-C4E9-E7BB-09903456DEEC}"/>
              </a:ext>
            </a:extLst>
          </p:cNvPr>
          <p:cNvSpPr/>
          <p:nvPr/>
        </p:nvSpPr>
        <p:spPr>
          <a:xfrm>
            <a:off x="1830733" y="2382982"/>
            <a:ext cx="3711085" cy="2452254"/>
          </a:xfrm>
          <a:custGeom>
            <a:avLst/>
            <a:gdLst>
              <a:gd name="connsiteX0" fmla="*/ 42531 w 6943061"/>
              <a:gd name="connsiteY0" fmla="*/ 10633 h 2509284"/>
              <a:gd name="connsiteX1" fmla="*/ 946298 w 6943061"/>
              <a:gd name="connsiteY1" fmla="*/ 10633 h 2509284"/>
              <a:gd name="connsiteX2" fmla="*/ 0 w 6943061"/>
              <a:gd name="connsiteY2" fmla="*/ 361507 h 2509284"/>
              <a:gd name="connsiteX3" fmla="*/ 21266 w 6943061"/>
              <a:gd name="connsiteY3" fmla="*/ 733647 h 2509284"/>
              <a:gd name="connsiteX4" fmla="*/ 1924493 w 6943061"/>
              <a:gd name="connsiteY4" fmla="*/ 31898 h 2509284"/>
              <a:gd name="connsiteX5" fmla="*/ 2966484 w 6943061"/>
              <a:gd name="connsiteY5" fmla="*/ 10633 h 2509284"/>
              <a:gd name="connsiteX6" fmla="*/ 21266 w 6943061"/>
              <a:gd name="connsiteY6" fmla="*/ 1148317 h 2509284"/>
              <a:gd name="connsiteX7" fmla="*/ 31898 w 6943061"/>
              <a:gd name="connsiteY7" fmla="*/ 1477926 h 2509284"/>
              <a:gd name="connsiteX8" fmla="*/ 3944680 w 6943061"/>
              <a:gd name="connsiteY8" fmla="*/ 0 h 2509284"/>
              <a:gd name="connsiteX9" fmla="*/ 4922875 w 6943061"/>
              <a:gd name="connsiteY9" fmla="*/ 0 h 2509284"/>
              <a:gd name="connsiteX10" fmla="*/ 21266 w 6943061"/>
              <a:gd name="connsiteY10" fmla="*/ 1839433 h 2509284"/>
              <a:gd name="connsiteX11" fmla="*/ 42531 w 6943061"/>
              <a:gd name="connsiteY11" fmla="*/ 2158410 h 2509284"/>
              <a:gd name="connsiteX12" fmla="*/ 5954233 w 6943061"/>
              <a:gd name="connsiteY12" fmla="*/ 31898 h 2509284"/>
              <a:gd name="connsiteX13" fmla="*/ 6868633 w 6943061"/>
              <a:gd name="connsiteY13" fmla="*/ 21265 h 2509284"/>
              <a:gd name="connsiteX14" fmla="*/ 10633 w 6943061"/>
              <a:gd name="connsiteY14" fmla="*/ 2488019 h 2509284"/>
              <a:gd name="connsiteX15" fmla="*/ 1052624 w 6943061"/>
              <a:gd name="connsiteY15" fmla="*/ 2477386 h 2509284"/>
              <a:gd name="connsiteX16" fmla="*/ 6921796 w 6943061"/>
              <a:gd name="connsiteY16" fmla="*/ 361507 h 2509284"/>
              <a:gd name="connsiteX17" fmla="*/ 6943061 w 6943061"/>
              <a:gd name="connsiteY17" fmla="*/ 712382 h 2509284"/>
              <a:gd name="connsiteX18" fmla="*/ 2030819 w 6943061"/>
              <a:gd name="connsiteY18" fmla="*/ 2477386 h 2509284"/>
              <a:gd name="connsiteX19" fmla="*/ 3009014 w 6943061"/>
              <a:gd name="connsiteY19" fmla="*/ 2488019 h 2509284"/>
              <a:gd name="connsiteX20" fmla="*/ 6921796 w 6943061"/>
              <a:gd name="connsiteY20" fmla="*/ 1105786 h 2509284"/>
              <a:gd name="connsiteX21" fmla="*/ 6943061 w 6943061"/>
              <a:gd name="connsiteY21" fmla="*/ 1477926 h 2509284"/>
              <a:gd name="connsiteX22" fmla="*/ 4029740 w 6943061"/>
              <a:gd name="connsiteY22" fmla="*/ 2477386 h 2509284"/>
              <a:gd name="connsiteX23" fmla="*/ 4976038 w 6943061"/>
              <a:gd name="connsiteY23" fmla="*/ 2509284 h 2509284"/>
              <a:gd name="connsiteX24" fmla="*/ 6900531 w 6943061"/>
              <a:gd name="connsiteY24" fmla="*/ 1786270 h 2509284"/>
              <a:gd name="connsiteX25" fmla="*/ 6921796 w 6943061"/>
              <a:gd name="connsiteY25" fmla="*/ 2126512 h 2509284"/>
              <a:gd name="connsiteX26" fmla="*/ 5954233 w 6943061"/>
              <a:gd name="connsiteY26" fmla="*/ 2477386 h 2509284"/>
              <a:gd name="connsiteX27" fmla="*/ 6943061 w 6943061"/>
              <a:gd name="connsiteY27" fmla="*/ 2477386 h 2509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6943061" h="2509284">
                <a:moveTo>
                  <a:pt x="42531" y="10633"/>
                </a:moveTo>
                <a:lnTo>
                  <a:pt x="946298" y="10633"/>
                </a:lnTo>
                <a:lnTo>
                  <a:pt x="0" y="361507"/>
                </a:lnTo>
                <a:lnTo>
                  <a:pt x="21266" y="733647"/>
                </a:lnTo>
                <a:lnTo>
                  <a:pt x="1924493" y="31898"/>
                </a:lnTo>
                <a:lnTo>
                  <a:pt x="2966484" y="10633"/>
                </a:lnTo>
                <a:lnTo>
                  <a:pt x="21266" y="1148317"/>
                </a:lnTo>
                <a:lnTo>
                  <a:pt x="31898" y="1477926"/>
                </a:lnTo>
                <a:lnTo>
                  <a:pt x="3944680" y="0"/>
                </a:lnTo>
                <a:lnTo>
                  <a:pt x="4922875" y="0"/>
                </a:lnTo>
                <a:lnTo>
                  <a:pt x="21266" y="1839433"/>
                </a:lnTo>
                <a:lnTo>
                  <a:pt x="42531" y="2158410"/>
                </a:lnTo>
                <a:lnTo>
                  <a:pt x="5954233" y="31898"/>
                </a:lnTo>
                <a:lnTo>
                  <a:pt x="6868633" y="21265"/>
                </a:lnTo>
                <a:lnTo>
                  <a:pt x="10633" y="2488019"/>
                </a:lnTo>
                <a:lnTo>
                  <a:pt x="1052624" y="2477386"/>
                </a:lnTo>
                <a:lnTo>
                  <a:pt x="6921796" y="361507"/>
                </a:lnTo>
                <a:lnTo>
                  <a:pt x="6943061" y="712382"/>
                </a:lnTo>
                <a:lnTo>
                  <a:pt x="2030819" y="2477386"/>
                </a:lnTo>
                <a:lnTo>
                  <a:pt x="3009014" y="2488019"/>
                </a:lnTo>
                <a:lnTo>
                  <a:pt x="6921796" y="1105786"/>
                </a:lnTo>
                <a:lnTo>
                  <a:pt x="6943061" y="1477926"/>
                </a:lnTo>
                <a:lnTo>
                  <a:pt x="4029740" y="2477386"/>
                </a:lnTo>
                <a:lnTo>
                  <a:pt x="4976038" y="2509284"/>
                </a:lnTo>
                <a:lnTo>
                  <a:pt x="6900531" y="1786270"/>
                </a:lnTo>
                <a:lnTo>
                  <a:pt x="6921796" y="2126512"/>
                </a:lnTo>
                <a:lnTo>
                  <a:pt x="5954233" y="2477386"/>
                </a:lnTo>
                <a:lnTo>
                  <a:pt x="6943061" y="2477386"/>
                </a:lnTo>
              </a:path>
            </a:pathLst>
          </a:cu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9C666-287A-949B-709B-C45D39410CD2}"/>
              </a:ext>
            </a:extLst>
          </p:cNvPr>
          <p:cNvSpPr txBox="1"/>
          <p:nvPr/>
        </p:nvSpPr>
        <p:spPr>
          <a:xfrm>
            <a:off x="2272380" y="5128932"/>
            <a:ext cx="2549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+mn-lt"/>
              </a:rPr>
              <a:t>Vectorización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en</a:t>
            </a:r>
            <a:r>
              <a:rPr lang="en-US" dirty="0">
                <a:latin typeface="+mn-lt"/>
              </a:rPr>
              <a:t> zig-zag</a:t>
            </a:r>
            <a:endParaRPr lang="en-C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9C5F21-525E-FC93-520C-78334D1A23AD}"/>
              </a:ext>
            </a:extLst>
          </p:cNvPr>
          <p:cNvSpPr txBox="1"/>
          <p:nvPr/>
        </p:nvSpPr>
        <p:spPr>
          <a:xfrm>
            <a:off x="6331354" y="2172076"/>
            <a:ext cx="550954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 </a:t>
            </a:r>
            <a:r>
              <a:rPr lang="en-US" dirty="0" err="1"/>
              <a:t>codificación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longitud</a:t>
            </a:r>
            <a:r>
              <a:rPr lang="en-US" dirty="0"/>
              <a:t> de </a:t>
            </a:r>
            <a:r>
              <a:rPr lang="en-US" dirty="0" err="1"/>
              <a:t>serie</a:t>
            </a:r>
            <a:r>
              <a:rPr lang="en-US" dirty="0"/>
              <a:t> (RLE) es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técnica</a:t>
            </a:r>
            <a:r>
              <a:rPr lang="en-US" dirty="0"/>
              <a:t> de </a:t>
            </a:r>
            <a:r>
              <a:rPr lang="en-US" dirty="0" err="1"/>
              <a:t>compresión</a:t>
            </a:r>
            <a:r>
              <a:rPr lang="en-US" dirty="0"/>
              <a:t> de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sencilla</a:t>
            </a:r>
            <a:r>
              <a:rPr lang="en-US" dirty="0"/>
              <a:t> y sin </a:t>
            </a:r>
            <a:r>
              <a:rPr lang="en-US" dirty="0" err="1"/>
              <a:t>pérdidas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reduce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tamaño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sustituyendo</a:t>
            </a:r>
            <a:r>
              <a:rPr lang="en-US" dirty="0"/>
              <a:t> las </a:t>
            </a:r>
            <a:r>
              <a:rPr lang="en-US" dirty="0" err="1"/>
              <a:t>apariciones</a:t>
            </a:r>
            <a:r>
              <a:rPr lang="en-US" dirty="0"/>
              <a:t> </a:t>
            </a:r>
            <a:r>
              <a:rPr lang="en-US" dirty="0" err="1"/>
              <a:t>consecutivas</a:t>
            </a:r>
            <a:r>
              <a:rPr lang="en-US" dirty="0"/>
              <a:t> del </a:t>
            </a:r>
            <a:r>
              <a:rPr lang="en-US" dirty="0" err="1"/>
              <a:t>mismo</a:t>
            </a:r>
            <a:r>
              <a:rPr lang="en-US" dirty="0"/>
              <a:t> valor de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un </a:t>
            </a:r>
            <a:r>
              <a:rPr lang="en-US" dirty="0" err="1"/>
              <a:t>único</a:t>
            </a:r>
            <a:r>
              <a:rPr lang="en-US" dirty="0"/>
              <a:t> valor y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recuento</a:t>
            </a:r>
            <a:r>
              <a:rPr lang="en-US" dirty="0"/>
              <a:t>. Por </a:t>
            </a:r>
            <a:r>
              <a:rPr lang="en-US" dirty="0" err="1"/>
              <a:t>ejemplo</a:t>
            </a:r>
            <a:r>
              <a:rPr lang="en-US" dirty="0"/>
              <a:t>, la </a:t>
            </a:r>
            <a:r>
              <a:rPr lang="en-US" dirty="0" err="1"/>
              <a:t>secuencia</a:t>
            </a:r>
            <a:r>
              <a:rPr lang="en-US" dirty="0"/>
              <a:t> «AAAAAAAAAA» se </a:t>
            </a:r>
            <a:r>
              <a:rPr lang="en-US" dirty="0" err="1"/>
              <a:t>codificaría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«10A», lo </a:t>
            </a:r>
            <a:r>
              <a:rPr lang="en-US" dirty="0" err="1"/>
              <a:t>que</a:t>
            </a:r>
            <a:r>
              <a:rPr lang="en-US" dirty="0"/>
              <a:t> la </a:t>
            </a:r>
            <a:r>
              <a:rPr lang="en-US" dirty="0" err="1"/>
              <a:t>hace</a:t>
            </a:r>
            <a:r>
              <a:rPr lang="en-US" dirty="0"/>
              <a:t> </a:t>
            </a:r>
            <a:r>
              <a:rPr lang="en-US" dirty="0" err="1"/>
              <a:t>eficaz</a:t>
            </a:r>
            <a:r>
              <a:rPr lang="en-US" dirty="0"/>
              <a:t> para </a:t>
            </a:r>
            <a:r>
              <a:rPr lang="en-US" dirty="0" err="1"/>
              <a:t>archivos</a:t>
            </a:r>
            <a:r>
              <a:rPr lang="en-US" dirty="0"/>
              <a:t> con </a:t>
            </a:r>
            <a:r>
              <a:rPr lang="en-US" dirty="0" err="1"/>
              <a:t>grandes</a:t>
            </a:r>
            <a:r>
              <a:rPr lang="en-US" dirty="0"/>
              <a:t> </a:t>
            </a:r>
            <a:r>
              <a:rPr lang="en-US" dirty="0" err="1"/>
              <a:t>áreas</a:t>
            </a:r>
            <a:r>
              <a:rPr lang="en-US" dirty="0"/>
              <a:t> de color </a:t>
            </a:r>
            <a:r>
              <a:rPr lang="en-US" dirty="0" err="1"/>
              <a:t>uniforme</a:t>
            </a:r>
            <a:r>
              <a:rPr lang="en-US" dirty="0"/>
              <a:t> o </a:t>
            </a:r>
            <a:r>
              <a:rPr lang="en-US" dirty="0" err="1"/>
              <a:t>caracteres</a:t>
            </a:r>
            <a:r>
              <a:rPr lang="en-US" dirty="0"/>
              <a:t> </a:t>
            </a:r>
            <a:r>
              <a:rPr lang="en-US" dirty="0" err="1"/>
              <a:t>repetidos</a:t>
            </a:r>
            <a:r>
              <a:rPr lang="en-US" dirty="0"/>
              <a:t>,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archivos</a:t>
            </a:r>
            <a:r>
              <a:rPr lang="en-US" dirty="0"/>
              <a:t> de imagen </a:t>
            </a:r>
            <a:r>
              <a:rPr lang="en-US" dirty="0" err="1"/>
              <a:t>básicos</a:t>
            </a:r>
            <a:r>
              <a:rPr lang="en-US" dirty="0"/>
              <a:t> o </a:t>
            </a:r>
            <a:r>
              <a:rPr lang="en-US" dirty="0" err="1"/>
              <a:t>documentos</a:t>
            </a:r>
            <a:r>
              <a:rPr lang="en-US" dirty="0"/>
              <a:t>.  </a:t>
            </a:r>
          </a:p>
          <a:p>
            <a:endParaRPr lang="en-US" dirty="0"/>
          </a:p>
          <a:p>
            <a:r>
              <a:rPr lang="en-US" dirty="0" err="1"/>
              <a:t>Ejemplo</a:t>
            </a:r>
            <a:r>
              <a:rPr lang="en-US" dirty="0"/>
              <a:t>: </a:t>
            </a:r>
          </a:p>
          <a:p>
            <a:endParaRPr lang="en-US" dirty="0"/>
          </a:p>
          <a:p>
            <a:r>
              <a:rPr lang="en-US" dirty="0"/>
              <a:t>Data Original  	:  AAABBBBBCCDAAA</a:t>
            </a:r>
          </a:p>
          <a:p>
            <a:r>
              <a:rPr lang="en-US" dirty="0" err="1"/>
              <a:t>Codificación</a:t>
            </a:r>
            <a:r>
              <a:rPr lang="en-US" dirty="0"/>
              <a:t> RLE	: 3A5B2C1D3A</a:t>
            </a:r>
          </a:p>
        </p:txBody>
      </p:sp>
    </p:spTree>
    <p:extLst>
      <p:ext uri="{BB962C8B-B14F-4D97-AF65-F5344CB8AC3E}">
        <p14:creationId xmlns:p14="http://schemas.microsoft.com/office/powerpoint/2010/main" val="3134734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1" animBg="1"/>
      <p:bldP spid="14" grpId="0"/>
      <p:bldP spid="3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6319D-9C4E-15BC-22DD-A65043E9A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number with numbers and digits&#10;&#10;Description automatically generated with medium confidence">
            <a:extLst>
              <a:ext uri="{FF2B5EF4-FFF2-40B4-BE49-F238E27FC236}">
                <a16:creationId xmlns:a16="http://schemas.microsoft.com/office/drawing/2014/main" id="{8ACF453E-2D70-FE37-6977-C1D8659EF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44" y="2172076"/>
            <a:ext cx="5181600" cy="2844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47ED2B-C797-5A10-721B-719AA65AC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D2D01B3-03C1-63F2-1C84-B5EC3C5C0D95}"/>
              </a:ext>
            </a:extLst>
          </p:cNvPr>
          <p:cNvSpPr/>
          <p:nvPr/>
        </p:nvSpPr>
        <p:spPr>
          <a:xfrm>
            <a:off x="1830733" y="2382982"/>
            <a:ext cx="3711085" cy="2452254"/>
          </a:xfrm>
          <a:custGeom>
            <a:avLst/>
            <a:gdLst>
              <a:gd name="connsiteX0" fmla="*/ 42531 w 6943061"/>
              <a:gd name="connsiteY0" fmla="*/ 10633 h 2509284"/>
              <a:gd name="connsiteX1" fmla="*/ 946298 w 6943061"/>
              <a:gd name="connsiteY1" fmla="*/ 10633 h 2509284"/>
              <a:gd name="connsiteX2" fmla="*/ 0 w 6943061"/>
              <a:gd name="connsiteY2" fmla="*/ 361507 h 2509284"/>
              <a:gd name="connsiteX3" fmla="*/ 21266 w 6943061"/>
              <a:gd name="connsiteY3" fmla="*/ 733647 h 2509284"/>
              <a:gd name="connsiteX4" fmla="*/ 1924493 w 6943061"/>
              <a:gd name="connsiteY4" fmla="*/ 31898 h 2509284"/>
              <a:gd name="connsiteX5" fmla="*/ 2966484 w 6943061"/>
              <a:gd name="connsiteY5" fmla="*/ 10633 h 2509284"/>
              <a:gd name="connsiteX6" fmla="*/ 21266 w 6943061"/>
              <a:gd name="connsiteY6" fmla="*/ 1148317 h 2509284"/>
              <a:gd name="connsiteX7" fmla="*/ 31898 w 6943061"/>
              <a:gd name="connsiteY7" fmla="*/ 1477926 h 2509284"/>
              <a:gd name="connsiteX8" fmla="*/ 3944680 w 6943061"/>
              <a:gd name="connsiteY8" fmla="*/ 0 h 2509284"/>
              <a:gd name="connsiteX9" fmla="*/ 4922875 w 6943061"/>
              <a:gd name="connsiteY9" fmla="*/ 0 h 2509284"/>
              <a:gd name="connsiteX10" fmla="*/ 21266 w 6943061"/>
              <a:gd name="connsiteY10" fmla="*/ 1839433 h 2509284"/>
              <a:gd name="connsiteX11" fmla="*/ 42531 w 6943061"/>
              <a:gd name="connsiteY11" fmla="*/ 2158410 h 2509284"/>
              <a:gd name="connsiteX12" fmla="*/ 5954233 w 6943061"/>
              <a:gd name="connsiteY12" fmla="*/ 31898 h 2509284"/>
              <a:gd name="connsiteX13" fmla="*/ 6868633 w 6943061"/>
              <a:gd name="connsiteY13" fmla="*/ 21265 h 2509284"/>
              <a:gd name="connsiteX14" fmla="*/ 10633 w 6943061"/>
              <a:gd name="connsiteY14" fmla="*/ 2488019 h 2509284"/>
              <a:gd name="connsiteX15" fmla="*/ 1052624 w 6943061"/>
              <a:gd name="connsiteY15" fmla="*/ 2477386 h 2509284"/>
              <a:gd name="connsiteX16" fmla="*/ 6921796 w 6943061"/>
              <a:gd name="connsiteY16" fmla="*/ 361507 h 2509284"/>
              <a:gd name="connsiteX17" fmla="*/ 6943061 w 6943061"/>
              <a:gd name="connsiteY17" fmla="*/ 712382 h 2509284"/>
              <a:gd name="connsiteX18" fmla="*/ 2030819 w 6943061"/>
              <a:gd name="connsiteY18" fmla="*/ 2477386 h 2509284"/>
              <a:gd name="connsiteX19" fmla="*/ 3009014 w 6943061"/>
              <a:gd name="connsiteY19" fmla="*/ 2488019 h 2509284"/>
              <a:gd name="connsiteX20" fmla="*/ 6921796 w 6943061"/>
              <a:gd name="connsiteY20" fmla="*/ 1105786 h 2509284"/>
              <a:gd name="connsiteX21" fmla="*/ 6943061 w 6943061"/>
              <a:gd name="connsiteY21" fmla="*/ 1477926 h 2509284"/>
              <a:gd name="connsiteX22" fmla="*/ 4029740 w 6943061"/>
              <a:gd name="connsiteY22" fmla="*/ 2477386 h 2509284"/>
              <a:gd name="connsiteX23" fmla="*/ 4976038 w 6943061"/>
              <a:gd name="connsiteY23" fmla="*/ 2509284 h 2509284"/>
              <a:gd name="connsiteX24" fmla="*/ 6900531 w 6943061"/>
              <a:gd name="connsiteY24" fmla="*/ 1786270 h 2509284"/>
              <a:gd name="connsiteX25" fmla="*/ 6921796 w 6943061"/>
              <a:gd name="connsiteY25" fmla="*/ 2126512 h 2509284"/>
              <a:gd name="connsiteX26" fmla="*/ 5954233 w 6943061"/>
              <a:gd name="connsiteY26" fmla="*/ 2477386 h 2509284"/>
              <a:gd name="connsiteX27" fmla="*/ 6943061 w 6943061"/>
              <a:gd name="connsiteY27" fmla="*/ 2477386 h 2509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6943061" h="2509284">
                <a:moveTo>
                  <a:pt x="42531" y="10633"/>
                </a:moveTo>
                <a:lnTo>
                  <a:pt x="946298" y="10633"/>
                </a:lnTo>
                <a:lnTo>
                  <a:pt x="0" y="361507"/>
                </a:lnTo>
                <a:lnTo>
                  <a:pt x="21266" y="733647"/>
                </a:lnTo>
                <a:lnTo>
                  <a:pt x="1924493" y="31898"/>
                </a:lnTo>
                <a:lnTo>
                  <a:pt x="2966484" y="10633"/>
                </a:lnTo>
                <a:lnTo>
                  <a:pt x="21266" y="1148317"/>
                </a:lnTo>
                <a:lnTo>
                  <a:pt x="31898" y="1477926"/>
                </a:lnTo>
                <a:lnTo>
                  <a:pt x="3944680" y="0"/>
                </a:lnTo>
                <a:lnTo>
                  <a:pt x="4922875" y="0"/>
                </a:lnTo>
                <a:lnTo>
                  <a:pt x="21266" y="1839433"/>
                </a:lnTo>
                <a:lnTo>
                  <a:pt x="42531" y="2158410"/>
                </a:lnTo>
                <a:lnTo>
                  <a:pt x="5954233" y="31898"/>
                </a:lnTo>
                <a:lnTo>
                  <a:pt x="6868633" y="21265"/>
                </a:lnTo>
                <a:lnTo>
                  <a:pt x="10633" y="2488019"/>
                </a:lnTo>
                <a:lnTo>
                  <a:pt x="1052624" y="2477386"/>
                </a:lnTo>
                <a:lnTo>
                  <a:pt x="6921796" y="361507"/>
                </a:lnTo>
                <a:lnTo>
                  <a:pt x="6943061" y="712382"/>
                </a:lnTo>
                <a:lnTo>
                  <a:pt x="2030819" y="2477386"/>
                </a:lnTo>
                <a:lnTo>
                  <a:pt x="3009014" y="2488019"/>
                </a:lnTo>
                <a:lnTo>
                  <a:pt x="6921796" y="1105786"/>
                </a:lnTo>
                <a:lnTo>
                  <a:pt x="6943061" y="1477926"/>
                </a:lnTo>
                <a:lnTo>
                  <a:pt x="4029740" y="2477386"/>
                </a:lnTo>
                <a:lnTo>
                  <a:pt x="4976038" y="2509284"/>
                </a:lnTo>
                <a:lnTo>
                  <a:pt x="6900531" y="1786270"/>
                </a:lnTo>
                <a:lnTo>
                  <a:pt x="6921796" y="2126512"/>
                </a:lnTo>
                <a:lnTo>
                  <a:pt x="5954233" y="2477386"/>
                </a:lnTo>
                <a:lnTo>
                  <a:pt x="6943061" y="2477386"/>
                </a:lnTo>
              </a:path>
            </a:pathLst>
          </a:cu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842C4C23-328F-78C1-BACE-6011C55161EF}"/>
              </a:ext>
            </a:extLst>
          </p:cNvPr>
          <p:cNvSpPr/>
          <p:nvPr/>
        </p:nvSpPr>
        <p:spPr>
          <a:xfrm>
            <a:off x="10499602" y="3263134"/>
            <a:ext cx="390418" cy="3313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2" name="Picture 11" descr="A diagram of numbers and symbols&#10;&#10;Description automatically generated">
            <a:extLst>
              <a:ext uri="{FF2B5EF4-FFF2-40B4-BE49-F238E27FC236}">
                <a16:creationId xmlns:a16="http://schemas.microsoft.com/office/drawing/2014/main" id="{16C149A8-527B-68D0-5D17-2D2C33213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7940" y="571500"/>
            <a:ext cx="4178300" cy="5715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E6256C4-CFB2-B16D-AB38-673A7D448E91}"/>
              </a:ext>
            </a:extLst>
          </p:cNvPr>
          <p:cNvSpPr txBox="1"/>
          <p:nvPr/>
        </p:nvSpPr>
        <p:spPr>
          <a:xfrm>
            <a:off x="2272380" y="5128932"/>
            <a:ext cx="2549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+mn-lt"/>
              </a:rPr>
              <a:t>Vectorización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en</a:t>
            </a:r>
            <a:r>
              <a:rPr lang="en-US" dirty="0">
                <a:latin typeface="+mn-lt"/>
              </a:rPr>
              <a:t> zig-zag</a:t>
            </a:r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237334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DEED3-8EE7-13F9-5F35-D6ACF938A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8FC87-8599-B6E5-6777-01DACD52D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5. Huffman encoding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FEA6A9A2-EB57-F7E7-8040-B2EA31FB85FB}"/>
              </a:ext>
            </a:extLst>
          </p:cNvPr>
          <p:cNvSpPr/>
          <p:nvPr/>
        </p:nvSpPr>
        <p:spPr>
          <a:xfrm>
            <a:off x="4652627" y="3656885"/>
            <a:ext cx="390418" cy="3313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3" name="Picture 2" descr="A diagram of numbers and symbols&#10;&#10;Description automatically generated">
            <a:extLst>
              <a:ext uri="{FF2B5EF4-FFF2-40B4-BE49-F238E27FC236}">
                <a16:creationId xmlns:a16="http://schemas.microsoft.com/office/drawing/2014/main" id="{819D1BEC-46E3-B022-E70E-614EAADB6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362" y="1690688"/>
            <a:ext cx="3117265" cy="4263736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B94C76C-57F4-C495-06BB-001C85DFA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756909"/>
              </p:ext>
            </p:extLst>
          </p:nvPr>
        </p:nvGraphicFramePr>
        <p:xfrm>
          <a:off x="6314290" y="1490836"/>
          <a:ext cx="3489813" cy="53644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43245">
                  <a:extLst>
                    <a:ext uri="{9D8B030D-6E8A-4147-A177-3AD203B41FA5}">
                      <a16:colId xmlns:a16="http://schemas.microsoft.com/office/drawing/2014/main" val="32178549"/>
                    </a:ext>
                  </a:extLst>
                </a:gridCol>
                <a:gridCol w="1223284">
                  <a:extLst>
                    <a:ext uri="{9D8B030D-6E8A-4147-A177-3AD203B41FA5}">
                      <a16:colId xmlns:a16="http://schemas.microsoft.com/office/drawing/2014/main" val="4223180878"/>
                    </a:ext>
                  </a:extLst>
                </a:gridCol>
                <a:gridCol w="1223284">
                  <a:extLst>
                    <a:ext uri="{9D8B030D-6E8A-4147-A177-3AD203B41FA5}">
                      <a16:colId xmlns:a16="http://schemas.microsoft.com/office/drawing/2014/main" val="29872068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Length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Size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Number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031695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-26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8538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 dirty="0">
                          <a:effectLst/>
                        </a:rPr>
                        <a:t>0</a:t>
                      </a:r>
                      <a:endParaRPr lang="en-CL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 dirty="0">
                          <a:effectLst/>
                        </a:rPr>
                        <a:t> 2</a:t>
                      </a:r>
                      <a:endParaRPr lang="en-CL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-3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50110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2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-3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44384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2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-2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17543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3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-6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305545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2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 2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77859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3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-4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27494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 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64245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2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-3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14473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 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79344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 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5189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3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 5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2860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 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984182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2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 dirty="0">
                          <a:effectLst/>
                        </a:rPr>
                        <a:t>  2</a:t>
                      </a:r>
                      <a:endParaRPr lang="en-CL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639800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-1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005515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 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0824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-1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408480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2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 2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77810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5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-1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65829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0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>
                          <a:effectLst/>
                        </a:rPr>
                        <a:t> -1</a:t>
                      </a:r>
                      <a:endParaRPr lang="en-CL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44948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38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 dirty="0">
                          <a:effectLst/>
                        </a:rPr>
                        <a:t> 0</a:t>
                      </a:r>
                      <a:endParaRPr lang="en-CL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L" sz="1600" kern="100" dirty="0">
                          <a:effectLst/>
                        </a:rPr>
                        <a:t> </a:t>
                      </a:r>
                      <a:endParaRPr lang="en-CL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57681459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D9BEFBD-BFAF-3DF0-98D2-EAB031CE200D}"/>
              </a:ext>
            </a:extLst>
          </p:cNvPr>
          <p:cNvSpPr txBox="1"/>
          <p:nvPr/>
        </p:nvSpPr>
        <p:spPr>
          <a:xfrm>
            <a:off x="6511636" y="221940"/>
            <a:ext cx="46517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/>
              <a:t>Cuántos ceros hay hasta el siguiente coeficiente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417E84B-5625-6404-C1F4-37CB6E79DC02}"/>
              </a:ext>
            </a:extLst>
          </p:cNvPr>
          <p:cNvCxnSpPr>
            <a:cxnSpLocks/>
          </p:cNvCxnSpPr>
          <p:nvPr/>
        </p:nvCxnSpPr>
        <p:spPr>
          <a:xfrm>
            <a:off x="6816436" y="637303"/>
            <a:ext cx="0" cy="7840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80CCAD7-44B8-A4EE-B82C-7CC3DEE0C0DD}"/>
              </a:ext>
            </a:extLst>
          </p:cNvPr>
          <p:cNvSpPr txBox="1"/>
          <p:nvPr/>
        </p:nvSpPr>
        <p:spPr>
          <a:xfrm>
            <a:off x="7647709" y="629015"/>
            <a:ext cx="4188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/>
              <a:t>Número de bits de la codificación Huffman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B1AEED0-BE06-6F3F-8BFB-4478AEBB9629}"/>
              </a:ext>
            </a:extLst>
          </p:cNvPr>
          <p:cNvCxnSpPr>
            <a:cxnSpLocks/>
          </p:cNvCxnSpPr>
          <p:nvPr/>
        </p:nvCxnSpPr>
        <p:spPr>
          <a:xfrm>
            <a:off x="7952509" y="1002813"/>
            <a:ext cx="0" cy="4185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E1D377B-7C0B-6273-0DC6-E8858EA12CDE}"/>
              </a:ext>
            </a:extLst>
          </p:cNvPr>
          <p:cNvGrpSpPr/>
          <p:nvPr/>
        </p:nvGrpSpPr>
        <p:grpSpPr>
          <a:xfrm>
            <a:off x="1948333" y="3387435"/>
            <a:ext cx="5075922" cy="3040137"/>
            <a:chOff x="1948333" y="3387435"/>
            <a:chExt cx="5075922" cy="3040137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C57260F-F49E-3C35-3702-E36853C95B58}"/>
                </a:ext>
              </a:extLst>
            </p:cNvPr>
            <p:cNvSpPr/>
            <p:nvPr/>
          </p:nvSpPr>
          <p:spPr>
            <a:xfrm>
              <a:off x="6622473" y="6056530"/>
              <a:ext cx="401782" cy="37104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5BBAEE-EC01-43CF-F859-157D119AD6A0}"/>
                </a:ext>
              </a:extLst>
            </p:cNvPr>
            <p:cNvCxnSpPr/>
            <p:nvPr/>
          </p:nvCxnSpPr>
          <p:spPr>
            <a:xfrm>
              <a:off x="3306079" y="3387435"/>
              <a:ext cx="462355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921CDA2-FDAA-A2FB-FE19-E9375EE8C17D}"/>
                </a:ext>
              </a:extLst>
            </p:cNvPr>
            <p:cNvCxnSpPr>
              <a:cxnSpLocks/>
            </p:cNvCxnSpPr>
            <p:nvPr/>
          </p:nvCxnSpPr>
          <p:spPr>
            <a:xfrm>
              <a:off x="1948333" y="3656885"/>
              <a:ext cx="850285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F350F0A-4188-C99F-2BE7-0D825C14506F}"/>
              </a:ext>
            </a:extLst>
          </p:cNvPr>
          <p:cNvGrpSpPr/>
          <p:nvPr/>
        </p:nvGrpSpPr>
        <p:grpSpPr>
          <a:xfrm>
            <a:off x="2854049" y="3089555"/>
            <a:ext cx="6580901" cy="3097174"/>
            <a:chOff x="2854049" y="3089555"/>
            <a:chExt cx="6580901" cy="3097174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076F6538-3EFE-2B87-CB0E-52B888FC28C8}"/>
                </a:ext>
              </a:extLst>
            </p:cNvPr>
            <p:cNvSpPr/>
            <p:nvPr/>
          </p:nvSpPr>
          <p:spPr>
            <a:xfrm>
              <a:off x="9033168" y="5815687"/>
              <a:ext cx="401782" cy="371042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2730C03-064D-E868-4DC2-E007CE5D3BBB}"/>
                </a:ext>
              </a:extLst>
            </p:cNvPr>
            <p:cNvSpPr/>
            <p:nvPr/>
          </p:nvSpPr>
          <p:spPr>
            <a:xfrm>
              <a:off x="2854049" y="3089555"/>
              <a:ext cx="401782" cy="371042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C48555A-EEC7-5C9B-06BE-219C63221B92}"/>
              </a:ext>
            </a:extLst>
          </p:cNvPr>
          <p:cNvSpPr txBox="1"/>
          <p:nvPr/>
        </p:nvSpPr>
        <p:spPr>
          <a:xfrm>
            <a:off x="8828818" y="981447"/>
            <a:ext cx="1708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/>
              <a:t>Número original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0C210BF-109C-AE3A-6551-E47B89BFF511}"/>
              </a:ext>
            </a:extLst>
          </p:cNvPr>
          <p:cNvCxnSpPr>
            <a:cxnSpLocks/>
          </p:cNvCxnSpPr>
          <p:nvPr/>
        </p:nvCxnSpPr>
        <p:spPr>
          <a:xfrm>
            <a:off x="9133618" y="1286606"/>
            <a:ext cx="0" cy="1347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466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1710652-3A83-5E4E-B48B-53D264CA9A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1378" y="1746839"/>
            <a:ext cx="1790700" cy="1790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FC11BC5-BF30-C846-A9C9-A684B199AD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919" y="1714942"/>
            <a:ext cx="1841500" cy="1790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F32900-3708-0540-8256-D80B262F37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428" y="1751122"/>
            <a:ext cx="1828800" cy="1803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072441-6621-3845-96FF-5284A1EB54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9204" y="1742704"/>
            <a:ext cx="2006600" cy="1841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F637B3A-325D-5B42-BA74-1854BC760D95}"/>
              </a:ext>
            </a:extLst>
          </p:cNvPr>
          <p:cNvSpPr txBox="1"/>
          <p:nvPr/>
        </p:nvSpPr>
        <p:spPr>
          <a:xfrm>
            <a:off x="1020725" y="531628"/>
            <a:ext cx="24472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Resultados</a:t>
            </a:r>
            <a:endParaRPr lang="en-US" sz="40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D04B0EB-E96B-C74D-8F13-5543698ED85C}"/>
              </a:ext>
            </a:extLst>
          </p:cNvPr>
          <p:cNvCxnSpPr/>
          <p:nvPr/>
        </p:nvCxnSpPr>
        <p:spPr>
          <a:xfrm>
            <a:off x="3327991" y="1828800"/>
            <a:ext cx="0" cy="31791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1080B85-EA52-6843-A090-D95EE94FB550}"/>
              </a:ext>
            </a:extLst>
          </p:cNvPr>
          <p:cNvSpPr txBox="1"/>
          <p:nvPr/>
        </p:nvSpPr>
        <p:spPr>
          <a:xfrm>
            <a:off x="1456661" y="1201477"/>
            <a:ext cx="917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E43084-B501-3F4E-82D0-920A8CCBA73D}"/>
              </a:ext>
            </a:extLst>
          </p:cNvPr>
          <p:cNvSpPr txBox="1"/>
          <p:nvPr/>
        </p:nvSpPr>
        <p:spPr>
          <a:xfrm>
            <a:off x="4139610" y="1194388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Hi-Quality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52D86E-21A5-7649-9696-E8FA48669238}"/>
              </a:ext>
            </a:extLst>
          </p:cNvPr>
          <p:cNvSpPr txBox="1"/>
          <p:nvPr/>
        </p:nvSpPr>
        <p:spPr>
          <a:xfrm>
            <a:off x="6461052" y="1144769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Med-Quality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9A352A-1977-3543-856C-A3631EA0FE75}"/>
              </a:ext>
            </a:extLst>
          </p:cNvPr>
          <p:cNvSpPr txBox="1"/>
          <p:nvPr/>
        </p:nvSpPr>
        <p:spPr>
          <a:xfrm>
            <a:off x="8644270" y="1105783"/>
            <a:ext cx="1309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Low-Quality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02F5274-FF22-D44E-878D-8576CD5C4A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070" y="3986725"/>
            <a:ext cx="2244208" cy="225990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5A20D06-DFA2-C54E-BE7C-5819E91854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2815" y="3969004"/>
            <a:ext cx="2244208" cy="225990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F397FAB-1ED2-E242-BCED-1A28CE356E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27921" y="3950638"/>
            <a:ext cx="2244208" cy="233837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1293AC1-FFBD-C44C-AAAB-E6EB6E8632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1515" y="4001224"/>
            <a:ext cx="2244208" cy="2306983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CCEDED0F-19C7-0049-A527-10DBDC6A607B}"/>
              </a:ext>
            </a:extLst>
          </p:cNvPr>
          <p:cNvSpPr/>
          <p:nvPr/>
        </p:nvSpPr>
        <p:spPr>
          <a:xfrm>
            <a:off x="1509823" y="4890977"/>
            <a:ext cx="170121" cy="2232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69BBF51-C799-6F45-98FD-AB76B9B9CAB1}"/>
              </a:ext>
            </a:extLst>
          </p:cNvPr>
          <p:cNvGrpSpPr/>
          <p:nvPr/>
        </p:nvGrpSpPr>
        <p:grpSpPr>
          <a:xfrm>
            <a:off x="1605517" y="3430770"/>
            <a:ext cx="673508" cy="1449574"/>
            <a:chOff x="7538484" y="2133598"/>
            <a:chExt cx="673508" cy="144957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EFB3BFB-7B3F-9A43-847B-C59382B96513}"/>
                </a:ext>
              </a:extLst>
            </p:cNvPr>
            <p:cNvSpPr txBox="1"/>
            <p:nvPr/>
          </p:nvSpPr>
          <p:spPr>
            <a:xfrm>
              <a:off x="7588103" y="2133598"/>
              <a:ext cx="6238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 x 8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44F6E049-F11C-784B-9415-F725CC8F86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38484" y="2211572"/>
              <a:ext cx="0" cy="1371600"/>
            </a:xfrm>
            <a:prstGeom prst="straightConnector1">
              <a:avLst/>
            </a:prstGeom>
            <a:ln w="25400">
              <a:solidFill>
                <a:srgbClr val="00B050"/>
              </a:solidFill>
              <a:headEnd type="oval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4148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</TotalTime>
  <Words>2261</Words>
  <Application>Microsoft Macintosh PowerPoint</Application>
  <PresentationFormat>Widescreen</PresentationFormat>
  <Paragraphs>597</Paragraphs>
  <Slides>43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Aptos</vt:lpstr>
      <vt:lpstr>Arial</vt:lpstr>
      <vt:lpstr>Calibri</vt:lpstr>
      <vt:lpstr>Calibri Light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1. Subdivisión en ventanas de 8 x 8</vt:lpstr>
      <vt:lpstr>2. DCT2 para cada ventana normalizada</vt:lpstr>
      <vt:lpstr>3. División por la ‘Tabla de Cuantización’</vt:lpstr>
      <vt:lpstr>4. Vectorización en zig-zag</vt:lpstr>
      <vt:lpstr>4. Vectorización en zig-zag</vt:lpstr>
      <vt:lpstr>4. Vectorización en zig-zag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</vt:lpstr>
      <vt:lpstr>5. Huffman encoding + Run Length Encoding</vt:lpstr>
      <vt:lpstr>5. Huffman encoding</vt:lpstr>
      <vt:lpstr>5. Huffman encoding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Domingo Mery</dc:creator>
  <cp:lastModifiedBy>Domingo Mery</cp:lastModifiedBy>
  <cp:revision>22</cp:revision>
  <dcterms:created xsi:type="dcterms:W3CDTF">2020-10-13T11:35:37Z</dcterms:created>
  <dcterms:modified xsi:type="dcterms:W3CDTF">2025-10-09T13:08:49Z</dcterms:modified>
</cp:coreProperties>
</file>