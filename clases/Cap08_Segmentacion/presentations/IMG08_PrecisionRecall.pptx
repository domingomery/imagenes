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852" r:id="rId2"/>
    <p:sldId id="353" r:id="rId3"/>
    <p:sldId id="345" r:id="rId4"/>
    <p:sldId id="343" r:id="rId5"/>
    <p:sldId id="342" r:id="rId6"/>
    <p:sldId id="341" r:id="rId7"/>
    <p:sldId id="355" r:id="rId8"/>
    <p:sldId id="358" r:id="rId9"/>
    <p:sldId id="339" r:id="rId10"/>
    <p:sldId id="354" r:id="rId11"/>
    <p:sldId id="344" r:id="rId12"/>
    <p:sldId id="348" r:id="rId13"/>
    <p:sldId id="35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9CD"/>
    <a:srgbClr val="9AABDA"/>
    <a:srgbClr val="00FF00"/>
    <a:srgbClr val="9D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9"/>
    <p:restoredTop sz="90667" autoAdjust="0"/>
  </p:normalViewPr>
  <p:slideViewPr>
    <p:cSldViewPr snapToGrid="0" snapToObjects="1">
      <p:cViewPr varScale="1">
        <p:scale>
          <a:sx n="66" d="100"/>
          <a:sy n="66" d="100"/>
        </p:scale>
        <p:origin x="1120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8" d="100"/>
        <a:sy n="12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CB84B-3086-824D-91F5-F571CFDD3E7D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E9996-E95A-6C4A-95EE-D7EBED57F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25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81F7B-B612-1A28-18D4-764797F8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1877F36F-94F7-9FF3-45C9-D99D7E7F3F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</a:t>
            </a:fld>
            <a:endParaRPr lang="en-US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9C33EE4-CC64-2714-B9C0-9DAD345B14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32902852-50D7-A818-5454-9CAF7EC41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7776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9996-E95A-6C4A-95EE-D7EBED57F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2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CFB44-8788-A749-9C3A-9AA984AD1C1A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8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F7600-5B53-5D4B-9A1C-00C180EA4ACC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85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2827D-66C1-8845-B375-046F25EBA1A4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1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7383E-F0B0-864C-812F-BC6E84BFA2A6}" type="datetime1">
              <a:rPr lang="en-AU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62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07324-84E3-C540-9709-EC8DF05107DA}" type="datetime1">
              <a:rPr lang="en-AU" smtClean="0"/>
              <a:t>13/11/2025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6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2A8C1-D0A5-1B46-B38F-340CFD2E2291}" type="datetime1">
              <a:rPr lang="en-AU" smtClean="0"/>
              <a:t>13/11/2025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853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96F46-70AC-6544-A2FE-763317A50DAB}" type="datetime1">
              <a:rPr lang="en-AU" smtClean="0"/>
              <a:t>13/11/2025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7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28BD-4543-B247-8A97-C3039CA92649}" type="datetime1">
              <a:rPr lang="en-AU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6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0C97B-51D3-2849-AFA0-E2276A30B22F}" type="datetime1">
              <a:rPr lang="en-AU" smtClean="0"/>
              <a:t>13/11/2025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11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780F-C6CB-7041-B6E2-51E72636706A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6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E8964-5FA7-B743-BE42-A3E6EFC642D5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3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90746-FE7D-114C-97D5-F9F4EAF1830F}" type="datetime1">
              <a:rPr lang="en-AU" smtClean="0"/>
              <a:t>13/11/2025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B2870-7350-8D40-A01A-CE539DF873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6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5F5FF-573C-4851-676D-5EECC4C0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>
            <a:extLst>
              <a:ext uri="{FF2B5EF4-FFF2-40B4-BE49-F238E27FC236}">
                <a16:creationId xmlns:a16="http://schemas.microsoft.com/office/drawing/2014/main" id="{387BB888-221C-CE5E-D381-FD269BA19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021" y="1690179"/>
            <a:ext cx="4012637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P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r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o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c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s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a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m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i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n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t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o</a:t>
            </a:r>
            <a:r>
              <a:rPr lang="es-CL" sz="2400" dirty="0">
                <a:solidFill>
                  <a:srgbClr val="3333CC"/>
                </a:solidFill>
                <a:latin typeface="Trebuchet MS" pitchFamily="34" charset="0"/>
              </a:rPr>
              <a:t> 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d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e 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I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m</a:t>
            </a:r>
            <a:r>
              <a:rPr lang="es-CL" sz="2400" dirty="0">
                <a:solidFill>
                  <a:srgbClr val="FF6600"/>
                </a:solidFill>
                <a:latin typeface="Trebuchet MS" pitchFamily="34" charset="0"/>
              </a:rPr>
              <a:t>á</a:t>
            </a:r>
            <a:r>
              <a:rPr lang="es-CL" sz="2400" dirty="0">
                <a:solidFill>
                  <a:srgbClr val="FF0000"/>
                </a:solidFill>
                <a:latin typeface="Trebuchet MS" pitchFamily="34" charset="0"/>
              </a:rPr>
              <a:t>g</a:t>
            </a:r>
            <a:r>
              <a:rPr lang="es-CL" sz="2400" dirty="0">
                <a:solidFill>
                  <a:srgbClr val="3366FF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rgbClr val="FFFF00"/>
                </a:solidFill>
                <a:latin typeface="Trebuchet MS" pitchFamily="34" charset="0"/>
              </a:rPr>
              <a:t>n</a:t>
            </a:r>
            <a:r>
              <a:rPr lang="es-CL" sz="2400" dirty="0">
                <a:solidFill>
                  <a:srgbClr val="00FF00"/>
                </a:solidFill>
                <a:latin typeface="Trebuchet MS" pitchFamily="34" charset="0"/>
              </a:rPr>
              <a:t>e</a:t>
            </a:r>
            <a:r>
              <a:rPr lang="es-CL" sz="2400" dirty="0">
                <a:solidFill>
                  <a:schemeClr val="bg1"/>
                </a:solidFill>
                <a:latin typeface="Trebuchet MS" pitchFamily="34" charset="0"/>
              </a:rPr>
              <a:t>s</a:t>
            </a:r>
            <a:endParaRPr lang="es-CL" sz="2400" dirty="0">
              <a:solidFill>
                <a:srgbClr val="FF0000"/>
              </a:solidFill>
              <a:latin typeface="Trebuchet MS" pitchFamily="34" charset="0"/>
            </a:endParaRPr>
          </a:p>
          <a:p>
            <a:pPr algn="ctr"/>
            <a:r>
              <a:rPr lang="es-CL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Trebuchet MS" pitchFamily="34" charset="0"/>
              </a:rPr>
              <a:t> </a:t>
            </a: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sz="2400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endParaRPr lang="es-CL" dirty="0">
              <a:solidFill>
                <a:srgbClr val="3333CC"/>
              </a:solidFill>
              <a:latin typeface="Trebuchet MS" pitchFamily="34" charset="0"/>
            </a:endParaRPr>
          </a:p>
          <a:p>
            <a:pPr algn="ctr"/>
            <a:r>
              <a:rPr lang="es-CL" sz="14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Domingo Mery</a:t>
            </a:r>
          </a:p>
          <a:p>
            <a:pPr algn="ctr"/>
            <a:endParaRPr lang="es-CL" sz="1200" dirty="0">
              <a:solidFill>
                <a:schemeClr val="bg1">
                  <a:lumMod val="75000"/>
                </a:schemeClr>
              </a:solidFill>
              <a:latin typeface="Trebuchet MS" pitchFamily="34" charset="0"/>
            </a:endParaRP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Departamento de Ciencia de la Computación</a:t>
            </a: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Escuela de Ingeniería</a:t>
            </a:r>
          </a:p>
          <a:p>
            <a:pPr algn="ctr"/>
            <a:r>
              <a:rPr lang="es-CL" sz="1200" dirty="0">
                <a:solidFill>
                  <a:schemeClr val="bg1">
                    <a:lumMod val="75000"/>
                  </a:schemeClr>
                </a:solidFill>
                <a:latin typeface="Trebuchet MS" pitchFamily="34" charset="0"/>
              </a:rPr>
              <a:t>Universidad Católica de Chile</a:t>
            </a:r>
          </a:p>
        </p:txBody>
      </p:sp>
      <p:pic>
        <p:nvPicPr>
          <p:cNvPr id="3" name="Picture 2" descr="Screen Shot 2014-07-28 at 3.30.32 PM.png">
            <a:extLst>
              <a:ext uri="{FF2B5EF4-FFF2-40B4-BE49-F238E27FC236}">
                <a16:creationId xmlns:a16="http://schemas.microsoft.com/office/drawing/2014/main" id="{40111FE0-6496-D546-8CA1-16B241ACB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599" y="932796"/>
            <a:ext cx="2252133" cy="7099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BBF6D9-2856-8B12-B16E-8469CC590BF9}"/>
              </a:ext>
            </a:extLst>
          </p:cNvPr>
          <p:cNvSpPr/>
          <p:nvPr/>
        </p:nvSpPr>
        <p:spPr>
          <a:xfrm>
            <a:off x="3700665" y="1065604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848E6-B2B5-49DD-E559-9E0F556560B4}"/>
              </a:ext>
            </a:extLst>
          </p:cNvPr>
          <p:cNvSpPr/>
          <p:nvPr/>
        </p:nvSpPr>
        <p:spPr>
          <a:xfrm>
            <a:off x="3853065" y="1218004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FCC54-18D1-8F4F-DDBB-C246FAB60AF5}"/>
              </a:ext>
            </a:extLst>
          </p:cNvPr>
          <p:cNvSpPr/>
          <p:nvPr/>
        </p:nvSpPr>
        <p:spPr>
          <a:xfrm>
            <a:off x="3618618" y="1370404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A876B7-E25E-28D7-112A-7A6EC80250D5}"/>
              </a:ext>
            </a:extLst>
          </p:cNvPr>
          <p:cNvSpPr/>
          <p:nvPr/>
        </p:nvSpPr>
        <p:spPr>
          <a:xfrm>
            <a:off x="4005465" y="990856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84F01D-B875-9B70-180F-07EC67653CD5}"/>
              </a:ext>
            </a:extLst>
          </p:cNvPr>
          <p:cNvSpPr/>
          <p:nvPr/>
        </p:nvSpPr>
        <p:spPr>
          <a:xfrm>
            <a:off x="3808392" y="1501786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A7927A-EB24-F548-FB44-BF62BC20DFEE}"/>
              </a:ext>
            </a:extLst>
          </p:cNvPr>
          <p:cNvSpPr txBox="1"/>
          <p:nvPr/>
        </p:nvSpPr>
        <p:spPr>
          <a:xfrm>
            <a:off x="1" y="3031066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solidFill>
                  <a:srgbClr val="FFFFFF"/>
                </a:solidFill>
                <a:latin typeface="Trebuchet MS"/>
                <a:cs typeface="Trebuchet MS"/>
              </a:rPr>
              <a:t>Métricas de Desempeño </a:t>
            </a:r>
            <a:r>
              <a:rPr lang="es-CL" sz="2400" b="1">
                <a:solidFill>
                  <a:srgbClr val="FFFFFF"/>
                </a:solidFill>
                <a:latin typeface="Trebuchet MS"/>
                <a:cs typeface="Trebuchet MS"/>
              </a:rPr>
              <a:t>de Segmentación</a:t>
            </a:r>
            <a:endParaRPr lang="es-CL" sz="2400" b="1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algn="ctr"/>
            <a:endParaRPr lang="es-CL" sz="100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algn="ctr"/>
            <a:r>
              <a:rPr lang="es-CL" sz="1000" dirty="0">
                <a:solidFill>
                  <a:srgbClr val="FFFFFF"/>
                </a:solidFill>
                <a:latin typeface="Trebuchet MS"/>
                <a:cs typeface="Trebuchet MS"/>
              </a:rPr>
              <a:t>[ Capítulo 8 ]</a:t>
            </a:r>
          </a:p>
        </p:txBody>
      </p:sp>
    </p:spTree>
    <p:extLst>
      <p:ext uri="{BB962C8B-B14F-4D97-AF65-F5344CB8AC3E}">
        <p14:creationId xmlns:p14="http://schemas.microsoft.com/office/powerpoint/2010/main" val="37452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2025570" y="3530278"/>
            <a:ext cx="0" cy="1840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947502" y="6355352"/>
            <a:ext cx="11671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21235" y="615773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baseline="-25000"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858" y="65637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47526" y="3034490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x</a:t>
            </a:r>
            <a:r>
              <a:rPr lang="en-US" baseline="-25000" dirty="0"/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0753" y="3655327"/>
            <a:ext cx="11705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aseline="-25000" dirty="0">
                <a:solidFill>
                  <a:srgbClr val="FF0000"/>
                </a:solidFill>
              </a:rPr>
              <a:t>*</a:t>
            </a:r>
            <a:r>
              <a:rPr lang="en-US" dirty="0">
                <a:solidFill>
                  <a:srgbClr val="FF0000"/>
                </a:solidFill>
              </a:rPr>
              <a:t> : class 1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32899" y="3812482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94FAD-3FF2-A146-BD84-6E869ED5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2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036CBD-2D26-F74C-A034-3C50089F6ED1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25396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72244" y="3941505"/>
            <a:ext cx="835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Target</a:t>
            </a:r>
            <a:endParaRPr lang="en-US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2301" y="1058117"/>
            <a:ext cx="3934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Positive instances (P)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Negative instances 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897" y="3879724"/>
            <a:ext cx="154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1370723" y="424905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81B350-B799-DC41-A594-821526EC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D7B15-8CD6-F846-A14D-808AF038BBC3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114705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46545" y="5991371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Detection using </a:t>
            </a:r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a classifier</a:t>
            </a:r>
            <a:endParaRPr lang="en-US" dirty="0">
              <a:latin typeface="Trebuchet MS" charset="0"/>
              <a:ea typeface="Trebuchet MS" charset="0"/>
              <a:cs typeface="Trebuchet MS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4139" y="279688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Detection </a:t>
            </a:r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(D)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5020302" y="3166215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897" y="3879724"/>
            <a:ext cx="154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70723" y="424905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9EC51D-8E69-7248-B6D2-713DC2C7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3A32C-6447-3B4C-8214-754704ADCCD7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45036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noFill/>
          <a:ln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944139" y="279688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Detection </a:t>
            </a:r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(D)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6545" y="5991371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Detection using </a:t>
            </a:r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a classifier</a:t>
            </a:r>
            <a:endParaRPr lang="en-US" dirty="0">
              <a:latin typeface="Trebuchet MS" charset="0"/>
              <a:ea typeface="Trebuchet MS" charset="0"/>
              <a:cs typeface="Trebuchet MS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5020302" y="3166215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4897" y="3879724"/>
            <a:ext cx="154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70723" y="424905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057C8D-E7AC-7B4F-8595-3EA8B512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DBC68-B796-4F42-9E12-9FE9A2EA65D0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317973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52301" y="921637"/>
            <a:ext cx="3790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Magenta pixels: True positives (TP)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Blue pixels: False positives (FP)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False negatives (FN)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True negatives (TN) 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4155" y="94088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684155" y="124943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679732" y="155542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679732" y="188145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3D98C5-FF0D-884F-9493-F438E9BBD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0868C2-D2BB-AA48-BC68-8FCE9C73D0E0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31F7A4-785B-8641-A05F-7AAC3DE1D68A}"/>
              </a:ext>
            </a:extLst>
          </p:cNvPr>
          <p:cNvSpPr txBox="1"/>
          <p:nvPr/>
        </p:nvSpPr>
        <p:spPr>
          <a:xfrm>
            <a:off x="6944139" y="279688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Detection </a:t>
            </a:r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(D)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2317E2-7C9B-B648-BE61-96D87F389CFB}"/>
              </a:ext>
            </a:extLst>
          </p:cNvPr>
          <p:cNvCxnSpPr/>
          <p:nvPr/>
        </p:nvCxnSpPr>
        <p:spPr>
          <a:xfrm flipH="1">
            <a:off x="5020302" y="3166215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3C45CFA-9B61-3443-A594-9D1F0E21F685}"/>
              </a:ext>
            </a:extLst>
          </p:cNvPr>
          <p:cNvSpPr txBox="1"/>
          <p:nvPr/>
        </p:nvSpPr>
        <p:spPr>
          <a:xfrm>
            <a:off x="374897" y="3879724"/>
            <a:ext cx="154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326107-3E36-BA42-A9DE-6CFF3C948475}"/>
              </a:ext>
            </a:extLst>
          </p:cNvPr>
          <p:cNvCxnSpPr/>
          <p:nvPr/>
        </p:nvCxnSpPr>
        <p:spPr>
          <a:xfrm flipH="1">
            <a:off x="1370723" y="424905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893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52301" y="921637"/>
            <a:ext cx="3790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Magenta pixels: True positives (TP)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Blue pixels: False positives (FP)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False negatives (FN)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True negatives (TN) </a:t>
            </a:r>
          </a:p>
        </p:txBody>
      </p:sp>
      <p:sp>
        <p:nvSpPr>
          <p:cNvPr id="2" name="Rectangle 1"/>
          <p:cNvSpPr/>
          <p:nvPr/>
        </p:nvSpPr>
        <p:spPr>
          <a:xfrm>
            <a:off x="4402813" y="3954020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TP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1375" y="4529508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72066" y="3710636"/>
            <a:ext cx="393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83267" y="513228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latin typeface="Trebuchet MS" charset="0"/>
                <a:ea typeface="Trebuchet MS" charset="0"/>
                <a:cs typeface="Trebuchet MS" charset="0"/>
              </a:rPr>
              <a:t>TN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8684155" y="94088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84155" y="124943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79732" y="155542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679732" y="188145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96049-3F14-BD40-A92C-530C6871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7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DEC8F8-22E2-694D-8A48-245C3C36FAFF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B92C53-EE4B-1543-AE12-F65300307ED6}"/>
              </a:ext>
            </a:extLst>
          </p:cNvPr>
          <p:cNvSpPr txBox="1"/>
          <p:nvPr/>
        </p:nvSpPr>
        <p:spPr>
          <a:xfrm>
            <a:off x="6944139" y="279688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Trebuchet MS" charset="0"/>
                <a:ea typeface="Trebuchet MS" charset="0"/>
                <a:cs typeface="Trebuchet MS" charset="0"/>
              </a:rPr>
              <a:t>Detection </a:t>
            </a:r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(D)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97CBA2-9102-AA44-8267-989B6DD9E0CA}"/>
              </a:ext>
            </a:extLst>
          </p:cNvPr>
          <p:cNvCxnSpPr/>
          <p:nvPr/>
        </p:nvCxnSpPr>
        <p:spPr>
          <a:xfrm flipH="1">
            <a:off x="5020302" y="3166215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650D91-183D-4D45-8FC1-DA3ED99C9EB8}"/>
              </a:ext>
            </a:extLst>
          </p:cNvPr>
          <p:cNvSpPr txBox="1"/>
          <p:nvPr/>
        </p:nvSpPr>
        <p:spPr>
          <a:xfrm>
            <a:off x="374897" y="3879724"/>
            <a:ext cx="154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Ground Truth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86D8BF6-3D0A-D14B-AB48-538A08DECA65}"/>
              </a:ext>
            </a:extLst>
          </p:cNvPr>
          <p:cNvCxnSpPr/>
          <p:nvPr/>
        </p:nvCxnSpPr>
        <p:spPr>
          <a:xfrm flipH="1">
            <a:off x="1370723" y="4249056"/>
            <a:ext cx="1935698" cy="122417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0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55814" y="940885"/>
            <a:ext cx="13981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IDEAL</a:t>
            </a:r>
          </a:p>
          <a:p>
            <a:pPr algn="ctr"/>
            <a:r>
              <a:rPr lang="es-ES" sz="2000" dirty="0"/>
              <a:t>TPR = 100%</a:t>
            </a:r>
          </a:p>
          <a:p>
            <a:pPr algn="ctr"/>
            <a:r>
              <a:rPr lang="es-ES" sz="2000" dirty="0"/>
              <a:t>FPR = 0%</a:t>
            </a:r>
            <a:endParaRPr lang="en-US" sz="2000" dirty="0"/>
          </a:p>
          <a:p>
            <a:pPr algn="ctr"/>
            <a:r>
              <a:rPr lang="en-US" sz="2000" dirty="0"/>
              <a:t>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933452" y="3986282"/>
            <a:ext cx="1160059" cy="1269238"/>
            <a:chOff x="2388361" y="2169997"/>
            <a:chExt cx="4285397" cy="3766782"/>
          </a:xfrm>
        </p:grpSpPr>
        <p:sp>
          <p:nvSpPr>
            <p:cNvPr id="8" name="Rectangle 7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929642" y="2363910"/>
              <a:ext cx="3421845" cy="3024829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45558" y="3977800"/>
            <a:ext cx="1160059" cy="1269238"/>
            <a:chOff x="2388361" y="2169997"/>
            <a:chExt cx="4285397" cy="3766782"/>
          </a:xfrm>
        </p:grpSpPr>
        <p:sp>
          <p:nvSpPr>
            <p:cNvPr id="15" name="Rectangle 14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3928794" y="3555480"/>
              <a:ext cx="981831" cy="952007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92243" y="3529263"/>
            <a:ext cx="1729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false positive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2301" y="921637"/>
            <a:ext cx="3790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Magenta pixels: True positives (TP)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Blue pixels: False positives (FP)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False negatives (FN)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True negatives (TN)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4155" y="94088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684155" y="124943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79732" y="155542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679732" y="188145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529385" y="3331469"/>
            <a:ext cx="2027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All positive samples</a:t>
            </a:r>
          </a:p>
          <a:p>
            <a:pPr algn="ctr"/>
            <a:r>
              <a:rPr lang="en-US" dirty="0"/>
              <a:t>are 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970" y="5342023"/>
            <a:ext cx="1534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false alarm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9303" y="5342023"/>
            <a:ext cx="201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All targets detected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189" y="3233074"/>
            <a:ext cx="965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Extreme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877" y="2948022"/>
            <a:ext cx="965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Extreme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3967208" y="3986282"/>
            <a:ext cx="1160059" cy="1269238"/>
            <a:chOff x="2388361" y="2169997"/>
            <a:chExt cx="4285397" cy="3766782"/>
          </a:xfrm>
        </p:grpSpPr>
        <p:sp>
          <p:nvSpPr>
            <p:cNvPr id="32" name="Rectangle 31"/>
            <p:cNvSpPr/>
            <p:nvPr/>
          </p:nvSpPr>
          <p:spPr>
            <a:xfrm>
              <a:off x="2388361" y="2169997"/>
              <a:ext cx="4285397" cy="376678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3005157" y="3166215"/>
              <a:ext cx="2729534" cy="191991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9534" h="1919913">
                  <a:moveTo>
                    <a:pt x="1034582" y="341268"/>
                  </a:moveTo>
                  <a:cubicBezTo>
                    <a:pt x="1284791" y="238910"/>
                    <a:pt x="1230200" y="-68165"/>
                    <a:pt x="1512254" y="13722"/>
                  </a:cubicBezTo>
                  <a:cubicBezTo>
                    <a:pt x="1794308" y="95609"/>
                    <a:pt x="2679138" y="518690"/>
                    <a:pt x="2726905" y="832588"/>
                  </a:cubicBezTo>
                  <a:cubicBezTo>
                    <a:pt x="2774672" y="1146486"/>
                    <a:pt x="2160523" y="1787931"/>
                    <a:pt x="1798857" y="1897113"/>
                  </a:cubicBezTo>
                  <a:cubicBezTo>
                    <a:pt x="1437191" y="2006295"/>
                    <a:pt x="854887" y="1699220"/>
                    <a:pt x="556911" y="1487680"/>
                  </a:cubicBezTo>
                  <a:cubicBezTo>
                    <a:pt x="258935" y="1276140"/>
                    <a:pt x="-64063" y="816665"/>
                    <a:pt x="11000" y="627871"/>
                  </a:cubicBezTo>
                  <a:cubicBezTo>
                    <a:pt x="86063" y="439077"/>
                    <a:pt x="784373" y="443626"/>
                    <a:pt x="1034582" y="341268"/>
                  </a:cubicBezTo>
                  <a:close/>
                </a:path>
              </a:pathLst>
            </a:cu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3153716" y="2907804"/>
              <a:ext cx="2388869" cy="1921093"/>
            </a:xfrm>
            <a:custGeom>
              <a:avLst/>
              <a:gdLst>
                <a:gd name="connsiteX0" fmla="*/ 1034582 w 2729534"/>
                <a:gd name="connsiteY0" fmla="*/ 341268 h 1919913"/>
                <a:gd name="connsiteX1" fmla="*/ 1512254 w 2729534"/>
                <a:gd name="connsiteY1" fmla="*/ 13722 h 1919913"/>
                <a:gd name="connsiteX2" fmla="*/ 2726905 w 2729534"/>
                <a:gd name="connsiteY2" fmla="*/ 832588 h 1919913"/>
                <a:gd name="connsiteX3" fmla="*/ 1798857 w 2729534"/>
                <a:gd name="connsiteY3" fmla="*/ 1897113 h 1919913"/>
                <a:gd name="connsiteX4" fmla="*/ 556911 w 2729534"/>
                <a:gd name="connsiteY4" fmla="*/ 1487680 h 1919913"/>
                <a:gd name="connsiteX5" fmla="*/ 11000 w 2729534"/>
                <a:gd name="connsiteY5" fmla="*/ 627871 h 1919913"/>
                <a:gd name="connsiteX6" fmla="*/ 1034582 w 2729534"/>
                <a:gd name="connsiteY6" fmla="*/ 341268 h 1919913"/>
                <a:gd name="connsiteX0" fmla="*/ 1034582 w 2242520"/>
                <a:gd name="connsiteY0" fmla="*/ 343152 h 1919663"/>
                <a:gd name="connsiteX1" fmla="*/ 1512254 w 2242520"/>
                <a:gd name="connsiteY1" fmla="*/ 15606 h 1919663"/>
                <a:gd name="connsiteX2" fmla="*/ 2235585 w 2242520"/>
                <a:gd name="connsiteY2" fmla="*/ 875416 h 1919663"/>
                <a:gd name="connsiteX3" fmla="*/ 1798857 w 2242520"/>
                <a:gd name="connsiteY3" fmla="*/ 1898997 h 1919663"/>
                <a:gd name="connsiteX4" fmla="*/ 556911 w 2242520"/>
                <a:gd name="connsiteY4" fmla="*/ 1489564 h 1919663"/>
                <a:gd name="connsiteX5" fmla="*/ 11000 w 2242520"/>
                <a:gd name="connsiteY5" fmla="*/ 629755 h 1919663"/>
                <a:gd name="connsiteX6" fmla="*/ 1034582 w 2242520"/>
                <a:gd name="connsiteY6" fmla="*/ 343152 h 1919663"/>
                <a:gd name="connsiteX0" fmla="*/ 1034582 w 2253299"/>
                <a:gd name="connsiteY0" fmla="*/ 435985 h 2012496"/>
                <a:gd name="connsiteX1" fmla="*/ 1280242 w 2253299"/>
                <a:gd name="connsiteY1" fmla="*/ 12904 h 2012496"/>
                <a:gd name="connsiteX2" fmla="*/ 2235585 w 2253299"/>
                <a:gd name="connsiteY2" fmla="*/ 968249 h 2012496"/>
                <a:gd name="connsiteX3" fmla="*/ 1798857 w 2253299"/>
                <a:gd name="connsiteY3" fmla="*/ 1991830 h 2012496"/>
                <a:gd name="connsiteX4" fmla="*/ 556911 w 2253299"/>
                <a:gd name="connsiteY4" fmla="*/ 1582397 h 2012496"/>
                <a:gd name="connsiteX5" fmla="*/ 11000 w 2253299"/>
                <a:gd name="connsiteY5" fmla="*/ 722588 h 2012496"/>
                <a:gd name="connsiteX6" fmla="*/ 1034582 w 2253299"/>
                <a:gd name="connsiteY6" fmla="*/ 435985 h 2012496"/>
                <a:gd name="connsiteX0" fmla="*/ 586989 w 2242434"/>
                <a:gd name="connsiteY0" fmla="*/ 487258 h 2009178"/>
                <a:gd name="connsiteX1" fmla="*/ 1269377 w 2242434"/>
                <a:gd name="connsiteY1" fmla="*/ 9586 h 2009178"/>
                <a:gd name="connsiteX2" fmla="*/ 2224720 w 2242434"/>
                <a:gd name="connsiteY2" fmla="*/ 964931 h 2009178"/>
                <a:gd name="connsiteX3" fmla="*/ 1787992 w 2242434"/>
                <a:gd name="connsiteY3" fmla="*/ 1988512 h 2009178"/>
                <a:gd name="connsiteX4" fmla="*/ 546046 w 2242434"/>
                <a:gd name="connsiteY4" fmla="*/ 1579079 h 2009178"/>
                <a:gd name="connsiteX5" fmla="*/ 135 w 2242434"/>
                <a:gd name="connsiteY5" fmla="*/ 719270 h 2009178"/>
                <a:gd name="connsiteX6" fmla="*/ 586989 w 2242434"/>
                <a:gd name="connsiteY6" fmla="*/ 487258 h 2009178"/>
                <a:gd name="connsiteX0" fmla="*/ 602616 w 2260356"/>
                <a:gd name="connsiteY0" fmla="*/ 487258 h 2028895"/>
                <a:gd name="connsiteX1" fmla="*/ 1285004 w 2260356"/>
                <a:gd name="connsiteY1" fmla="*/ 9586 h 2028895"/>
                <a:gd name="connsiteX2" fmla="*/ 2240347 w 2260356"/>
                <a:gd name="connsiteY2" fmla="*/ 964931 h 2028895"/>
                <a:gd name="connsiteX3" fmla="*/ 1803619 w 2260356"/>
                <a:gd name="connsiteY3" fmla="*/ 1988512 h 2028895"/>
                <a:gd name="connsiteX4" fmla="*/ 316014 w 2260356"/>
                <a:gd name="connsiteY4" fmla="*/ 1715556 h 2028895"/>
                <a:gd name="connsiteX5" fmla="*/ 15762 w 2260356"/>
                <a:gd name="connsiteY5" fmla="*/ 719270 h 2028895"/>
                <a:gd name="connsiteX6" fmla="*/ 602616 w 2260356"/>
                <a:gd name="connsiteY6" fmla="*/ 487258 h 2028895"/>
                <a:gd name="connsiteX0" fmla="*/ 1121883 w 2779623"/>
                <a:gd name="connsiteY0" fmla="*/ 487386 h 2029023"/>
                <a:gd name="connsiteX1" fmla="*/ 1804271 w 2779623"/>
                <a:gd name="connsiteY1" fmla="*/ 9714 h 2029023"/>
                <a:gd name="connsiteX2" fmla="*/ 2759614 w 2779623"/>
                <a:gd name="connsiteY2" fmla="*/ 965059 h 2029023"/>
                <a:gd name="connsiteX3" fmla="*/ 2322886 w 2779623"/>
                <a:gd name="connsiteY3" fmla="*/ 1988640 h 2029023"/>
                <a:gd name="connsiteX4" fmla="*/ 835281 w 2779623"/>
                <a:gd name="connsiteY4" fmla="*/ 1715684 h 2029023"/>
                <a:gd name="connsiteX5" fmla="*/ 2767 w 2779623"/>
                <a:gd name="connsiteY5" fmla="*/ 760342 h 2029023"/>
                <a:gd name="connsiteX6" fmla="*/ 1121883 w 2779623"/>
                <a:gd name="connsiteY6" fmla="*/ 487386 h 2029023"/>
                <a:gd name="connsiteX0" fmla="*/ 932037 w 2589777"/>
                <a:gd name="connsiteY0" fmla="*/ 487518 h 2029155"/>
                <a:gd name="connsiteX1" fmla="*/ 1614425 w 2589777"/>
                <a:gd name="connsiteY1" fmla="*/ 9846 h 2029155"/>
                <a:gd name="connsiteX2" fmla="*/ 2569768 w 2589777"/>
                <a:gd name="connsiteY2" fmla="*/ 965191 h 2029155"/>
                <a:gd name="connsiteX3" fmla="*/ 2133040 w 2589777"/>
                <a:gd name="connsiteY3" fmla="*/ 1988772 h 2029155"/>
                <a:gd name="connsiteX4" fmla="*/ 645435 w 2589777"/>
                <a:gd name="connsiteY4" fmla="*/ 1715816 h 2029155"/>
                <a:gd name="connsiteX5" fmla="*/ 3989 w 2589777"/>
                <a:gd name="connsiteY5" fmla="*/ 801418 h 2029155"/>
                <a:gd name="connsiteX6" fmla="*/ 932037 w 2589777"/>
                <a:gd name="connsiteY6" fmla="*/ 487518 h 20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89777" h="2029155">
                  <a:moveTo>
                    <a:pt x="932037" y="487518"/>
                  </a:moveTo>
                  <a:cubicBezTo>
                    <a:pt x="1200443" y="355589"/>
                    <a:pt x="1341470" y="-69766"/>
                    <a:pt x="1614425" y="9846"/>
                  </a:cubicBezTo>
                  <a:cubicBezTo>
                    <a:pt x="1887380" y="89458"/>
                    <a:pt x="2483332" y="635370"/>
                    <a:pt x="2569768" y="965191"/>
                  </a:cubicBezTo>
                  <a:cubicBezTo>
                    <a:pt x="2656204" y="1295012"/>
                    <a:pt x="2453762" y="1863668"/>
                    <a:pt x="2133040" y="1988772"/>
                  </a:cubicBezTo>
                  <a:cubicBezTo>
                    <a:pt x="1812318" y="2113876"/>
                    <a:pt x="943411" y="1927356"/>
                    <a:pt x="645435" y="1715816"/>
                  </a:cubicBezTo>
                  <a:cubicBezTo>
                    <a:pt x="347459" y="1504276"/>
                    <a:pt x="-43778" y="1006134"/>
                    <a:pt x="3989" y="801418"/>
                  </a:cubicBezTo>
                  <a:cubicBezTo>
                    <a:pt x="51756" y="596702"/>
                    <a:pt x="663631" y="619447"/>
                    <a:pt x="932037" y="487518"/>
                  </a:cubicBezTo>
                  <a:close/>
                </a:path>
              </a:pathLst>
            </a:custGeom>
            <a:solidFill>
              <a:srgbClr val="2249CD">
                <a:alpha val="36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3621371" y="5350045"/>
            <a:ext cx="19191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Reality:</a:t>
            </a:r>
          </a:p>
          <a:p>
            <a:pPr algn="ctr"/>
            <a:r>
              <a:rPr lang="en-US" dirty="0"/>
              <a:t>Trade-off between</a:t>
            </a:r>
          </a:p>
          <a:p>
            <a:pPr algn="ctr"/>
            <a:r>
              <a:rPr lang="en-US" dirty="0"/>
              <a:t>FPR and TPR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74A74-C055-C34E-9165-A751EA64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8</a:t>
            </a:fld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6BF86-3F56-2C40-9996-17B466F50C7F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2108233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694" y="0"/>
            <a:ext cx="5171946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4525" y="1173707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DEFINITIONS ]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87CAE3-ACE7-8948-8235-DDC7BDC69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315B85-2C73-B740-B366-117E88AF1DD2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1763520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2101519"/>
            <a:ext cx="55735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/>
              <a:t>Curve</a:t>
            </a:r>
          </a:p>
          <a:p>
            <a:pPr algn="ctr"/>
            <a:r>
              <a:rPr lang="en-US" sz="6000" dirty="0"/>
              <a:t>Precision </a:t>
            </a:r>
            <a:r>
              <a:rPr lang="mr-IN" sz="6000" dirty="0"/>
              <a:t>–</a:t>
            </a:r>
            <a:r>
              <a:rPr lang="en-US" sz="6000" dirty="0"/>
              <a:t> Recall</a:t>
            </a:r>
          </a:p>
          <a:p>
            <a:pPr algn="ctr"/>
            <a:r>
              <a:rPr lang="en-US" sz="6000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38634C-7D74-4D4B-ACD2-DB8C500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8790D-894A-A941-AD44-8C3A2CA7837A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205001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52301" y="921637"/>
            <a:ext cx="3790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Magenta pixels: True positives (TP)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Blue pixels: False positives (FP)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False negatives (FN)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True negatives (TN) </a:t>
            </a:r>
          </a:p>
        </p:txBody>
      </p:sp>
      <p:sp>
        <p:nvSpPr>
          <p:cNvPr id="2" name="Rectangle 1"/>
          <p:cNvSpPr/>
          <p:nvPr/>
        </p:nvSpPr>
        <p:spPr>
          <a:xfrm>
            <a:off x="4402813" y="3954020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TP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1375" y="4529508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72066" y="3710636"/>
            <a:ext cx="393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83267" y="513228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latin typeface="Trebuchet MS" charset="0"/>
                <a:ea typeface="Trebuchet MS" charset="0"/>
                <a:cs typeface="Trebuchet MS" charset="0"/>
              </a:rPr>
              <a:t>TN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8684155" y="94088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8684155" y="124943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679732" y="155542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679732" y="188145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641486-0792-614A-9224-625B0C43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11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61CB9-739C-7045-8C9C-AAECB1BEA900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1549704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8361" y="2169997"/>
            <a:ext cx="4285397" cy="376678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64525" y="1173707"/>
            <a:ext cx="141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[ EXAMPLE ]</a:t>
            </a:r>
          </a:p>
        </p:txBody>
      </p:sp>
      <p:sp>
        <p:nvSpPr>
          <p:cNvPr id="5" name="Freeform 4"/>
          <p:cNvSpPr/>
          <p:nvPr/>
        </p:nvSpPr>
        <p:spPr>
          <a:xfrm>
            <a:off x="3005157" y="3166215"/>
            <a:ext cx="2729534" cy="1919913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9534" h="1919913">
                <a:moveTo>
                  <a:pt x="1034582" y="341268"/>
                </a:moveTo>
                <a:cubicBezTo>
                  <a:pt x="1284791" y="238910"/>
                  <a:pt x="1230200" y="-68165"/>
                  <a:pt x="1512254" y="13722"/>
                </a:cubicBezTo>
                <a:cubicBezTo>
                  <a:pt x="1794308" y="95609"/>
                  <a:pt x="2679138" y="518690"/>
                  <a:pt x="2726905" y="832588"/>
                </a:cubicBezTo>
                <a:cubicBezTo>
                  <a:pt x="2774672" y="1146486"/>
                  <a:pt x="2160523" y="1787931"/>
                  <a:pt x="1798857" y="1897113"/>
                </a:cubicBezTo>
                <a:cubicBezTo>
                  <a:pt x="1437191" y="2006295"/>
                  <a:pt x="854887" y="1699220"/>
                  <a:pt x="556911" y="1487680"/>
                </a:cubicBezTo>
                <a:cubicBezTo>
                  <a:pt x="258935" y="1276140"/>
                  <a:pt x="-64063" y="816665"/>
                  <a:pt x="11000" y="627871"/>
                </a:cubicBezTo>
                <a:cubicBezTo>
                  <a:pt x="86063" y="439077"/>
                  <a:pt x="784373" y="443626"/>
                  <a:pt x="1034582" y="341268"/>
                </a:cubicBezTo>
                <a:close/>
              </a:path>
            </a:pathLst>
          </a:cu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/>
          <p:cNvSpPr/>
          <p:nvPr/>
        </p:nvSpPr>
        <p:spPr>
          <a:xfrm>
            <a:off x="3287399" y="3074555"/>
            <a:ext cx="2589777" cy="2029155"/>
          </a:xfrm>
          <a:custGeom>
            <a:avLst/>
            <a:gdLst>
              <a:gd name="connsiteX0" fmla="*/ 1034582 w 2729534"/>
              <a:gd name="connsiteY0" fmla="*/ 341268 h 1919913"/>
              <a:gd name="connsiteX1" fmla="*/ 1512254 w 2729534"/>
              <a:gd name="connsiteY1" fmla="*/ 13722 h 1919913"/>
              <a:gd name="connsiteX2" fmla="*/ 2726905 w 2729534"/>
              <a:gd name="connsiteY2" fmla="*/ 832588 h 1919913"/>
              <a:gd name="connsiteX3" fmla="*/ 1798857 w 2729534"/>
              <a:gd name="connsiteY3" fmla="*/ 1897113 h 1919913"/>
              <a:gd name="connsiteX4" fmla="*/ 556911 w 2729534"/>
              <a:gd name="connsiteY4" fmla="*/ 1487680 h 1919913"/>
              <a:gd name="connsiteX5" fmla="*/ 11000 w 2729534"/>
              <a:gd name="connsiteY5" fmla="*/ 627871 h 1919913"/>
              <a:gd name="connsiteX6" fmla="*/ 1034582 w 2729534"/>
              <a:gd name="connsiteY6" fmla="*/ 341268 h 1919913"/>
              <a:gd name="connsiteX0" fmla="*/ 1034582 w 2242520"/>
              <a:gd name="connsiteY0" fmla="*/ 343152 h 1919663"/>
              <a:gd name="connsiteX1" fmla="*/ 1512254 w 2242520"/>
              <a:gd name="connsiteY1" fmla="*/ 15606 h 1919663"/>
              <a:gd name="connsiteX2" fmla="*/ 2235585 w 2242520"/>
              <a:gd name="connsiteY2" fmla="*/ 875416 h 1919663"/>
              <a:gd name="connsiteX3" fmla="*/ 1798857 w 2242520"/>
              <a:gd name="connsiteY3" fmla="*/ 1898997 h 1919663"/>
              <a:gd name="connsiteX4" fmla="*/ 556911 w 2242520"/>
              <a:gd name="connsiteY4" fmla="*/ 1489564 h 1919663"/>
              <a:gd name="connsiteX5" fmla="*/ 11000 w 2242520"/>
              <a:gd name="connsiteY5" fmla="*/ 629755 h 1919663"/>
              <a:gd name="connsiteX6" fmla="*/ 1034582 w 2242520"/>
              <a:gd name="connsiteY6" fmla="*/ 343152 h 1919663"/>
              <a:gd name="connsiteX0" fmla="*/ 1034582 w 2253299"/>
              <a:gd name="connsiteY0" fmla="*/ 435985 h 2012496"/>
              <a:gd name="connsiteX1" fmla="*/ 1280242 w 2253299"/>
              <a:gd name="connsiteY1" fmla="*/ 12904 h 2012496"/>
              <a:gd name="connsiteX2" fmla="*/ 2235585 w 2253299"/>
              <a:gd name="connsiteY2" fmla="*/ 968249 h 2012496"/>
              <a:gd name="connsiteX3" fmla="*/ 1798857 w 2253299"/>
              <a:gd name="connsiteY3" fmla="*/ 1991830 h 2012496"/>
              <a:gd name="connsiteX4" fmla="*/ 556911 w 2253299"/>
              <a:gd name="connsiteY4" fmla="*/ 1582397 h 2012496"/>
              <a:gd name="connsiteX5" fmla="*/ 11000 w 2253299"/>
              <a:gd name="connsiteY5" fmla="*/ 722588 h 2012496"/>
              <a:gd name="connsiteX6" fmla="*/ 1034582 w 2253299"/>
              <a:gd name="connsiteY6" fmla="*/ 435985 h 2012496"/>
              <a:gd name="connsiteX0" fmla="*/ 586989 w 2242434"/>
              <a:gd name="connsiteY0" fmla="*/ 487258 h 2009178"/>
              <a:gd name="connsiteX1" fmla="*/ 1269377 w 2242434"/>
              <a:gd name="connsiteY1" fmla="*/ 9586 h 2009178"/>
              <a:gd name="connsiteX2" fmla="*/ 2224720 w 2242434"/>
              <a:gd name="connsiteY2" fmla="*/ 964931 h 2009178"/>
              <a:gd name="connsiteX3" fmla="*/ 1787992 w 2242434"/>
              <a:gd name="connsiteY3" fmla="*/ 1988512 h 2009178"/>
              <a:gd name="connsiteX4" fmla="*/ 546046 w 2242434"/>
              <a:gd name="connsiteY4" fmla="*/ 1579079 h 2009178"/>
              <a:gd name="connsiteX5" fmla="*/ 135 w 2242434"/>
              <a:gd name="connsiteY5" fmla="*/ 719270 h 2009178"/>
              <a:gd name="connsiteX6" fmla="*/ 586989 w 2242434"/>
              <a:gd name="connsiteY6" fmla="*/ 487258 h 2009178"/>
              <a:gd name="connsiteX0" fmla="*/ 602616 w 2260356"/>
              <a:gd name="connsiteY0" fmla="*/ 487258 h 2028895"/>
              <a:gd name="connsiteX1" fmla="*/ 1285004 w 2260356"/>
              <a:gd name="connsiteY1" fmla="*/ 9586 h 2028895"/>
              <a:gd name="connsiteX2" fmla="*/ 2240347 w 2260356"/>
              <a:gd name="connsiteY2" fmla="*/ 964931 h 2028895"/>
              <a:gd name="connsiteX3" fmla="*/ 1803619 w 2260356"/>
              <a:gd name="connsiteY3" fmla="*/ 1988512 h 2028895"/>
              <a:gd name="connsiteX4" fmla="*/ 316014 w 2260356"/>
              <a:gd name="connsiteY4" fmla="*/ 1715556 h 2028895"/>
              <a:gd name="connsiteX5" fmla="*/ 15762 w 2260356"/>
              <a:gd name="connsiteY5" fmla="*/ 719270 h 2028895"/>
              <a:gd name="connsiteX6" fmla="*/ 602616 w 2260356"/>
              <a:gd name="connsiteY6" fmla="*/ 487258 h 2028895"/>
              <a:gd name="connsiteX0" fmla="*/ 1121883 w 2779623"/>
              <a:gd name="connsiteY0" fmla="*/ 487386 h 2029023"/>
              <a:gd name="connsiteX1" fmla="*/ 1804271 w 2779623"/>
              <a:gd name="connsiteY1" fmla="*/ 9714 h 2029023"/>
              <a:gd name="connsiteX2" fmla="*/ 2759614 w 2779623"/>
              <a:gd name="connsiteY2" fmla="*/ 965059 h 2029023"/>
              <a:gd name="connsiteX3" fmla="*/ 2322886 w 2779623"/>
              <a:gd name="connsiteY3" fmla="*/ 1988640 h 2029023"/>
              <a:gd name="connsiteX4" fmla="*/ 835281 w 2779623"/>
              <a:gd name="connsiteY4" fmla="*/ 1715684 h 2029023"/>
              <a:gd name="connsiteX5" fmla="*/ 2767 w 2779623"/>
              <a:gd name="connsiteY5" fmla="*/ 760342 h 2029023"/>
              <a:gd name="connsiteX6" fmla="*/ 1121883 w 2779623"/>
              <a:gd name="connsiteY6" fmla="*/ 487386 h 2029023"/>
              <a:gd name="connsiteX0" fmla="*/ 932037 w 2589777"/>
              <a:gd name="connsiteY0" fmla="*/ 487518 h 2029155"/>
              <a:gd name="connsiteX1" fmla="*/ 1614425 w 2589777"/>
              <a:gd name="connsiteY1" fmla="*/ 9846 h 2029155"/>
              <a:gd name="connsiteX2" fmla="*/ 2569768 w 2589777"/>
              <a:gd name="connsiteY2" fmla="*/ 965191 h 2029155"/>
              <a:gd name="connsiteX3" fmla="*/ 2133040 w 2589777"/>
              <a:gd name="connsiteY3" fmla="*/ 1988772 h 2029155"/>
              <a:gd name="connsiteX4" fmla="*/ 645435 w 2589777"/>
              <a:gd name="connsiteY4" fmla="*/ 1715816 h 2029155"/>
              <a:gd name="connsiteX5" fmla="*/ 3989 w 2589777"/>
              <a:gd name="connsiteY5" fmla="*/ 801418 h 2029155"/>
              <a:gd name="connsiteX6" fmla="*/ 932037 w 2589777"/>
              <a:gd name="connsiteY6" fmla="*/ 487518 h 2029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89777" h="2029155">
                <a:moveTo>
                  <a:pt x="932037" y="487518"/>
                </a:moveTo>
                <a:cubicBezTo>
                  <a:pt x="1200443" y="355589"/>
                  <a:pt x="1341470" y="-69766"/>
                  <a:pt x="1614425" y="9846"/>
                </a:cubicBezTo>
                <a:cubicBezTo>
                  <a:pt x="1887380" y="89458"/>
                  <a:pt x="2483332" y="635370"/>
                  <a:pt x="2569768" y="965191"/>
                </a:cubicBezTo>
                <a:cubicBezTo>
                  <a:pt x="2656204" y="1295012"/>
                  <a:pt x="2453762" y="1863668"/>
                  <a:pt x="2133040" y="1988772"/>
                </a:cubicBezTo>
                <a:cubicBezTo>
                  <a:pt x="1812318" y="2113876"/>
                  <a:pt x="943411" y="1927356"/>
                  <a:pt x="645435" y="1715816"/>
                </a:cubicBezTo>
                <a:cubicBezTo>
                  <a:pt x="347459" y="1504276"/>
                  <a:pt x="-43778" y="1006134"/>
                  <a:pt x="3989" y="801418"/>
                </a:cubicBezTo>
                <a:cubicBezTo>
                  <a:pt x="51756" y="596702"/>
                  <a:pt x="663631" y="619447"/>
                  <a:pt x="932037" y="487518"/>
                </a:cubicBezTo>
                <a:close/>
              </a:path>
            </a:pathLst>
          </a:custGeom>
          <a:solidFill>
            <a:srgbClr val="2249CD">
              <a:alpha val="3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52301" y="921637"/>
            <a:ext cx="3790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Magenta pixels: True positives (TP)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Blue pixels: False positives (FP)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Red pixels: False negatives (FN)</a:t>
            </a:r>
          </a:p>
          <a:p>
            <a:r>
              <a:rPr lang="en-US" dirty="0">
                <a:latin typeface="Trebuchet MS" charset="0"/>
                <a:ea typeface="Trebuchet MS" charset="0"/>
                <a:cs typeface="Trebuchet MS" charset="0"/>
              </a:rPr>
              <a:t>White pixels: True negatives (TN) </a:t>
            </a:r>
          </a:p>
        </p:txBody>
      </p:sp>
      <p:sp>
        <p:nvSpPr>
          <p:cNvPr id="2" name="Rectangle 1"/>
          <p:cNvSpPr/>
          <p:nvPr/>
        </p:nvSpPr>
        <p:spPr>
          <a:xfrm>
            <a:off x="4402813" y="3954020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TP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01375" y="4529508"/>
            <a:ext cx="3882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FP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972066" y="3710636"/>
            <a:ext cx="393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Trebuchet MS" charset="0"/>
                <a:ea typeface="Trebuchet MS" charset="0"/>
                <a:cs typeface="Trebuchet MS" charset="0"/>
              </a:rPr>
              <a:t>FN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83267" y="513228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>
                <a:latin typeface="Trebuchet MS" charset="0"/>
                <a:ea typeface="Trebuchet MS" charset="0"/>
                <a:cs typeface="Trebuchet MS" charset="0"/>
              </a:rPr>
              <a:t>TN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27546" y="2866029"/>
            <a:ext cx="16932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</a:t>
            </a:r>
            <a:r>
              <a:rPr lang="en-US" dirty="0"/>
              <a:t> = TP/(TP+FP)</a:t>
            </a:r>
          </a:p>
          <a:p>
            <a:r>
              <a:rPr lang="en-US" dirty="0"/>
              <a:t>Re = TP/(TP+FN)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7178722" y="2593077"/>
            <a:ext cx="0" cy="1173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096834" y="3659878"/>
            <a:ext cx="12123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137132" y="2507349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Pr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8258526" y="3451321"/>
            <a:ext cx="421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Re</a:t>
            </a:r>
          </a:p>
        </p:txBody>
      </p:sp>
      <p:cxnSp>
        <p:nvCxnSpPr>
          <p:cNvPr id="19" name="Curved Connector 18"/>
          <p:cNvCxnSpPr/>
          <p:nvPr/>
        </p:nvCxnSpPr>
        <p:spPr>
          <a:xfrm>
            <a:off x="7178722" y="2866029"/>
            <a:ext cx="900753" cy="793849"/>
          </a:xfrm>
          <a:prstGeom prst="curvedConnector3">
            <a:avLst>
              <a:gd name="adj1" fmla="val 86364"/>
            </a:avLst>
          </a:prstGeom>
          <a:ln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857352" y="3823196"/>
            <a:ext cx="22245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Precision-Recall </a:t>
            </a:r>
            <a:r>
              <a:rPr lang="en-US" dirty="0"/>
              <a:t>curve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4155" y="940885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8684155" y="1249430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8679732" y="1555420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679732" y="1881451"/>
            <a:ext cx="245904" cy="2520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B0736E3-FB8B-B446-BE9A-076B3660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12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98FCCC-89FE-0945-9525-A7F60B2540DC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20ED6-7EC0-7694-8C47-3AA8F4A6A11B}"/>
              </a:ext>
            </a:extLst>
          </p:cNvPr>
          <p:cNvSpPr txBox="1"/>
          <p:nvPr/>
        </p:nvSpPr>
        <p:spPr>
          <a:xfrm>
            <a:off x="6971639" y="3618303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/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8216BF-52B5-02D5-93E3-4BCB5F388B03}"/>
              </a:ext>
            </a:extLst>
          </p:cNvPr>
          <p:cNvSpPr txBox="1"/>
          <p:nvPr/>
        </p:nvSpPr>
        <p:spPr>
          <a:xfrm>
            <a:off x="7945539" y="3635987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0199CF-0B6D-4DDC-551F-659FCDA9E125}"/>
              </a:ext>
            </a:extLst>
          </p:cNvPr>
          <p:cNvSpPr txBox="1"/>
          <p:nvPr/>
        </p:nvSpPr>
        <p:spPr>
          <a:xfrm>
            <a:off x="6937073" y="2767811"/>
            <a:ext cx="2503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89039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82"/>
          <p:cNvSpPr/>
          <p:nvPr/>
        </p:nvSpPr>
        <p:spPr>
          <a:xfrm>
            <a:off x="3023635" y="3588152"/>
            <a:ext cx="2632389" cy="2523281"/>
          </a:xfrm>
          <a:custGeom>
            <a:avLst/>
            <a:gdLst>
              <a:gd name="connsiteX0" fmla="*/ 0 w 2303469"/>
              <a:gd name="connsiteY0" fmla="*/ 0 h 2523281"/>
              <a:gd name="connsiteX1" fmla="*/ 1030147 w 2303469"/>
              <a:gd name="connsiteY1" fmla="*/ 69448 h 2523281"/>
              <a:gd name="connsiteX2" fmla="*/ 1516284 w 2303469"/>
              <a:gd name="connsiteY2" fmla="*/ 312516 h 2523281"/>
              <a:gd name="connsiteX3" fmla="*/ 2071869 w 2303469"/>
              <a:gd name="connsiteY3" fmla="*/ 983848 h 2523281"/>
              <a:gd name="connsiteX4" fmla="*/ 2268638 w 2303469"/>
              <a:gd name="connsiteY4" fmla="*/ 2106592 h 2523281"/>
              <a:gd name="connsiteX5" fmla="*/ 2303362 w 2303469"/>
              <a:gd name="connsiteY5" fmla="*/ 2523281 h 2523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03469" h="2523281">
                <a:moveTo>
                  <a:pt x="0" y="0"/>
                </a:moveTo>
                <a:cubicBezTo>
                  <a:pt x="388716" y="8681"/>
                  <a:pt x="777433" y="17362"/>
                  <a:pt x="1030147" y="69448"/>
                </a:cubicBezTo>
                <a:cubicBezTo>
                  <a:pt x="1282861" y="121534"/>
                  <a:pt x="1342664" y="160116"/>
                  <a:pt x="1516284" y="312516"/>
                </a:cubicBezTo>
                <a:cubicBezTo>
                  <a:pt x="1689904" y="464916"/>
                  <a:pt x="1946477" y="684835"/>
                  <a:pt x="2071869" y="983848"/>
                </a:cubicBezTo>
                <a:cubicBezTo>
                  <a:pt x="2197261" y="1282861"/>
                  <a:pt x="2230056" y="1850020"/>
                  <a:pt x="2268638" y="2106592"/>
                </a:cubicBezTo>
                <a:cubicBezTo>
                  <a:pt x="2307220" y="2363164"/>
                  <a:pt x="2303362" y="2523281"/>
                  <a:pt x="2303362" y="2523281"/>
                </a:cubicBezTo>
              </a:path>
            </a:pathLst>
          </a:custGeom>
          <a:noFill/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2811" y="208696"/>
            <a:ext cx="1384300" cy="8763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856" y="170544"/>
            <a:ext cx="1308100" cy="901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747" y="436728"/>
            <a:ext cx="2903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 =                            =  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84645" y="621394"/>
            <a:ext cx="100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59325" y="774032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043646" y="774032"/>
            <a:ext cx="245904" cy="252070"/>
          </a:xfrm>
          <a:prstGeom prst="rect">
            <a:avLst/>
          </a:prstGeom>
          <a:solidFill>
            <a:srgbClr val="9AAB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729243" y="216687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705229" y="7156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609" y="439000"/>
            <a:ext cx="2921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Recall =                            =  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7781507" y="623666"/>
            <a:ext cx="100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56187" y="776304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440508" y="776304"/>
            <a:ext cx="245904" cy="25207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126105" y="218959"/>
            <a:ext cx="245904" cy="252070"/>
          </a:xfrm>
          <a:prstGeom prst="rect">
            <a:avLst/>
          </a:prstGeom>
          <a:solidFill>
            <a:srgbClr val="9D2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102091" y="717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+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3004352" y="3311654"/>
            <a:ext cx="0" cy="2920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779358" y="6073255"/>
            <a:ext cx="3271372" cy="45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16200000">
            <a:off x="1940784" y="4626640"/>
            <a:ext cx="103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9264" y="6269069"/>
            <a:ext cx="96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8725" y="6250672"/>
            <a:ext cx="3010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0                                                 1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5686331" y="6045959"/>
            <a:ext cx="0" cy="159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2904453" y="3586878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489249" y="34059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grpSp>
        <p:nvGrpSpPr>
          <p:cNvPr id="87" name="Group 86"/>
          <p:cNvGrpSpPr/>
          <p:nvPr/>
        </p:nvGrpSpPr>
        <p:grpSpPr>
          <a:xfrm>
            <a:off x="5539924" y="1329223"/>
            <a:ext cx="2228429" cy="4117772"/>
            <a:chOff x="5539924" y="1329223"/>
            <a:chExt cx="2228429" cy="4117772"/>
          </a:xfrm>
        </p:grpSpPr>
        <p:grpSp>
          <p:nvGrpSpPr>
            <p:cNvPr id="52" name="Group 51"/>
            <p:cNvGrpSpPr/>
            <p:nvPr/>
          </p:nvGrpSpPr>
          <p:grpSpPr>
            <a:xfrm>
              <a:off x="6608294" y="1329223"/>
              <a:ext cx="1160059" cy="1269238"/>
              <a:chOff x="2388361" y="2169997"/>
              <a:chExt cx="4285397" cy="3766782"/>
            </a:xfrm>
          </p:grpSpPr>
          <p:sp>
            <p:nvSpPr>
              <p:cNvPr id="53" name="Rectangle 52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929642" y="2363910"/>
                <a:ext cx="3421845" cy="3024829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6" name="Oval 55"/>
            <p:cNvSpPr/>
            <p:nvPr/>
          </p:nvSpPr>
          <p:spPr>
            <a:xfrm>
              <a:off x="5539924" y="537499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Connector 56"/>
            <p:cNvCxnSpPr>
              <a:stCxn id="53" idx="2"/>
              <a:endCxn id="56" idx="0"/>
            </p:cNvCxnSpPr>
            <p:nvPr/>
          </p:nvCxnSpPr>
          <p:spPr>
            <a:xfrm flipH="1">
              <a:off x="5575924" y="2598461"/>
              <a:ext cx="1612400" cy="2776534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/>
          <p:cNvGrpSpPr/>
          <p:nvPr/>
        </p:nvGrpSpPr>
        <p:grpSpPr>
          <a:xfrm>
            <a:off x="1624126" y="1336676"/>
            <a:ext cx="1874158" cy="2277393"/>
            <a:chOff x="1624126" y="1336676"/>
            <a:chExt cx="1874158" cy="2277393"/>
          </a:xfrm>
        </p:grpSpPr>
        <p:grpSp>
          <p:nvGrpSpPr>
            <p:cNvPr id="58" name="Group 57"/>
            <p:cNvGrpSpPr/>
            <p:nvPr/>
          </p:nvGrpSpPr>
          <p:grpSpPr>
            <a:xfrm>
              <a:off x="1624126" y="1336676"/>
              <a:ext cx="1160059" cy="1269238"/>
              <a:chOff x="2388361" y="2169997"/>
              <a:chExt cx="4285397" cy="3766782"/>
            </a:xfrm>
          </p:grpSpPr>
          <p:sp>
            <p:nvSpPr>
              <p:cNvPr id="59" name="Rectangle 58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3928794" y="3555480"/>
                <a:ext cx="981831" cy="952007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2" name="Oval 61"/>
            <p:cNvSpPr/>
            <p:nvPr/>
          </p:nvSpPr>
          <p:spPr>
            <a:xfrm>
              <a:off x="3426284" y="3542069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Connector 62"/>
            <p:cNvCxnSpPr>
              <a:stCxn id="59" idx="2"/>
              <a:endCxn id="62" idx="0"/>
            </p:cNvCxnSpPr>
            <p:nvPr/>
          </p:nvCxnSpPr>
          <p:spPr>
            <a:xfrm>
              <a:off x="2204156" y="2605914"/>
              <a:ext cx="1258128" cy="936155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4144806" y="1331149"/>
            <a:ext cx="1160059" cy="2589910"/>
            <a:chOff x="4144806" y="1331149"/>
            <a:chExt cx="1160059" cy="2589910"/>
          </a:xfrm>
        </p:grpSpPr>
        <p:grpSp>
          <p:nvGrpSpPr>
            <p:cNvPr id="66" name="Group 65"/>
            <p:cNvGrpSpPr/>
            <p:nvPr/>
          </p:nvGrpSpPr>
          <p:grpSpPr>
            <a:xfrm>
              <a:off x="4144806" y="1331149"/>
              <a:ext cx="1160059" cy="1269238"/>
              <a:chOff x="2388361" y="2169997"/>
              <a:chExt cx="4285397" cy="3766782"/>
            </a:xfrm>
          </p:grpSpPr>
          <p:sp>
            <p:nvSpPr>
              <p:cNvPr id="67" name="Rectangle 66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3153716" y="2907804"/>
                <a:ext cx="2388869" cy="192109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0" name="Oval 69"/>
            <p:cNvSpPr/>
            <p:nvPr/>
          </p:nvSpPr>
          <p:spPr>
            <a:xfrm>
              <a:off x="4685317" y="3849059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Connector 70"/>
            <p:cNvCxnSpPr>
              <a:stCxn id="67" idx="2"/>
              <a:endCxn id="70" idx="7"/>
            </p:cNvCxnSpPr>
            <p:nvPr/>
          </p:nvCxnSpPr>
          <p:spPr>
            <a:xfrm>
              <a:off x="4724836" y="2600387"/>
              <a:ext cx="21937" cy="1259216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/>
          <p:cNvGrpSpPr/>
          <p:nvPr/>
        </p:nvGrpSpPr>
        <p:grpSpPr>
          <a:xfrm>
            <a:off x="2902051" y="1330917"/>
            <a:ext cx="3629744" cy="3020338"/>
            <a:chOff x="2902051" y="1330917"/>
            <a:chExt cx="3629744" cy="3020338"/>
          </a:xfrm>
        </p:grpSpPr>
        <p:grpSp>
          <p:nvGrpSpPr>
            <p:cNvPr id="11" name="Group 10"/>
            <p:cNvGrpSpPr/>
            <p:nvPr/>
          </p:nvGrpSpPr>
          <p:grpSpPr>
            <a:xfrm>
              <a:off x="2902051" y="1330917"/>
              <a:ext cx="1160059" cy="1269238"/>
              <a:chOff x="2388361" y="2169997"/>
              <a:chExt cx="4285397" cy="3766782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Freeform 4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Freeform 5"/>
              <p:cNvSpPr/>
              <p:nvPr/>
            </p:nvSpPr>
            <p:spPr>
              <a:xfrm>
                <a:off x="3458437" y="3383718"/>
                <a:ext cx="1883347" cy="1450022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Oval 39"/>
            <p:cNvSpPr/>
            <p:nvPr/>
          </p:nvSpPr>
          <p:spPr>
            <a:xfrm>
              <a:off x="3975014" y="358261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/>
            <p:cNvCxnSpPr>
              <a:stCxn id="4" idx="2"/>
              <a:endCxn id="40" idx="0"/>
            </p:cNvCxnSpPr>
            <p:nvPr/>
          </p:nvCxnSpPr>
          <p:spPr>
            <a:xfrm>
              <a:off x="3482081" y="2600155"/>
              <a:ext cx="528933" cy="98246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4" name="Group 73"/>
            <p:cNvGrpSpPr/>
            <p:nvPr/>
          </p:nvGrpSpPr>
          <p:grpSpPr>
            <a:xfrm>
              <a:off x="5371736" y="1331151"/>
              <a:ext cx="1160059" cy="1269238"/>
              <a:chOff x="2388361" y="2169997"/>
              <a:chExt cx="4285397" cy="3766782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2388361" y="2169997"/>
                <a:ext cx="4285397" cy="3766782"/>
              </a:xfrm>
              <a:prstGeom prst="rect">
                <a:avLst/>
              </a:prstGeom>
              <a:solidFill>
                <a:schemeClr val="bg1"/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3005157" y="3166215"/>
                <a:ext cx="2729534" cy="1919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9534" h="1919913">
                    <a:moveTo>
                      <a:pt x="1034582" y="341268"/>
                    </a:moveTo>
                    <a:cubicBezTo>
                      <a:pt x="1284791" y="238910"/>
                      <a:pt x="1230200" y="-68165"/>
                      <a:pt x="1512254" y="13722"/>
                    </a:cubicBezTo>
                    <a:cubicBezTo>
                      <a:pt x="1794308" y="95609"/>
                      <a:pt x="2679138" y="518690"/>
                      <a:pt x="2726905" y="832588"/>
                    </a:cubicBezTo>
                    <a:cubicBezTo>
                      <a:pt x="2774672" y="1146486"/>
                      <a:pt x="2160523" y="1787931"/>
                      <a:pt x="1798857" y="1897113"/>
                    </a:cubicBezTo>
                    <a:cubicBezTo>
                      <a:pt x="1437191" y="2006295"/>
                      <a:pt x="854887" y="1699220"/>
                      <a:pt x="556911" y="1487680"/>
                    </a:cubicBezTo>
                    <a:cubicBezTo>
                      <a:pt x="258935" y="1276140"/>
                      <a:pt x="-64063" y="816665"/>
                      <a:pt x="11000" y="627871"/>
                    </a:cubicBezTo>
                    <a:cubicBezTo>
                      <a:pt x="86063" y="439077"/>
                      <a:pt x="784373" y="443626"/>
                      <a:pt x="1034582" y="341268"/>
                    </a:cubicBezTo>
                    <a:close/>
                  </a:path>
                </a:pathLst>
              </a:cu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 76"/>
              <p:cNvSpPr/>
              <p:nvPr/>
            </p:nvSpPr>
            <p:spPr>
              <a:xfrm>
                <a:off x="3068197" y="2907798"/>
                <a:ext cx="3268025" cy="2195913"/>
              </a:xfrm>
              <a:custGeom>
                <a:avLst/>
                <a:gdLst>
                  <a:gd name="connsiteX0" fmla="*/ 1034582 w 2729534"/>
                  <a:gd name="connsiteY0" fmla="*/ 341268 h 1919913"/>
                  <a:gd name="connsiteX1" fmla="*/ 1512254 w 2729534"/>
                  <a:gd name="connsiteY1" fmla="*/ 13722 h 1919913"/>
                  <a:gd name="connsiteX2" fmla="*/ 2726905 w 2729534"/>
                  <a:gd name="connsiteY2" fmla="*/ 832588 h 1919913"/>
                  <a:gd name="connsiteX3" fmla="*/ 1798857 w 2729534"/>
                  <a:gd name="connsiteY3" fmla="*/ 1897113 h 1919913"/>
                  <a:gd name="connsiteX4" fmla="*/ 556911 w 2729534"/>
                  <a:gd name="connsiteY4" fmla="*/ 1487680 h 1919913"/>
                  <a:gd name="connsiteX5" fmla="*/ 11000 w 2729534"/>
                  <a:gd name="connsiteY5" fmla="*/ 627871 h 1919913"/>
                  <a:gd name="connsiteX6" fmla="*/ 1034582 w 2729534"/>
                  <a:gd name="connsiteY6" fmla="*/ 341268 h 1919913"/>
                  <a:gd name="connsiteX0" fmla="*/ 1034582 w 2242520"/>
                  <a:gd name="connsiteY0" fmla="*/ 343152 h 1919663"/>
                  <a:gd name="connsiteX1" fmla="*/ 1512254 w 2242520"/>
                  <a:gd name="connsiteY1" fmla="*/ 15606 h 1919663"/>
                  <a:gd name="connsiteX2" fmla="*/ 2235585 w 2242520"/>
                  <a:gd name="connsiteY2" fmla="*/ 875416 h 1919663"/>
                  <a:gd name="connsiteX3" fmla="*/ 1798857 w 2242520"/>
                  <a:gd name="connsiteY3" fmla="*/ 1898997 h 1919663"/>
                  <a:gd name="connsiteX4" fmla="*/ 556911 w 2242520"/>
                  <a:gd name="connsiteY4" fmla="*/ 1489564 h 1919663"/>
                  <a:gd name="connsiteX5" fmla="*/ 11000 w 2242520"/>
                  <a:gd name="connsiteY5" fmla="*/ 629755 h 1919663"/>
                  <a:gd name="connsiteX6" fmla="*/ 1034582 w 2242520"/>
                  <a:gd name="connsiteY6" fmla="*/ 343152 h 1919663"/>
                  <a:gd name="connsiteX0" fmla="*/ 1034582 w 2253299"/>
                  <a:gd name="connsiteY0" fmla="*/ 435985 h 2012496"/>
                  <a:gd name="connsiteX1" fmla="*/ 1280242 w 2253299"/>
                  <a:gd name="connsiteY1" fmla="*/ 12904 h 2012496"/>
                  <a:gd name="connsiteX2" fmla="*/ 2235585 w 2253299"/>
                  <a:gd name="connsiteY2" fmla="*/ 968249 h 2012496"/>
                  <a:gd name="connsiteX3" fmla="*/ 1798857 w 2253299"/>
                  <a:gd name="connsiteY3" fmla="*/ 1991830 h 2012496"/>
                  <a:gd name="connsiteX4" fmla="*/ 556911 w 2253299"/>
                  <a:gd name="connsiteY4" fmla="*/ 1582397 h 2012496"/>
                  <a:gd name="connsiteX5" fmla="*/ 11000 w 2253299"/>
                  <a:gd name="connsiteY5" fmla="*/ 722588 h 2012496"/>
                  <a:gd name="connsiteX6" fmla="*/ 1034582 w 2253299"/>
                  <a:gd name="connsiteY6" fmla="*/ 435985 h 2012496"/>
                  <a:gd name="connsiteX0" fmla="*/ 586989 w 2242434"/>
                  <a:gd name="connsiteY0" fmla="*/ 487258 h 2009178"/>
                  <a:gd name="connsiteX1" fmla="*/ 1269377 w 2242434"/>
                  <a:gd name="connsiteY1" fmla="*/ 9586 h 2009178"/>
                  <a:gd name="connsiteX2" fmla="*/ 2224720 w 2242434"/>
                  <a:gd name="connsiteY2" fmla="*/ 964931 h 2009178"/>
                  <a:gd name="connsiteX3" fmla="*/ 1787992 w 2242434"/>
                  <a:gd name="connsiteY3" fmla="*/ 1988512 h 2009178"/>
                  <a:gd name="connsiteX4" fmla="*/ 546046 w 2242434"/>
                  <a:gd name="connsiteY4" fmla="*/ 1579079 h 2009178"/>
                  <a:gd name="connsiteX5" fmla="*/ 135 w 2242434"/>
                  <a:gd name="connsiteY5" fmla="*/ 719270 h 2009178"/>
                  <a:gd name="connsiteX6" fmla="*/ 586989 w 2242434"/>
                  <a:gd name="connsiteY6" fmla="*/ 487258 h 2009178"/>
                  <a:gd name="connsiteX0" fmla="*/ 602616 w 2260356"/>
                  <a:gd name="connsiteY0" fmla="*/ 487258 h 2028895"/>
                  <a:gd name="connsiteX1" fmla="*/ 1285004 w 2260356"/>
                  <a:gd name="connsiteY1" fmla="*/ 9586 h 2028895"/>
                  <a:gd name="connsiteX2" fmla="*/ 2240347 w 2260356"/>
                  <a:gd name="connsiteY2" fmla="*/ 964931 h 2028895"/>
                  <a:gd name="connsiteX3" fmla="*/ 1803619 w 2260356"/>
                  <a:gd name="connsiteY3" fmla="*/ 1988512 h 2028895"/>
                  <a:gd name="connsiteX4" fmla="*/ 316014 w 2260356"/>
                  <a:gd name="connsiteY4" fmla="*/ 1715556 h 2028895"/>
                  <a:gd name="connsiteX5" fmla="*/ 15762 w 2260356"/>
                  <a:gd name="connsiteY5" fmla="*/ 719270 h 2028895"/>
                  <a:gd name="connsiteX6" fmla="*/ 602616 w 2260356"/>
                  <a:gd name="connsiteY6" fmla="*/ 487258 h 2028895"/>
                  <a:gd name="connsiteX0" fmla="*/ 1121883 w 2779623"/>
                  <a:gd name="connsiteY0" fmla="*/ 487386 h 2029023"/>
                  <a:gd name="connsiteX1" fmla="*/ 1804271 w 2779623"/>
                  <a:gd name="connsiteY1" fmla="*/ 9714 h 2029023"/>
                  <a:gd name="connsiteX2" fmla="*/ 2759614 w 2779623"/>
                  <a:gd name="connsiteY2" fmla="*/ 965059 h 2029023"/>
                  <a:gd name="connsiteX3" fmla="*/ 2322886 w 2779623"/>
                  <a:gd name="connsiteY3" fmla="*/ 1988640 h 2029023"/>
                  <a:gd name="connsiteX4" fmla="*/ 835281 w 2779623"/>
                  <a:gd name="connsiteY4" fmla="*/ 1715684 h 2029023"/>
                  <a:gd name="connsiteX5" fmla="*/ 2767 w 2779623"/>
                  <a:gd name="connsiteY5" fmla="*/ 760342 h 2029023"/>
                  <a:gd name="connsiteX6" fmla="*/ 1121883 w 2779623"/>
                  <a:gd name="connsiteY6" fmla="*/ 487386 h 2029023"/>
                  <a:gd name="connsiteX0" fmla="*/ 932037 w 2589777"/>
                  <a:gd name="connsiteY0" fmla="*/ 487518 h 2029155"/>
                  <a:gd name="connsiteX1" fmla="*/ 1614425 w 2589777"/>
                  <a:gd name="connsiteY1" fmla="*/ 9846 h 2029155"/>
                  <a:gd name="connsiteX2" fmla="*/ 2569768 w 2589777"/>
                  <a:gd name="connsiteY2" fmla="*/ 965191 h 2029155"/>
                  <a:gd name="connsiteX3" fmla="*/ 2133040 w 2589777"/>
                  <a:gd name="connsiteY3" fmla="*/ 1988772 h 2029155"/>
                  <a:gd name="connsiteX4" fmla="*/ 645435 w 2589777"/>
                  <a:gd name="connsiteY4" fmla="*/ 1715816 h 2029155"/>
                  <a:gd name="connsiteX5" fmla="*/ 3989 w 2589777"/>
                  <a:gd name="connsiteY5" fmla="*/ 801418 h 2029155"/>
                  <a:gd name="connsiteX6" fmla="*/ 932037 w 2589777"/>
                  <a:gd name="connsiteY6" fmla="*/ 487518 h 2029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89777" h="2029155">
                    <a:moveTo>
                      <a:pt x="932037" y="487518"/>
                    </a:moveTo>
                    <a:cubicBezTo>
                      <a:pt x="1200443" y="355589"/>
                      <a:pt x="1341470" y="-69766"/>
                      <a:pt x="1614425" y="9846"/>
                    </a:cubicBezTo>
                    <a:cubicBezTo>
                      <a:pt x="1887380" y="89458"/>
                      <a:pt x="2483332" y="635370"/>
                      <a:pt x="2569768" y="965191"/>
                    </a:cubicBezTo>
                    <a:cubicBezTo>
                      <a:pt x="2656204" y="1295012"/>
                      <a:pt x="2453762" y="1863668"/>
                      <a:pt x="2133040" y="1988772"/>
                    </a:cubicBezTo>
                    <a:cubicBezTo>
                      <a:pt x="1812318" y="2113876"/>
                      <a:pt x="943411" y="1927356"/>
                      <a:pt x="645435" y="1715816"/>
                    </a:cubicBezTo>
                    <a:cubicBezTo>
                      <a:pt x="347459" y="1504276"/>
                      <a:pt x="-43778" y="1006134"/>
                      <a:pt x="3989" y="801418"/>
                    </a:cubicBezTo>
                    <a:cubicBezTo>
                      <a:pt x="51756" y="596702"/>
                      <a:pt x="663631" y="619447"/>
                      <a:pt x="932037" y="487518"/>
                    </a:cubicBezTo>
                    <a:close/>
                  </a:path>
                </a:pathLst>
              </a:custGeom>
              <a:solidFill>
                <a:srgbClr val="2249CD">
                  <a:alpha val="36000"/>
                </a:srgb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0" name="Oval 79"/>
            <p:cNvSpPr/>
            <p:nvPr/>
          </p:nvSpPr>
          <p:spPr>
            <a:xfrm>
              <a:off x="5184954" y="4279255"/>
              <a:ext cx="72000" cy="72000"/>
            </a:xfrm>
            <a:prstGeom prst="ellipse">
              <a:avLst/>
            </a:prstGeom>
            <a:solidFill>
              <a:schemeClr val="tx1"/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1" name="Straight Connector 80"/>
            <p:cNvCxnSpPr>
              <a:stCxn id="75" idx="2"/>
              <a:endCxn id="80" idx="7"/>
            </p:cNvCxnSpPr>
            <p:nvPr/>
          </p:nvCxnSpPr>
          <p:spPr>
            <a:xfrm flipH="1">
              <a:off x="5246410" y="2600389"/>
              <a:ext cx="705356" cy="168941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6397589" y="4197635"/>
            <a:ext cx="25670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AREA UNDER CURVE: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mPA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(mean Precision Average)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51D04E-242B-8E41-A545-E32C814F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B2870-7350-8D40-A01A-CE539DF873CB}" type="slidenum">
              <a:rPr lang="en-US" smtClean="0"/>
              <a:t>13</a:t>
            </a:fld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FFD47E-DA35-134B-8E61-B5C220E2ECC4}"/>
              </a:ext>
            </a:extLst>
          </p:cNvPr>
          <p:cNvSpPr txBox="1"/>
          <p:nvPr/>
        </p:nvSpPr>
        <p:spPr>
          <a:xfrm>
            <a:off x="3596797" y="6582975"/>
            <a:ext cx="19504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PAT05_ConfisionMatrix.pptx</a:t>
            </a:r>
          </a:p>
        </p:txBody>
      </p:sp>
    </p:spTree>
    <p:extLst>
      <p:ext uri="{BB962C8B-B14F-4D97-AF65-F5344CB8AC3E}">
        <p14:creationId xmlns:p14="http://schemas.microsoft.com/office/powerpoint/2010/main" val="212613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12522</TotalTime>
  <Words>443</Words>
  <Application>Microsoft Macintosh PowerPoint</Application>
  <PresentationFormat>On-screen Show (4:3)</PresentationFormat>
  <Paragraphs>137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Escuela de Ingenieria PUC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Recognition using Adaptive Sparse Representations</dc:title>
  <dc:creator>Domingo Mery</dc:creator>
  <cp:lastModifiedBy>Domingo Mery</cp:lastModifiedBy>
  <cp:revision>315</cp:revision>
  <dcterms:created xsi:type="dcterms:W3CDTF">2013-11-07T20:27:34Z</dcterms:created>
  <dcterms:modified xsi:type="dcterms:W3CDTF">2025-11-13T15:19:59Z</dcterms:modified>
</cp:coreProperties>
</file>